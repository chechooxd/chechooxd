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informe resume cómo ha evolucionado el uso de la inteligencia artificial para desarrollar en la célula: desde una etapa de vibe coding sin método, pasando por la adopción de Spec-Driven Development con OpenSpec, hasta el estándar propio que estamos implementando ahora. Incluye el estudio que respaldó la decisión, las dificultades que enfrentamos y una propuesta concreta para validar el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mensajes para quedarse. Uno: en tres meses pasamos por tres etapas, del vibe coding a SDD con OpenSpec y a un estándar propio. Dos: la elección de SDD no fue intuitiva; hubo un estudio comparativo documentado en la bitácora del equipo. Tres: la mejora se ve en los datos de la bitácora del equipo, con más tareas exitosas y menos riesgos de calidad, aunque OpenSpec trajo dependencia de una herramienta externa y bloqueos de entorno en las laptops. Cuatro: hoy tenemos un estándar propio, sin herramientas externas y con controles verificables. La propuesta es validarlo con un piloto y decidir su adopción con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del sector: según los datos que recoge el curso de desarrollo con IA, a partir de informes de Google, Microsoft, GitHub, JetBrains y Stack Overflow, nueve de cada diez desarrolladores ya usan IA a diario y casi la mitad del código nuevo lo escribe la IA. Pero solo un 30 % confía en esos resultados sin supervisión. La conclusión es clara: usar IA ya no es una ventaja diferencial; lo diferencial es dirigirla con método y control. Esa es la razón de todo este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evolución tuvo tres etapas. Entre abril y agosto, según la bitácora del equipo, trabajábamos en modo vibe coding. En agosto, tras un estudio de casi dos semanas, adoptamos Spec-Driven Development con OpenSpec: el 18 de agosto quedó el primer estándar, el 28 enfrentamos un bloqueo de entorno que resolvimos con la estrategia Zero-CLI y el 8 de septiembre publicamos la retrospectiva y la bitácora oficiales. En octubre, con la restricción de no usar OpenSpec, dimos el paso a un estándar propio. Todos los hitos están registrados en la bitácora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etapa fue de vibe coding. Según la bitácora de adopción, entre abril y agosto se trabajaba copiando código entre el editor y chats web, con pedidos sin especificación y a prueba y error; lo que la IA no resolvía se terminaba a mano, y las decisiones quedaban en chats que nadie podía consultar después. El propio equipo lo registró: los resultados eran imprecisos, se iteraba varias veces y se agotaba la cuota de tokens. Y fue el equipo quien pidió un método: utilizar una metodología y reducir el vibe coding. El diagnóstico al que llegamos es que la IA no falla por falta de capacidad, sino porque le pedimos cosas subespecificadas.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del estudio fue qué estrategia permite que la IA trabaje sobre historias de usuario definidas antes del sprint, con calidad verificable. Se partió el 3 de agosto con una investigación sobre Spec-Driven Development y sus frameworks, incluidos OpenSpec, Spec Pulse y Spec-Kit, y el 11 al 14 de agosto se hizo la comparación formal. Se descartó seguir con prompting libre porque la IA improvisa. Spec-Kit es muy completo, pero exige un gran esfuerzo inicial y es complejo en código existente. Superpowers es muy bueno para TDD, pero demasiado invasivo para cambios pequeños o visuales. OpenSpec se eligió por ser abierto, modular y trabajar de forma incremental sobre el código existente. gentle-ai y Engram se estudiaron solo como inspiración y no se adoptaron, para no sumar dependencias. Todo está documentado en la bitácora de estrategia.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criterios explican por qué elegimos Spec-Driven Development frente a seguir con prompting libre o usar solo agentes con buenas instrucciones. Ataca la causa raíz, que es la subespecificación. Encaja con nuestra forma de trabajar en Scrum, con historias definidas antes del sprint. Funciona sobre el código que ya tenemos, sin reescribirlo. Deja la trazabilidad versionada junto al código. Controla el consumo de tokens, porque solo se especifica lo que cambia. Y minimiza la dependencia de terceros. Dentro de las variantes de SDD, elegimos la spec-anchored: la especificación se mantiene viva y guía la evolución del código, que es la opción recomendada para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etapa fue de construcción intensa, en unas tres semanas. Primero, el estándar y el flujo de trabajo en Git. Luego, el diseño de controles automáticos y la persistencia de decisiones en archivos del repositorio para que la IA no olvidara lo acordado en sesiones largas. Un hito importante del 25 de agosto: descartamos un orquestador propio porque OpenSpec ya cubría el ciclo, y construimos solo donde la herramienta no llegaba, con agentes de TDD, verificación, revisión y contratos. Corregimos el contrato entre frontend y backend, resolvimos el bloqueo de entorno con Zero-CLI, fijamos directivas de Angular 20 y blindamos al agente de arquitectura. El 8 de septiembre publicamos la retrospectiva oficial.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práctica, la célula ganó seis cosas. Cada cambio empieza por una especificación versionada. Las historias grandes se dividen en cambios pequeños y verificables: la HU04-1, por ejemplo, se dividió en seis. Detectamos y corregimos un contrato de respuesta entre frontend y backend que estaba mal documentado. Las directivas de Angular 20 hicieron que la IA generara código consistente. El TDD pasó a exigir el test en rojo antes del código, con verificación ejecutada. Y cada commit quedó referenciado al cambio que lo origina. El aprendizaje del equipo lo resume la cita: la calidad del resultado depende de especificar al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bitácora de adopción de IA, donde cada integrante registra sus usos, permite comparar antes y después de adoptar SDD. Tomando solo tareas de desarrollo y análisis: las tareas con resultado exitoso pasaron de 62 a 84 por ciento; las que reportaron un riesgo de calidad o precisión bajaron de 38 a 16 por ciento; las que parten por análisis y especificación antes de programar pasaron de 19 a 41 por ciento, que es justamente el cambio de hábito que buscábamos; y la confianza media subió de 4,4 a 4,7. En total hay 84 usos registrados por seis personas, con unas 189 horas invertidas y 365 horas de ahorro estimado. Hay que leerlo con prudencia: son datos autoinformados y la muestra es pequeña, sobre todo antes de agosto, así que es un indicador preliminar que el piloto debe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dificultades fueron de tres tipos, todas registradas en las bitácoras. En personas y proceso: resistencia inicial a un flujo más formal, que abordamos con adopción incremental; confusión sobre qué comandos se ejecutaban en el chat y cuáles en la terminal, resuelta con una guía; y especificaciones generadas demasiado vagas, que obligan a revisar cada artefacto. En entorno: laptops con Node.js antiguo bloqueado por restricciones corporativas, que resolvimos con la estrategia Zero-CLI; sesiones que agotaban la cuota de tokens; políticas de seguridad que bloquean la cuenta al ejecutar tests del frontend, todavía en análisis; y finalmente la prohibición de usar OpenSpec. En calidad: las instrucciones en texto solo lograban cerca de un 80 por ciento de cumplimiento, la IA perdía contexto en sesiones largas, a veces asumía datos sin evidencia, y los estilos de interfaz siguen siendo difíciles. En azul lo resuelto; en ocre lo que sigue abierto.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lección central de la segunda etapa. Cuando las laptops con Node.js antiguo nos impidieron instalar la herramienta, el equipo escribió en la bitácora que el proceso de especificaciones y planes era más importante que el ejecutable. Esa intuición se confirmó en octubre: al quedar prohibido OpenSpec, no perdimos nada esencial, porque la metodología, los artefactos y el aprendizaje ya eran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detonante de la tercera etapa fue la restricción de no usar OpenSpec ni herramientas parecidas. Pero ya arrastrábamos límites: dependíamos de un CLI externo y de sus versiones, cada laptop necesitaba Node.js 20.19 o superior, la verificación nativa era heurística, el desarrollador encadenaba cada paso a mano y el TDD dependía de que el agente lo respetara. La decisión fue construir el estándar solo con lo que GitHub Copilot ya trae, versionado en el repositorio y conservando todo lo aprendido. Un detalle: en agosto descartamos un orquestador propio porque OpenSpec ya cubría el ciclo; sin OpenSpec, ese diseño se retomó y se completó.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estándar actual, en una mirada. Once agentes especializados: un orquestador y diez especialistas, uno por etapa. Quince skills que contienen el conocimiento de cada etapa. Tres aprobaciones humanas por funcionalidad: la especificación, el diseño con su plan de tareas y la aceptación final. Y cero herramientas externas que instalar: todo usa capacidades nativas de GitHub Copilot y vive en el repositorio. Tres principios lo sostienen: especialización, separación entre quien construye y quien evalúa, y control en cinco capas, incluidos permisos por archivo que impiden, por ejemplo, que el agente que implementa modifique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comparativa resume la evolución en siete dimensiones. La especificación pasó de inexistente a deltas de OpenSpec y hoy a una especificación propia con requisitos verificables. La orquestación pasó de cada desarrollador a su manera, a un flujo paso a paso, y hoy a un orquestador con tres aprobaciones humanas. Las pruebas pasaron de opcionales a exigidas por instrucción y hoy impuestas por la separación de roles y los controles. La verificación es independiente y requisito por requisito. La trazabilidad va desde la historia de usuario hasta el test. La única dependencia es GitHub Copilot. Y el gobierno del proceso queda completamente en manos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riesgos a tener presentes. La curva de aprendizaje y la resistencia a un flujo más formal, que ya vimos en la etapa 2; lo mitigamos con un piloto acotado, una guía y comandos que conducen cada etapa. Algunas funciones de Copilot que usamos están en vista previa; por eso el control está en capas. Más agentes implican más consumo de modelos; asignaremos el modelo por etapa y lo validaremos con casos reales, no con comparativas de terceros. Los datos de mejora son autoinformados y la muestra es pequeña; el piloto debe medirse con criterios acordados de antemano. Y las nuevas políticas de seguridad están bloqueando cuentas al ejecutar pruebas del frontend, algo que conviene revisar con el área de seguridad antes del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propuesta sigue el camino que ya definimos en la bitácora: piloto de bajo riesgo, escalamiento y gobierno. Primero, un piloto acotado con una historia de usuario real del frontend Angular, usando el estándar completo. Segundo, medirlo con la misma bitácora del equipo: tasa de éxito, retrabajo, confianza y defectos, comparados con la línea base que ya tenemos. Tercero, extenderlo al backend .NET cuando confirmemos su stack de pruebas. Cuarto, revisar el estándar cada trimestre. A jefatura le solicitamos tres decisiones: aprobar el piloto, reservar capacidad del equipo mientras dura y, con los resultados en la mano, decidir si se adopta como norma de la célula.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en estos meses pasamos de usar la IA sin método a un estándar propio donde la IA ejecuta, pero las decisiones y la responsabilidad siguen en el equipo. Las tres aprobaciones humanas, la separación de roles y la verificación con evidencia existen para eso. Como dice el curso que guió el estudio, la potencia sin control no sirve de nada.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3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8E0"/>
                </a:solidFill>
                <a:latin typeface="IBM Plex Sans" pitchFamily="34" charset="0"/>
                <a:ea typeface="IBM Plex Sans" pitchFamily="34" charset="-122"/>
                <a:cs typeface="IBM Plex Sans" pitchFamily="34" charset="-120"/>
              </a:rPr>
              <a:t>INFORME PARA JEFATURA · OCTUBRE 2026</a:t>
            </a:r>
            <a:endParaRPr lang="en-US" sz="1400" dirty="0"/>
          </a:p>
        </p:txBody>
      </p:sp>
      <p:sp>
        <p:nvSpPr>
          <p:cNvPr id="3" name="Text 1"/>
          <p:cNvSpPr/>
          <p:nvPr>
            <p:ph type="title"/>
          </p:nvPr>
        </p:nvSpPr>
        <p:spPr>
          <a:xfrm>
            <a:off x="812800" y="248364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Source Serif 4" pitchFamily="18" charset="0"/>
                <a:ea typeface="Source Serif 4" pitchFamily="18" charset="-122"/>
                <a:cs typeface="Source Serif 4" pitchFamily="18" charset="-120"/>
              </a:rPr>
              <a:t>Evolución del desarrollo asistido por IA en la célula</a:t>
            </a:r>
            <a:endParaRPr lang="en-US" sz="4800" dirty="0"/>
          </a:p>
        </p:txBody>
      </p:sp>
      <p:sp>
        <p:nvSpPr>
          <p:cNvPr id="4" name="Text 2"/>
          <p:cNvSpPr/>
          <p:nvPr/>
        </p:nvSpPr>
        <p:spPr>
          <a:xfrm>
            <a:off x="812800" y="4054376"/>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IBM Plex Sans" pitchFamily="34" charset="0"/>
                <a:ea typeface="IBM Plex Sans" pitchFamily="34" charset="-122"/>
                <a:cs typeface="IBM Plex Sans" pitchFamily="34" charset="-120"/>
              </a:rPr>
              <a:t>De la improvisación (vibe coding) a un estándar propio de Spec-Driven Development con TDD.</a:t>
            </a:r>
            <a:endParaRPr lang="en-US" sz="1800" dirty="0"/>
          </a:p>
        </p:txBody>
      </p:sp>
      <p:sp>
        <p:nvSpPr>
          <p:cNvPr id="5" name="Text 3"/>
          <p:cNvSpPr/>
          <p:nvPr/>
        </p:nvSpPr>
        <p:spPr>
          <a:xfrm>
            <a:off x="812800" y="5796310"/>
            <a:ext cx="4703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FDA"/>
                </a:solidFill>
                <a:latin typeface="IBM Plex Sans" pitchFamily="34" charset="0"/>
                <a:ea typeface="IBM Plex Sans" pitchFamily="34" charset="-122"/>
                <a:cs typeface="IBM Plex Sans" pitchFamily="34" charset="-120"/>
              </a:rPr>
              <a:t>Sergio Galaz · Líder Técnico · Equipo Ecosistemas</a:t>
            </a:r>
            <a:endParaRPr lang="en-US" sz="1400" dirty="0"/>
          </a:p>
        </p:txBody>
      </p:sp>
      <p:sp>
        <p:nvSpPr>
          <p:cNvPr id="6" name="Text 4"/>
          <p:cNvSpPr/>
          <p:nvPr/>
        </p:nvSpPr>
        <p:spPr>
          <a:xfrm>
            <a:off x="9186069" y="5796310"/>
            <a:ext cx="2193131"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D9A55A"/>
                </a:solidFill>
                <a:latin typeface="IBM Plex Sans" pitchFamily="34" charset="0"/>
                <a:ea typeface="IBM Plex Sans" pitchFamily="34" charset="-122"/>
                <a:cs typeface="IBM Plex Sans" pitchFamily="34" charset="-120"/>
              </a:rPr>
              <a:t>Agosto – 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RESUMEN EJECUTIVO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Cuatro mensajes clave</a:t>
            </a:r>
            <a:endParaRPr lang="en-US" sz="3200" dirty="0"/>
          </a:p>
        </p:txBody>
      </p:sp>
      <p:sp>
        <p:nvSpPr>
          <p:cNvPr id="4" name="Shape 2"/>
          <p:cNvSpPr/>
          <p:nvPr/>
        </p:nvSpPr>
        <p:spPr>
          <a:xfrm>
            <a:off x="815975" y="1903016"/>
            <a:ext cx="5200650" cy="1159421"/>
          </a:xfrm>
          <a:prstGeom prst="roundRect">
            <a:avLst>
              <a:gd name="adj" fmla="val 8489"/>
            </a:avLst>
          </a:prstGeom>
          <a:solidFill>
            <a:srgbClr val="FCFBF7"/>
          </a:solidFill>
          <a:ln w="6350">
            <a:solidFill>
              <a:srgbClr val="DDD8CC"/>
            </a:solidFill>
            <a:prstDash val="solid"/>
          </a:ln>
        </p:spPr>
      </p:sp>
      <p:sp>
        <p:nvSpPr>
          <p:cNvPr id="5" name="Text 3"/>
          <p:cNvSpPr/>
          <p:nvPr/>
        </p:nvSpPr>
        <p:spPr>
          <a:xfrm>
            <a:off x="1022350" y="2083991"/>
            <a:ext cx="1759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Source Serif 4" pitchFamily="18" charset="0"/>
                <a:ea typeface="Source Serif 4" pitchFamily="18" charset="-122"/>
                <a:cs typeface="Source Serif 4" pitchFamily="18" charset="-120"/>
              </a:rPr>
              <a:t>1</a:t>
            </a:r>
            <a:endParaRPr lang="en-US" sz="1800" dirty="0"/>
          </a:p>
        </p:txBody>
      </p:sp>
      <p:sp>
        <p:nvSpPr>
          <p:cNvPr id="6" name="Text 4"/>
          <p:cNvSpPr/>
          <p:nvPr/>
        </p:nvSpPr>
        <p:spPr>
          <a:xfrm>
            <a:off x="1249114" y="2141141"/>
            <a:ext cx="256871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Tres etapas en tres meses</a:t>
            </a:r>
            <a:endParaRPr lang="en-US" sz="1400" dirty="0"/>
          </a:p>
        </p:txBody>
      </p:sp>
      <p:sp>
        <p:nvSpPr>
          <p:cNvPr id="7" name="Text 5"/>
          <p:cNvSpPr/>
          <p:nvPr/>
        </p:nvSpPr>
        <p:spPr>
          <a:xfrm>
            <a:off x="1022350" y="2454821"/>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Pasamos del vibe coding a SDD con OpenSpec (agosto) y a un estándar propio (octubre).</a:t>
            </a:r>
            <a:endParaRPr lang="en-US" sz="1200" dirty="0"/>
          </a:p>
        </p:txBody>
      </p:sp>
      <p:sp>
        <p:nvSpPr>
          <p:cNvPr id="8" name="Shape 6"/>
          <p:cNvSpPr/>
          <p:nvPr/>
        </p:nvSpPr>
        <p:spPr>
          <a:xfrm>
            <a:off x="6175375" y="1903016"/>
            <a:ext cx="5200650" cy="1159421"/>
          </a:xfrm>
          <a:prstGeom prst="roundRect">
            <a:avLst>
              <a:gd name="adj" fmla="val 8489"/>
            </a:avLst>
          </a:prstGeom>
          <a:solidFill>
            <a:srgbClr val="FCFBF7"/>
          </a:solidFill>
          <a:ln w="6350">
            <a:solidFill>
              <a:srgbClr val="DDD8CC"/>
            </a:solidFill>
            <a:prstDash val="solid"/>
          </a:ln>
        </p:spPr>
      </p:sp>
      <p:sp>
        <p:nvSpPr>
          <p:cNvPr id="9" name="Text 7"/>
          <p:cNvSpPr/>
          <p:nvPr/>
        </p:nvSpPr>
        <p:spPr>
          <a:xfrm>
            <a:off x="6381750" y="2083991"/>
            <a:ext cx="1759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Source Serif 4" pitchFamily="18" charset="0"/>
                <a:ea typeface="Source Serif 4" pitchFamily="18" charset="-122"/>
                <a:cs typeface="Source Serif 4" pitchFamily="18" charset="-120"/>
              </a:rPr>
              <a:t>2</a:t>
            </a:r>
            <a:endParaRPr lang="en-US" sz="1800" dirty="0"/>
          </a:p>
        </p:txBody>
      </p:sp>
      <p:sp>
        <p:nvSpPr>
          <p:cNvPr id="10" name="Text 8"/>
          <p:cNvSpPr/>
          <p:nvPr/>
        </p:nvSpPr>
        <p:spPr>
          <a:xfrm>
            <a:off x="6608514" y="2141141"/>
            <a:ext cx="277094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Una decisión fundamentada</a:t>
            </a:r>
            <a:endParaRPr lang="en-US" sz="1400" dirty="0"/>
          </a:p>
        </p:txBody>
      </p:sp>
      <p:sp>
        <p:nvSpPr>
          <p:cNvPr id="11" name="Text 9"/>
          <p:cNvSpPr/>
          <p:nvPr/>
        </p:nvSpPr>
        <p:spPr>
          <a:xfrm>
            <a:off x="6381750" y="2454821"/>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SDD se eligió tras un estudio comparativo documentado de estrategias y frameworks de IA.</a:t>
            </a:r>
            <a:endParaRPr lang="en-US" sz="1200" dirty="0"/>
          </a:p>
        </p:txBody>
      </p:sp>
      <p:sp>
        <p:nvSpPr>
          <p:cNvPr id="12" name="Shape 10"/>
          <p:cNvSpPr/>
          <p:nvPr/>
        </p:nvSpPr>
        <p:spPr>
          <a:xfrm>
            <a:off x="815975" y="3221186"/>
            <a:ext cx="5200650" cy="1159421"/>
          </a:xfrm>
          <a:prstGeom prst="roundRect">
            <a:avLst>
              <a:gd name="adj" fmla="val 8489"/>
            </a:avLst>
          </a:prstGeom>
          <a:solidFill>
            <a:srgbClr val="FCFBF7"/>
          </a:solidFill>
          <a:ln w="6350">
            <a:solidFill>
              <a:srgbClr val="DDD8CC"/>
            </a:solidFill>
            <a:prstDash val="solid"/>
          </a:ln>
        </p:spPr>
      </p:sp>
      <p:sp>
        <p:nvSpPr>
          <p:cNvPr id="13" name="Text 11"/>
          <p:cNvSpPr/>
          <p:nvPr/>
        </p:nvSpPr>
        <p:spPr>
          <a:xfrm>
            <a:off x="1022350" y="3402161"/>
            <a:ext cx="1759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Source Serif 4" pitchFamily="18" charset="0"/>
                <a:ea typeface="Source Serif 4" pitchFamily="18" charset="-122"/>
                <a:cs typeface="Source Serif 4" pitchFamily="18" charset="-120"/>
              </a:rPr>
              <a:t>3</a:t>
            </a:r>
            <a:endParaRPr lang="en-US" sz="1800" dirty="0"/>
          </a:p>
        </p:txBody>
      </p:sp>
      <p:sp>
        <p:nvSpPr>
          <p:cNvPr id="14" name="Text 12"/>
          <p:cNvSpPr/>
          <p:nvPr/>
        </p:nvSpPr>
        <p:spPr>
          <a:xfrm>
            <a:off x="1249114" y="3459311"/>
            <a:ext cx="300787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Mejora medible, con fricciones</a:t>
            </a:r>
            <a:endParaRPr lang="en-US" sz="1400" dirty="0"/>
          </a:p>
        </p:txBody>
      </p:sp>
      <p:sp>
        <p:nvSpPr>
          <p:cNvPr id="15" name="Text 13"/>
          <p:cNvSpPr/>
          <p:nvPr/>
        </p:nvSpPr>
        <p:spPr>
          <a:xfrm>
            <a:off x="1022350" y="3772991"/>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Las tareas con resultado exitoso subieron de 62 % a 84 %, con dependencia externa y bloqueos de entorno.</a:t>
            </a:r>
            <a:endParaRPr lang="en-US" sz="1200" dirty="0"/>
          </a:p>
        </p:txBody>
      </p:sp>
      <p:sp>
        <p:nvSpPr>
          <p:cNvPr id="16" name="Shape 14"/>
          <p:cNvSpPr/>
          <p:nvPr/>
        </p:nvSpPr>
        <p:spPr>
          <a:xfrm>
            <a:off x="6175375" y="3221186"/>
            <a:ext cx="5200650" cy="1159421"/>
          </a:xfrm>
          <a:prstGeom prst="roundRect">
            <a:avLst>
              <a:gd name="adj" fmla="val 8489"/>
            </a:avLst>
          </a:prstGeom>
          <a:solidFill>
            <a:srgbClr val="FCFBF7"/>
          </a:solidFill>
          <a:ln w="6350">
            <a:solidFill>
              <a:srgbClr val="DDD8CC"/>
            </a:solidFill>
            <a:prstDash val="solid"/>
          </a:ln>
        </p:spPr>
      </p:sp>
      <p:sp>
        <p:nvSpPr>
          <p:cNvPr id="17" name="Text 15"/>
          <p:cNvSpPr/>
          <p:nvPr/>
        </p:nvSpPr>
        <p:spPr>
          <a:xfrm>
            <a:off x="6381750" y="3402161"/>
            <a:ext cx="1759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2B5F8E"/>
                </a:solidFill>
                <a:latin typeface="Source Serif 4" pitchFamily="18" charset="0"/>
                <a:ea typeface="Source Serif 4" pitchFamily="18" charset="-122"/>
                <a:cs typeface="Source Serif 4" pitchFamily="18" charset="-120"/>
              </a:rPr>
              <a:t>4</a:t>
            </a:r>
            <a:endParaRPr lang="en-US" sz="1800" dirty="0"/>
          </a:p>
        </p:txBody>
      </p:sp>
      <p:sp>
        <p:nvSpPr>
          <p:cNvPr id="18" name="Text 16"/>
          <p:cNvSpPr/>
          <p:nvPr/>
        </p:nvSpPr>
        <p:spPr>
          <a:xfrm>
            <a:off x="6608514" y="3459311"/>
            <a:ext cx="2355711"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Hoy, un estándar propio</a:t>
            </a:r>
            <a:endParaRPr lang="en-US" sz="1400" dirty="0"/>
          </a:p>
        </p:txBody>
      </p:sp>
      <p:sp>
        <p:nvSpPr>
          <p:cNvPr id="19" name="Text 17"/>
          <p:cNvSpPr/>
          <p:nvPr/>
        </p:nvSpPr>
        <p:spPr>
          <a:xfrm>
            <a:off x="6381750" y="3772991"/>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Sin herramientas externas, con aprobaciones humanas, TDD obligatorio y verificación con evidencia.</a:t>
            </a:r>
            <a:endParaRPr lang="en-US" sz="1200" dirty="0"/>
          </a:p>
        </p:txBody>
      </p:sp>
      <p:sp>
        <p:nvSpPr>
          <p:cNvPr id="20" name="Shape 18"/>
          <p:cNvSpPr/>
          <p:nvPr/>
        </p:nvSpPr>
        <p:spPr>
          <a:xfrm>
            <a:off x="812800" y="4688582"/>
            <a:ext cx="10566400" cy="553690"/>
          </a:xfrm>
          <a:prstGeom prst="roundRect">
            <a:avLst>
              <a:gd name="adj" fmla="val 18350"/>
            </a:avLst>
          </a:prstGeom>
          <a:solidFill>
            <a:srgbClr val="14233A"/>
          </a:solidFill>
          <a:ln/>
        </p:spPr>
      </p:sp>
      <p:sp>
        <p:nvSpPr>
          <p:cNvPr id="21" name="Text 19"/>
          <p:cNvSpPr/>
          <p:nvPr/>
        </p:nvSpPr>
        <p:spPr>
          <a:xfrm>
            <a:off x="1016000" y="4858742"/>
            <a:ext cx="1007418"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IBM Plex Sans" pitchFamily="34" charset="0"/>
                <a:ea typeface="IBM Plex Sans" pitchFamily="34" charset="-122"/>
                <a:cs typeface="IBM Plex Sans" pitchFamily="34" charset="-120"/>
              </a:rPr>
              <a:t>PROPUESTA</a:t>
            </a:r>
            <a:endParaRPr lang="en-US" sz="1200" dirty="0"/>
          </a:p>
        </p:txBody>
      </p:sp>
      <p:sp>
        <p:nvSpPr>
          <p:cNvPr id="22" name="Text 20"/>
          <p:cNvSpPr/>
          <p:nvPr/>
        </p:nvSpPr>
        <p:spPr>
          <a:xfrm>
            <a:off x="2099618" y="4840982"/>
            <a:ext cx="93486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Validar el estándar con un piloto acotado y adoptarlo como norma de la célula según sus resultados.</a:t>
            </a:r>
            <a:endParaRPr lang="en-US" sz="1400" dirty="0"/>
          </a:p>
        </p:txBody>
      </p:sp>
      <p:sp>
        <p:nvSpPr>
          <p:cNvPr id="23" name="Text 21"/>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24" name="Text 2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CONTEXTO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Por qué este tema es estratégico</a:t>
            </a:r>
            <a:endParaRPr lang="en-US" sz="3200" dirty="0"/>
          </a:p>
        </p:txBody>
      </p:sp>
      <p:sp>
        <p:nvSpPr>
          <p:cNvPr id="4" name="Shape 2"/>
          <p:cNvSpPr/>
          <p:nvPr/>
        </p:nvSpPr>
        <p:spPr>
          <a:xfrm>
            <a:off x="822325" y="1950641"/>
            <a:ext cx="0" cy="1269901"/>
          </a:xfrm>
          <a:prstGeom prst="line">
            <a:avLst/>
          </a:prstGeom>
          <a:noFill/>
          <a:ln w="19050">
            <a:solidFill>
              <a:srgbClr val="DDD8CC"/>
            </a:solidFill>
            <a:prstDash val="solid"/>
          </a:ln>
        </p:spPr>
      </p:sp>
      <p:sp>
        <p:nvSpPr>
          <p:cNvPr id="5" name="Text 3"/>
          <p:cNvSpPr/>
          <p:nvPr/>
        </p:nvSpPr>
        <p:spPr>
          <a:xfrm>
            <a:off x="1035050" y="1950641"/>
            <a:ext cx="318956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8E"/>
                </a:solidFill>
                <a:latin typeface="Source Serif 4" pitchFamily="18" charset="0"/>
                <a:ea typeface="Source Serif 4" pitchFamily="18" charset="-122"/>
                <a:cs typeface="Source Serif 4" pitchFamily="18" charset="-120"/>
              </a:rPr>
              <a:t>90 %</a:t>
            </a:r>
            <a:endParaRPr lang="en-US" sz="4800" dirty="0"/>
          </a:p>
        </p:txBody>
      </p:sp>
      <p:sp>
        <p:nvSpPr>
          <p:cNvPr id="6" name="Text 4"/>
          <p:cNvSpPr/>
          <p:nvPr/>
        </p:nvSpPr>
        <p:spPr>
          <a:xfrm>
            <a:off x="1035050" y="2722761"/>
            <a:ext cx="318956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de los desarrolladores usa IA para programar en su día a día</a:t>
            </a:r>
            <a:endParaRPr lang="en-US" sz="1400" dirty="0"/>
          </a:p>
        </p:txBody>
      </p:sp>
      <p:sp>
        <p:nvSpPr>
          <p:cNvPr id="7" name="Shape 5"/>
          <p:cNvSpPr/>
          <p:nvPr/>
        </p:nvSpPr>
        <p:spPr>
          <a:xfrm>
            <a:off x="4446042" y="1950641"/>
            <a:ext cx="0" cy="1269901"/>
          </a:xfrm>
          <a:prstGeom prst="line">
            <a:avLst/>
          </a:prstGeom>
          <a:noFill/>
          <a:ln w="19050">
            <a:solidFill>
              <a:srgbClr val="DDD8CC"/>
            </a:solidFill>
            <a:prstDash val="solid"/>
          </a:ln>
        </p:spPr>
      </p:sp>
      <p:sp>
        <p:nvSpPr>
          <p:cNvPr id="8" name="Text 6"/>
          <p:cNvSpPr/>
          <p:nvPr/>
        </p:nvSpPr>
        <p:spPr>
          <a:xfrm>
            <a:off x="4658767" y="1950641"/>
            <a:ext cx="3189618"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B5F8E"/>
                </a:solidFill>
                <a:latin typeface="Source Serif 4" pitchFamily="18" charset="0"/>
                <a:ea typeface="Source Serif 4" pitchFamily="18" charset="-122"/>
                <a:cs typeface="Source Serif 4" pitchFamily="18" charset="-120"/>
              </a:rPr>
              <a:t>45 %</a:t>
            </a:r>
            <a:endParaRPr lang="en-US" sz="4800" dirty="0"/>
          </a:p>
        </p:txBody>
      </p:sp>
      <p:sp>
        <p:nvSpPr>
          <p:cNvPr id="9" name="Text 7"/>
          <p:cNvSpPr/>
          <p:nvPr/>
        </p:nvSpPr>
        <p:spPr>
          <a:xfrm>
            <a:off x="4658767" y="2722761"/>
            <a:ext cx="3189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del código nuevo ya está escrito por IA</a:t>
            </a:r>
            <a:endParaRPr lang="en-US" sz="1400" dirty="0"/>
          </a:p>
        </p:txBody>
      </p:sp>
      <p:sp>
        <p:nvSpPr>
          <p:cNvPr id="10" name="Shape 8"/>
          <p:cNvSpPr/>
          <p:nvPr/>
        </p:nvSpPr>
        <p:spPr>
          <a:xfrm>
            <a:off x="8069808" y="1950641"/>
            <a:ext cx="0" cy="1269901"/>
          </a:xfrm>
          <a:prstGeom prst="line">
            <a:avLst/>
          </a:prstGeom>
          <a:noFill/>
          <a:ln w="19050">
            <a:solidFill>
              <a:srgbClr val="DDD8CC"/>
            </a:solidFill>
            <a:prstDash val="solid"/>
          </a:ln>
        </p:spPr>
      </p:sp>
      <p:sp>
        <p:nvSpPr>
          <p:cNvPr id="11" name="Text 9"/>
          <p:cNvSpPr/>
          <p:nvPr/>
        </p:nvSpPr>
        <p:spPr>
          <a:xfrm>
            <a:off x="8282533" y="1950641"/>
            <a:ext cx="318956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8C5A12"/>
                </a:solidFill>
                <a:latin typeface="Source Serif 4" pitchFamily="18" charset="0"/>
                <a:ea typeface="Source Serif 4" pitchFamily="18" charset="-122"/>
                <a:cs typeface="Source Serif 4" pitchFamily="18" charset="-120"/>
              </a:rPr>
              <a:t>30 %</a:t>
            </a:r>
            <a:endParaRPr lang="en-US" sz="4800" dirty="0"/>
          </a:p>
        </p:txBody>
      </p:sp>
      <p:sp>
        <p:nvSpPr>
          <p:cNvPr id="12" name="Text 10"/>
          <p:cNvSpPr/>
          <p:nvPr/>
        </p:nvSpPr>
        <p:spPr>
          <a:xfrm>
            <a:off x="8282533" y="2722761"/>
            <a:ext cx="318956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confía en los resultados de la IA sin supervisión</a:t>
            </a:r>
            <a:endParaRPr lang="en-US" sz="1400" dirty="0"/>
          </a:p>
        </p:txBody>
      </p:sp>
      <p:sp>
        <p:nvSpPr>
          <p:cNvPr id="13" name="Text 11"/>
          <p:cNvSpPr/>
          <p:nvPr/>
        </p:nvSpPr>
        <p:spPr>
          <a:xfrm>
            <a:off x="812800" y="357614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233A"/>
                </a:solidFill>
                <a:latin typeface="Source Serif 4" pitchFamily="18" charset="0"/>
                <a:ea typeface="Source Serif 4" pitchFamily="18" charset="-122"/>
                <a:cs typeface="Source Serif 4" pitchFamily="18" charset="-120"/>
              </a:rPr>
              <a:t>El reto ya no es adoptar la IA, sino dirigirla con criterio y control profesional.</a:t>
            </a:r>
            <a:endParaRPr lang="en-US" sz="1800" dirty="0"/>
          </a:p>
        </p:txBody>
      </p:sp>
      <p:sp>
        <p:nvSpPr>
          <p:cNvPr id="14" name="Text 12"/>
          <p:cNvSpPr/>
          <p:nvPr/>
        </p:nvSpPr>
        <p:spPr>
          <a:xfrm>
            <a:off x="812800" y="42289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Fuente: Apuntes del Curso de Desarrollo con IA (BIG school, 2026), con datos de informes de Google, Microsoft, GitHub, JetBrains y Stack Overflow.</a:t>
            </a:r>
            <a:endParaRPr lang="en-US" sz="1200" dirty="0"/>
          </a:p>
        </p:txBody>
      </p:sp>
      <p:sp>
        <p:nvSpPr>
          <p:cNvPr id="15" name="Text 13"/>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16" name="Text 1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LÍNEA DE TIEMPO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Tres etapas en tres meses</a:t>
            </a:r>
            <a:endParaRPr lang="en-US" sz="3200" dirty="0"/>
          </a:p>
        </p:txBody>
      </p:sp>
      <p:sp>
        <p:nvSpPr>
          <p:cNvPr id="4" name="Shape 2"/>
          <p:cNvSpPr/>
          <p:nvPr/>
        </p:nvSpPr>
        <p:spPr>
          <a:xfrm>
            <a:off x="812800" y="1950641"/>
            <a:ext cx="3420517" cy="1409551"/>
          </a:xfrm>
          <a:prstGeom prst="roundRect">
            <a:avLst>
              <a:gd name="adj" fmla="val 3604"/>
            </a:avLst>
          </a:prstGeom>
          <a:solidFill>
            <a:srgbClr val="FCFBF7"/>
          </a:solidFill>
          <a:ln/>
        </p:spPr>
      </p:sp>
      <p:sp>
        <p:nvSpPr>
          <p:cNvPr id="5" name="Shape 3"/>
          <p:cNvSpPr/>
          <p:nvPr/>
        </p:nvSpPr>
        <p:spPr>
          <a:xfrm>
            <a:off x="812800" y="1950641"/>
            <a:ext cx="3420517" cy="1409551"/>
          </a:xfrm>
          <a:custGeom>
            <a:avLst/>
            <a:gdLst/>
            <a:ahLst/>
            <a:cxnLst/>
            <a:rect l="l" t="t" r="r" b="b"/>
            <a:pathLst>
              <a:path w="3420517" h="1409551">
                <a:moveTo>
                  <a:pt x="0" y="50800"/>
                </a:moveTo>
                <a:lnTo>
                  <a:pt x="0" y="50800"/>
                </a:lnTo>
                <a:arcTo hR="50800" wR="50800" stAng="10800000" swAng="5400000"/>
                <a:lnTo>
                  <a:pt x="3369717" y="0"/>
                </a:lnTo>
                <a:arcTo hR="50800" wR="50800" stAng="16200000" swAng="5400000"/>
                <a:lnTo>
                  <a:pt x="3420517" y="50800"/>
                </a:lnTo>
                <a:arcTo hR="12700" wR="50800" stAng="0" swAng="-5400000"/>
                <a:lnTo>
                  <a:pt x="50800" y="38100"/>
                </a:lnTo>
                <a:arcTo hR="12700" wR="50800" stAng="16200000" swAng="-5400000"/>
                <a:close/>
              </a:path>
            </a:pathLst>
          </a:custGeom>
          <a:solidFill>
            <a:srgbClr val="8C5A12"/>
          </a:solidFill>
          <a:ln/>
        </p:spPr>
      </p:sp>
      <p:sp>
        <p:nvSpPr>
          <p:cNvPr id="6" name="Text 4"/>
          <p:cNvSpPr/>
          <p:nvPr/>
        </p:nvSpPr>
        <p:spPr>
          <a:xfrm>
            <a:off x="1016000" y="2166541"/>
            <a:ext cx="31045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C5A12"/>
                </a:solidFill>
                <a:latin typeface="IBM Plex Sans" pitchFamily="34" charset="0"/>
                <a:ea typeface="IBM Plex Sans" pitchFamily="34" charset="-122"/>
                <a:cs typeface="IBM Plex Sans" pitchFamily="34" charset="-120"/>
              </a:rPr>
              <a:t>ETAPA 1 · ABRIL – AGOSTO 2026</a:t>
            </a:r>
            <a:endParaRPr lang="en-US" sz="1200" dirty="0"/>
          </a:p>
        </p:txBody>
      </p:sp>
      <p:sp>
        <p:nvSpPr>
          <p:cNvPr id="7" name="Text 5"/>
          <p:cNvSpPr/>
          <p:nvPr/>
        </p:nvSpPr>
        <p:spPr>
          <a:xfrm>
            <a:off x="1016000" y="2430661"/>
            <a:ext cx="31045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33A"/>
                </a:solidFill>
                <a:latin typeface="Source Serif 4" pitchFamily="18" charset="0"/>
                <a:ea typeface="Source Serif 4" pitchFamily="18" charset="-122"/>
                <a:cs typeface="Source Serif 4" pitchFamily="18" charset="-120"/>
              </a:rPr>
              <a:t>Vibe coding</a:t>
            </a:r>
            <a:endParaRPr lang="en-US" sz="1800" dirty="0"/>
          </a:p>
        </p:txBody>
      </p:sp>
      <p:sp>
        <p:nvSpPr>
          <p:cNvPr id="8" name="Text 6"/>
          <p:cNvSpPr/>
          <p:nvPr/>
        </p:nvSpPr>
        <p:spPr>
          <a:xfrm>
            <a:off x="1016000" y="2755751"/>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Pedidos libres al chat o al agente, sin especificación previa ni método común.</a:t>
            </a:r>
            <a:endParaRPr lang="en-US" sz="1200" dirty="0"/>
          </a:p>
        </p:txBody>
      </p:sp>
      <p:sp>
        <p:nvSpPr>
          <p:cNvPr id="9" name="Shape 7"/>
          <p:cNvSpPr/>
          <p:nvPr/>
        </p:nvSpPr>
        <p:spPr>
          <a:xfrm>
            <a:off x="4385717" y="1950641"/>
            <a:ext cx="3420566" cy="1409551"/>
          </a:xfrm>
          <a:prstGeom prst="roundRect">
            <a:avLst>
              <a:gd name="adj" fmla="val 3604"/>
            </a:avLst>
          </a:prstGeom>
          <a:solidFill>
            <a:srgbClr val="FCFBF7"/>
          </a:solidFill>
          <a:ln/>
        </p:spPr>
      </p:sp>
      <p:sp>
        <p:nvSpPr>
          <p:cNvPr id="10" name="Shape 8"/>
          <p:cNvSpPr/>
          <p:nvPr/>
        </p:nvSpPr>
        <p:spPr>
          <a:xfrm>
            <a:off x="4385717" y="1950641"/>
            <a:ext cx="3420566" cy="1409551"/>
          </a:xfrm>
          <a:custGeom>
            <a:avLst/>
            <a:gdLst/>
            <a:ahLst/>
            <a:cxnLst/>
            <a:rect l="l" t="t" r="r" b="b"/>
            <a:pathLst>
              <a:path w="3420566" h="1409551">
                <a:moveTo>
                  <a:pt x="0" y="50800"/>
                </a:moveTo>
                <a:lnTo>
                  <a:pt x="0" y="50800"/>
                </a:lnTo>
                <a:arcTo hR="50800" wR="50800" stAng="10800000" swAng="5400000"/>
                <a:lnTo>
                  <a:pt x="3369766" y="0"/>
                </a:lnTo>
                <a:arcTo hR="50800" wR="50800" stAng="16200000" swAng="5400000"/>
                <a:lnTo>
                  <a:pt x="3420566" y="50800"/>
                </a:lnTo>
                <a:arcTo hR="12700" wR="50800" stAng="0" swAng="-5400000"/>
                <a:lnTo>
                  <a:pt x="50800" y="38100"/>
                </a:lnTo>
                <a:arcTo hR="12700" wR="50800" stAng="16200000" swAng="-5400000"/>
                <a:close/>
              </a:path>
            </a:pathLst>
          </a:custGeom>
          <a:solidFill>
            <a:srgbClr val="5B6B7D"/>
          </a:solidFill>
          <a:ln/>
        </p:spPr>
      </p:sp>
      <p:sp>
        <p:nvSpPr>
          <p:cNvPr id="11" name="Text 9"/>
          <p:cNvSpPr/>
          <p:nvPr/>
        </p:nvSpPr>
        <p:spPr>
          <a:xfrm>
            <a:off x="4588917" y="2166541"/>
            <a:ext cx="3104591"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B6B7D"/>
                </a:solidFill>
                <a:latin typeface="IBM Plex Sans" pitchFamily="34" charset="0"/>
                <a:ea typeface="IBM Plex Sans" pitchFamily="34" charset="-122"/>
                <a:cs typeface="IBM Plex Sans" pitchFamily="34" charset="-120"/>
              </a:rPr>
              <a:t>ETAPA 2 · AGOSTO – OCTUBRE 2026</a:t>
            </a:r>
            <a:endParaRPr lang="en-US" sz="1200" dirty="0"/>
          </a:p>
        </p:txBody>
      </p:sp>
      <p:sp>
        <p:nvSpPr>
          <p:cNvPr id="12" name="Text 10"/>
          <p:cNvSpPr/>
          <p:nvPr/>
        </p:nvSpPr>
        <p:spPr>
          <a:xfrm>
            <a:off x="4588917" y="2430661"/>
            <a:ext cx="310459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33A"/>
                </a:solidFill>
                <a:latin typeface="Source Serif 4" pitchFamily="18" charset="0"/>
                <a:ea typeface="Source Serif 4" pitchFamily="18" charset="-122"/>
                <a:cs typeface="Source Serif 4" pitchFamily="18" charset="-120"/>
              </a:rPr>
              <a:t>SDD con OpenSpec</a:t>
            </a:r>
            <a:endParaRPr lang="en-US" sz="1800" dirty="0"/>
          </a:p>
        </p:txBody>
      </p:sp>
      <p:sp>
        <p:nvSpPr>
          <p:cNvPr id="13" name="Text 11"/>
          <p:cNvSpPr/>
          <p:nvPr/>
        </p:nvSpPr>
        <p:spPr>
          <a:xfrm>
            <a:off x="4588917" y="2755751"/>
            <a:ext cx="31045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Especificaciones versionadas y agentes propios donde la herramienta no llegaba.</a:t>
            </a:r>
            <a:endParaRPr lang="en-US" sz="1200" dirty="0"/>
          </a:p>
        </p:txBody>
      </p:sp>
      <p:sp>
        <p:nvSpPr>
          <p:cNvPr id="14" name="Shape 12"/>
          <p:cNvSpPr/>
          <p:nvPr/>
        </p:nvSpPr>
        <p:spPr>
          <a:xfrm>
            <a:off x="7958683" y="1950641"/>
            <a:ext cx="3420517" cy="1409551"/>
          </a:xfrm>
          <a:prstGeom prst="roundRect">
            <a:avLst>
              <a:gd name="adj" fmla="val 3604"/>
            </a:avLst>
          </a:prstGeom>
          <a:solidFill>
            <a:srgbClr val="FCFBF7"/>
          </a:solidFill>
          <a:ln/>
        </p:spPr>
      </p:sp>
      <p:sp>
        <p:nvSpPr>
          <p:cNvPr id="15" name="Shape 13"/>
          <p:cNvSpPr/>
          <p:nvPr/>
        </p:nvSpPr>
        <p:spPr>
          <a:xfrm>
            <a:off x="7958683" y="1950641"/>
            <a:ext cx="3420517" cy="1409551"/>
          </a:xfrm>
          <a:custGeom>
            <a:avLst/>
            <a:gdLst/>
            <a:ahLst/>
            <a:cxnLst/>
            <a:rect l="l" t="t" r="r" b="b"/>
            <a:pathLst>
              <a:path w="3420517" h="1409551">
                <a:moveTo>
                  <a:pt x="0" y="50800"/>
                </a:moveTo>
                <a:lnTo>
                  <a:pt x="0" y="50800"/>
                </a:lnTo>
                <a:arcTo hR="50800" wR="50800" stAng="10800000" swAng="5400000"/>
                <a:lnTo>
                  <a:pt x="3369717" y="0"/>
                </a:lnTo>
                <a:arcTo hR="50800" wR="50800" stAng="16200000" swAng="5400000"/>
                <a:lnTo>
                  <a:pt x="3420517" y="50800"/>
                </a:lnTo>
                <a:arcTo hR="12700" wR="50800" stAng="0" swAng="-5400000"/>
                <a:lnTo>
                  <a:pt x="50800" y="38100"/>
                </a:lnTo>
                <a:arcTo hR="12700" wR="50800" stAng="16200000" swAng="-5400000"/>
                <a:close/>
              </a:path>
            </a:pathLst>
          </a:custGeom>
          <a:solidFill>
            <a:srgbClr val="2B5F8E"/>
          </a:solidFill>
          <a:ln/>
        </p:spPr>
      </p:sp>
      <p:sp>
        <p:nvSpPr>
          <p:cNvPr id="16" name="Text 14"/>
          <p:cNvSpPr/>
          <p:nvPr/>
        </p:nvSpPr>
        <p:spPr>
          <a:xfrm>
            <a:off x="8161883" y="2166541"/>
            <a:ext cx="31045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B5F8E"/>
                </a:solidFill>
                <a:latin typeface="IBM Plex Sans" pitchFamily="34" charset="0"/>
                <a:ea typeface="IBM Plex Sans" pitchFamily="34" charset="-122"/>
                <a:cs typeface="IBM Plex Sans" pitchFamily="34" charset="-120"/>
              </a:rPr>
              <a:t>ETAPA 3 · DESDE OCTUBRE 2026</a:t>
            </a:r>
            <a:endParaRPr lang="en-US" sz="1200" dirty="0"/>
          </a:p>
        </p:txBody>
      </p:sp>
      <p:sp>
        <p:nvSpPr>
          <p:cNvPr id="17" name="Text 15"/>
          <p:cNvSpPr/>
          <p:nvPr/>
        </p:nvSpPr>
        <p:spPr>
          <a:xfrm>
            <a:off x="8161883" y="2430661"/>
            <a:ext cx="310454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33A"/>
                </a:solidFill>
                <a:latin typeface="Source Serif 4" pitchFamily="18" charset="0"/>
                <a:ea typeface="Source Serif 4" pitchFamily="18" charset="-122"/>
                <a:cs typeface="Source Serif 4" pitchFamily="18" charset="-120"/>
              </a:rPr>
              <a:t>Estándar propio</a:t>
            </a:r>
            <a:endParaRPr lang="en-US" sz="1800" dirty="0"/>
          </a:p>
        </p:txBody>
      </p:sp>
      <p:sp>
        <p:nvSpPr>
          <p:cNvPr id="18" name="Text 16"/>
          <p:cNvSpPr/>
          <p:nvPr/>
        </p:nvSpPr>
        <p:spPr>
          <a:xfrm>
            <a:off x="8161883" y="2755751"/>
            <a:ext cx="3104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SDD + TDD con capacidades nativas de GitHub Copilot, sin herramientas externas.</a:t>
            </a:r>
            <a:endParaRPr lang="en-US" sz="1200" dirty="0"/>
          </a:p>
        </p:txBody>
      </p:sp>
      <p:sp>
        <p:nvSpPr>
          <p:cNvPr id="19" name="Text 17"/>
          <p:cNvSpPr/>
          <p:nvPr/>
        </p:nvSpPr>
        <p:spPr>
          <a:xfrm>
            <a:off x="812800" y="3715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IBM Plex Sans" pitchFamily="34" charset="0"/>
                <a:ea typeface="IBM Plex Sans" pitchFamily="34" charset="-122"/>
                <a:cs typeface="IBM Plex Sans" pitchFamily="34" charset="-120"/>
              </a:rPr>
              <a:t>HITOS REGISTRADOS EN LA BITÁCORA</a:t>
            </a:r>
            <a:endParaRPr lang="en-US" sz="1200" dirty="0"/>
          </a:p>
        </p:txBody>
      </p:sp>
      <p:sp>
        <p:nvSpPr>
          <p:cNvPr id="20" name="Shape 18"/>
          <p:cNvSpPr/>
          <p:nvPr/>
        </p:nvSpPr>
        <p:spPr>
          <a:xfrm>
            <a:off x="812800" y="4062462"/>
            <a:ext cx="10566400" cy="0"/>
          </a:xfrm>
          <a:prstGeom prst="line">
            <a:avLst/>
          </a:prstGeom>
          <a:noFill/>
          <a:ln w="12700">
            <a:solidFill>
              <a:srgbClr val="DDD8CC"/>
            </a:solidFill>
            <a:prstDash val="solid"/>
          </a:ln>
        </p:spPr>
      </p:sp>
      <p:sp>
        <p:nvSpPr>
          <p:cNvPr id="21" name="Text 19"/>
          <p:cNvSpPr/>
          <p:nvPr/>
        </p:nvSpPr>
        <p:spPr>
          <a:xfrm>
            <a:off x="812800" y="4195812"/>
            <a:ext cx="205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3–14 ago</a:t>
            </a:r>
            <a:endParaRPr lang="en-US" sz="1200" dirty="0"/>
          </a:p>
        </p:txBody>
      </p:sp>
      <p:sp>
        <p:nvSpPr>
          <p:cNvPr id="22" name="Text 20"/>
          <p:cNvSpPr/>
          <p:nvPr/>
        </p:nvSpPr>
        <p:spPr>
          <a:xfrm>
            <a:off x="812800" y="4434532"/>
            <a:ext cx="205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Estudio de estrategias y frameworks</a:t>
            </a:r>
            <a:endParaRPr lang="en-US" sz="1200" dirty="0"/>
          </a:p>
        </p:txBody>
      </p:sp>
      <p:sp>
        <p:nvSpPr>
          <p:cNvPr id="23" name="Text 21"/>
          <p:cNvSpPr/>
          <p:nvPr/>
        </p:nvSpPr>
        <p:spPr>
          <a:xfrm>
            <a:off x="2956520" y="4195812"/>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18 ago</a:t>
            </a:r>
            <a:endParaRPr lang="en-US" sz="1200" dirty="0"/>
          </a:p>
        </p:txBody>
      </p:sp>
      <p:sp>
        <p:nvSpPr>
          <p:cNvPr id="24" name="Text 22"/>
          <p:cNvSpPr/>
          <p:nvPr/>
        </p:nvSpPr>
        <p:spPr>
          <a:xfrm>
            <a:off x="2956520" y="4434532"/>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Primer estándar con OpenSpec</a:t>
            </a:r>
            <a:endParaRPr lang="en-US" sz="1200" dirty="0"/>
          </a:p>
        </p:txBody>
      </p:sp>
      <p:sp>
        <p:nvSpPr>
          <p:cNvPr id="25" name="Text 23"/>
          <p:cNvSpPr/>
          <p:nvPr/>
        </p:nvSpPr>
        <p:spPr>
          <a:xfrm>
            <a:off x="5100290" y="4195812"/>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28 ago</a:t>
            </a:r>
            <a:endParaRPr lang="en-US" sz="1200" dirty="0"/>
          </a:p>
        </p:txBody>
      </p:sp>
      <p:sp>
        <p:nvSpPr>
          <p:cNvPr id="26" name="Text 24"/>
          <p:cNvSpPr/>
          <p:nvPr/>
        </p:nvSpPr>
        <p:spPr>
          <a:xfrm>
            <a:off x="5100290" y="4434532"/>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Bloqueo de entorno y estrategia Zero-CLI</a:t>
            </a:r>
            <a:endParaRPr lang="en-US" sz="1200" dirty="0"/>
          </a:p>
        </p:txBody>
      </p:sp>
      <p:sp>
        <p:nvSpPr>
          <p:cNvPr id="27" name="Text 25"/>
          <p:cNvSpPr/>
          <p:nvPr/>
        </p:nvSpPr>
        <p:spPr>
          <a:xfrm>
            <a:off x="7244060" y="4195812"/>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8 sep</a:t>
            </a:r>
            <a:endParaRPr lang="en-US" sz="1200" dirty="0"/>
          </a:p>
        </p:txBody>
      </p:sp>
      <p:sp>
        <p:nvSpPr>
          <p:cNvPr id="28" name="Text 26"/>
          <p:cNvSpPr/>
          <p:nvPr/>
        </p:nvSpPr>
        <p:spPr>
          <a:xfrm>
            <a:off x="7244060" y="4434532"/>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Retrospectiva y bitácora oficiales</a:t>
            </a:r>
            <a:endParaRPr lang="en-US" sz="1200" dirty="0"/>
          </a:p>
        </p:txBody>
      </p:sp>
      <p:sp>
        <p:nvSpPr>
          <p:cNvPr id="29" name="Text 27"/>
          <p:cNvSpPr/>
          <p:nvPr/>
        </p:nvSpPr>
        <p:spPr>
          <a:xfrm>
            <a:off x="9387830" y="4195812"/>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IBM Plex Sans" pitchFamily="34" charset="0"/>
                <a:ea typeface="IBM Plex Sans" pitchFamily="34" charset="-122"/>
                <a:cs typeface="IBM Plex Sans" pitchFamily="34" charset="-120"/>
              </a:rPr>
              <a:t>23 oct</a:t>
            </a:r>
            <a:endParaRPr lang="en-US" sz="1200" dirty="0"/>
          </a:p>
        </p:txBody>
      </p:sp>
      <p:sp>
        <p:nvSpPr>
          <p:cNvPr id="30" name="Text 28"/>
          <p:cNvSpPr/>
          <p:nvPr/>
        </p:nvSpPr>
        <p:spPr>
          <a:xfrm>
            <a:off x="9387830" y="4434532"/>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Estándar propio, sin OpenSpec</a:t>
            </a:r>
            <a:endParaRPr lang="en-US" sz="1200" dirty="0"/>
          </a:p>
        </p:txBody>
      </p:sp>
      <p:sp>
        <p:nvSpPr>
          <p:cNvPr id="31" name="Text 29"/>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32"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IBM Plex Sans" pitchFamily="34" charset="0"/>
                <a:ea typeface="IBM Plex Sans" pitchFamily="34" charset="-122"/>
                <a:cs typeface="IBM Plex Sans" pitchFamily="34" charset="-120"/>
              </a:rPr>
              <a:t>ETAPA 1 · ABRIL – AGOSTO 2026</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Vibe coding: velocidad sin control</a:t>
            </a:r>
            <a:endParaRPr lang="en-US" sz="3200" dirty="0"/>
          </a:p>
        </p:txBody>
      </p:sp>
      <p:sp>
        <p:nvSpPr>
          <p:cNvPr id="4" name="Shape 2"/>
          <p:cNvSpPr/>
          <p:nvPr/>
        </p:nvSpPr>
        <p:spPr>
          <a:xfrm>
            <a:off x="815975" y="1903016"/>
            <a:ext cx="5384800" cy="2121942"/>
          </a:xfrm>
          <a:prstGeom prst="roundRect">
            <a:avLst>
              <a:gd name="adj" fmla="val 4638"/>
            </a:avLst>
          </a:prstGeom>
          <a:solidFill>
            <a:srgbClr val="FCFBF7"/>
          </a:solidFill>
          <a:ln w="6350">
            <a:solidFill>
              <a:srgbClr val="DDD8CC"/>
            </a:solidFill>
            <a:prstDash val="solid"/>
          </a:ln>
        </p:spPr>
      </p:sp>
      <p:sp>
        <p:nvSpPr>
          <p:cNvPr id="5" name="Text 3"/>
          <p:cNvSpPr/>
          <p:nvPr/>
        </p:nvSpPr>
        <p:spPr>
          <a:xfrm>
            <a:off x="1022350" y="2109391"/>
            <a:ext cx="512121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Cómo trabajábamos</a:t>
            </a:r>
            <a:endParaRPr lang="en-US" sz="1400" dirty="0"/>
          </a:p>
        </p:txBody>
      </p:sp>
      <p:sp>
        <p:nvSpPr>
          <p:cNvPr id="6" name="Text 4"/>
          <p:cNvSpPr/>
          <p:nvPr/>
        </p:nvSpPr>
        <p:spPr>
          <a:xfrm>
            <a:off x="1100582" y="2442121"/>
            <a:ext cx="5035360" cy="10209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Código copiado entre el editor y chats web</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Pedidos sin especificación, a prueba y error</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Lo que la IA no resolvía se terminaba a mano</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Decisiones dispersas en chats, sin registro</a:t>
            </a:r>
            <a:endParaRPr lang="en-US" sz="1400" dirty="0"/>
          </a:p>
        </p:txBody>
      </p:sp>
      <p:sp>
        <p:nvSpPr>
          <p:cNvPr id="7" name="Shape 5"/>
          <p:cNvSpPr/>
          <p:nvPr/>
        </p:nvSpPr>
        <p:spPr>
          <a:xfrm>
            <a:off x="6419850" y="1899841"/>
            <a:ext cx="0" cy="1112391"/>
          </a:xfrm>
          <a:prstGeom prst="line">
            <a:avLst/>
          </a:prstGeom>
          <a:noFill/>
          <a:ln w="25400">
            <a:solidFill>
              <a:srgbClr val="8C5A12"/>
            </a:solidFill>
            <a:prstDash val="solid"/>
          </a:ln>
        </p:spPr>
      </p:sp>
      <p:sp>
        <p:nvSpPr>
          <p:cNvPr id="8" name="Text 6"/>
          <p:cNvSpPr/>
          <p:nvPr/>
        </p:nvSpPr>
        <p:spPr>
          <a:xfrm>
            <a:off x="6610350" y="1950641"/>
            <a:ext cx="4911916" cy="77207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233A"/>
                </a:solidFill>
                <a:latin typeface="Source Serif 4" pitchFamily="18" charset="0"/>
                <a:ea typeface="Source Serif 4" pitchFamily="18" charset="-122"/>
                <a:cs typeface="Source Serif 4" pitchFamily="18" charset="-120"/>
              </a:rPr>
              <a:t>«Utilizar el chat web proporcionando archivos […] entrega resultados imprecisos y poco óptimos […] y agota rápidamente la cuota de tokens.»</a:t>
            </a:r>
            <a:endParaRPr lang="en-US" sz="1400" dirty="0"/>
          </a:p>
        </p:txBody>
      </p:sp>
      <p:sp>
        <p:nvSpPr>
          <p:cNvPr id="9" name="Text 7"/>
          <p:cNvSpPr/>
          <p:nvPr/>
        </p:nvSpPr>
        <p:spPr>
          <a:xfrm>
            <a:off x="6610350" y="2748111"/>
            <a:ext cx="49119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Registro del equipo · mayo 2026</a:t>
            </a:r>
            <a:endParaRPr lang="en-US" sz="1200" dirty="0"/>
          </a:p>
        </p:txBody>
      </p:sp>
      <p:sp>
        <p:nvSpPr>
          <p:cNvPr id="10" name="Shape 8"/>
          <p:cNvSpPr/>
          <p:nvPr/>
        </p:nvSpPr>
        <p:spPr>
          <a:xfrm>
            <a:off x="6419850" y="3164632"/>
            <a:ext cx="0" cy="863501"/>
          </a:xfrm>
          <a:prstGeom prst="line">
            <a:avLst/>
          </a:prstGeom>
          <a:noFill/>
          <a:ln w="25400">
            <a:solidFill>
              <a:srgbClr val="8C5A12"/>
            </a:solidFill>
            <a:prstDash val="solid"/>
          </a:ln>
        </p:spPr>
      </p:sp>
      <p:sp>
        <p:nvSpPr>
          <p:cNvPr id="11" name="Text 9"/>
          <p:cNvSpPr/>
          <p:nvPr/>
        </p:nvSpPr>
        <p:spPr>
          <a:xfrm>
            <a:off x="6610350" y="3215432"/>
            <a:ext cx="4911916" cy="52318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233A"/>
                </a:solidFill>
                <a:latin typeface="Source Serif 4" pitchFamily="18" charset="0"/>
                <a:ea typeface="Source Serif 4" pitchFamily="18" charset="-122"/>
                <a:cs typeface="Source Serif 4" pitchFamily="18" charset="-120"/>
              </a:rPr>
              <a:t>«Utilizar metodología para el uso de herramientas IA. Reducir vibecoding.»</a:t>
            </a:r>
            <a:endParaRPr lang="en-US" sz="1400" dirty="0"/>
          </a:p>
        </p:txBody>
      </p:sp>
      <p:sp>
        <p:nvSpPr>
          <p:cNvPr id="12" name="Text 10"/>
          <p:cNvSpPr/>
          <p:nvPr/>
        </p:nvSpPr>
        <p:spPr>
          <a:xfrm>
            <a:off x="6610350" y="3764012"/>
            <a:ext cx="49119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Registro del equipo · junio y agosto 2026</a:t>
            </a:r>
            <a:endParaRPr lang="en-US" sz="1200" dirty="0"/>
          </a:p>
        </p:txBody>
      </p:sp>
      <p:sp>
        <p:nvSpPr>
          <p:cNvPr id="13" name="Shape 11"/>
          <p:cNvSpPr/>
          <p:nvPr/>
        </p:nvSpPr>
        <p:spPr>
          <a:xfrm>
            <a:off x="812800" y="4332932"/>
            <a:ext cx="10566400" cy="802580"/>
          </a:xfrm>
          <a:prstGeom prst="roundRect">
            <a:avLst>
              <a:gd name="adj" fmla="val 12659"/>
            </a:avLst>
          </a:prstGeom>
          <a:solidFill>
            <a:srgbClr val="14233A"/>
          </a:solidFill>
          <a:ln/>
        </p:spPr>
      </p:sp>
      <p:sp>
        <p:nvSpPr>
          <p:cNvPr id="14" name="Text 12"/>
          <p:cNvSpPr/>
          <p:nvPr/>
        </p:nvSpPr>
        <p:spPr>
          <a:xfrm>
            <a:off x="1016000" y="4627563"/>
            <a:ext cx="1204913"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IBM Plex Sans" pitchFamily="34" charset="0"/>
                <a:ea typeface="IBM Plex Sans" pitchFamily="34" charset="-122"/>
                <a:cs typeface="IBM Plex Sans" pitchFamily="34" charset="-120"/>
              </a:rPr>
              <a:t>DIAGNÓSTICO</a:t>
            </a:r>
            <a:endParaRPr lang="en-US" sz="1200" dirty="0"/>
          </a:p>
        </p:txBody>
      </p:sp>
      <p:sp>
        <p:nvSpPr>
          <p:cNvPr id="15" name="Text 13"/>
          <p:cNvSpPr/>
          <p:nvPr/>
        </p:nvSpPr>
        <p:spPr>
          <a:xfrm>
            <a:off x="2297113" y="4485332"/>
            <a:ext cx="91452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La IA no falla por falta de capacidad técnica, sino por subespecificación: improvisa reglas de negocio, datos y nombres.</a:t>
            </a:r>
            <a:endParaRPr lang="en-US" sz="1400" dirty="0"/>
          </a:p>
        </p:txBody>
      </p:sp>
      <p:sp>
        <p:nvSpPr>
          <p:cNvPr id="16" name="Text 14"/>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17" name="Text 1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ESTUDIO · 3 AL 14 DE AGOSTO DE 2026</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El estudio: qué estrategia adoptar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2636044"/>
        </p:xfrm>
        <a:graphic>
          <a:graphicData uri="http://schemas.openxmlformats.org/drawingml/2006/table">
            <a:tbl>
              <a:tblPr/>
              <a:tblGrid>
                <a:gridCol w="2110740"/>
                <a:gridCol w="2955036"/>
                <a:gridCol w="4010406"/>
                <a:gridCol w="1477518"/>
              </a:tblGrid>
              <a:tr h="332680">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Alternativa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Fortaleza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Limitación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Decisión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Prompting libre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Rapidez inicial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Improvisa reglas, datos y nombres; sin trazabilidad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8C5A12"/>
                          </a:solidFill>
                          <a:latin typeface="IBM Plex Sans" pitchFamily="34" charset="0"/>
                          <a:ea typeface="IBM Plex Sans" pitchFamily="34" charset="-122"/>
                          <a:cs typeface="IBM Plex Sans" pitchFamily="34" charset="-120"/>
                        </a:rPr>
                        <a:t>Descartada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Spec-Kit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Muy completo; especificación ejecutable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Gran esfuerzo inicial y alto acoplamiento; complejo en código existente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8C5A12"/>
                          </a:solidFill>
                          <a:latin typeface="IBM Plex Sans" pitchFamily="34" charset="0"/>
                          <a:ea typeface="IBM Plex Sans" pitchFamily="34" charset="-122"/>
                          <a:cs typeface="IBM Plex Sans" pitchFamily="34" charset="-120"/>
                        </a:rPr>
                        <a:t>Descartada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Superpowers (J. Vincent)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TDD riguroso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Demasiado invasivo en cambios visuales o menores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8C5A12"/>
                          </a:solidFill>
                          <a:latin typeface="IBM Plex Sans" pitchFamily="34" charset="0"/>
                          <a:ea typeface="IBM Plex Sans" pitchFamily="34" charset="-122"/>
                          <a:cs typeface="IBM Plex Sans" pitchFamily="34" charset="-120"/>
                        </a:rPr>
                        <a:t>Descartada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OpenSpec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Abierto y modular; trabaja sobre código existente con delta specs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Dependencia de su CLI (detectada después, en la adopción)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Elegida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546001">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gentle-ai · Engram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Ideas de controles automáticos y memoria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Añaden dependencias de entorno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Solo referencia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6"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CRITERIOS DE DECISIÓN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Por qué SDD y no otra estrategia</a:t>
            </a:r>
            <a:endParaRPr lang="en-US" sz="3200" dirty="0"/>
          </a:p>
        </p:txBody>
      </p:sp>
      <p:sp>
        <p:nvSpPr>
          <p:cNvPr id="4" name="Shape 2"/>
          <p:cNvSpPr/>
          <p:nvPr/>
        </p:nvSpPr>
        <p:spPr>
          <a:xfrm>
            <a:off x="812800" y="1953816"/>
            <a:ext cx="6197600" cy="0"/>
          </a:xfrm>
          <a:prstGeom prst="line">
            <a:avLst/>
          </a:prstGeom>
          <a:noFill/>
          <a:ln w="6350">
            <a:solidFill>
              <a:srgbClr val="DDD8CC"/>
            </a:solidFill>
            <a:prstDash val="solid"/>
          </a:ln>
        </p:spPr>
      </p:sp>
      <p:sp>
        <p:nvSpPr>
          <p:cNvPr id="5" name="Text 3"/>
          <p:cNvSpPr/>
          <p:nvPr/>
        </p:nvSpPr>
        <p:spPr>
          <a:xfrm>
            <a:off x="812800" y="2058591"/>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1</a:t>
            </a:r>
            <a:endParaRPr lang="en-US" sz="1400" dirty="0"/>
          </a:p>
        </p:txBody>
      </p:sp>
      <p:sp>
        <p:nvSpPr>
          <p:cNvPr id="6" name="Text 4"/>
          <p:cNvSpPr/>
          <p:nvPr/>
        </p:nvSpPr>
        <p:spPr>
          <a:xfrm>
            <a:off x="1168400" y="2058591"/>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Ataca la causa raíz: la subespecificación</a:t>
            </a:r>
            <a:endParaRPr lang="en-US" sz="1400" dirty="0"/>
          </a:p>
        </p:txBody>
      </p:sp>
      <p:sp>
        <p:nvSpPr>
          <p:cNvPr id="7" name="Shape 5"/>
          <p:cNvSpPr/>
          <p:nvPr/>
        </p:nvSpPr>
        <p:spPr>
          <a:xfrm>
            <a:off x="812800" y="2412256"/>
            <a:ext cx="6197600" cy="0"/>
          </a:xfrm>
          <a:prstGeom prst="line">
            <a:avLst/>
          </a:prstGeom>
          <a:noFill/>
          <a:ln w="6350">
            <a:solidFill>
              <a:srgbClr val="DDD8CC"/>
            </a:solidFill>
            <a:prstDash val="solid"/>
          </a:ln>
        </p:spPr>
      </p:sp>
      <p:sp>
        <p:nvSpPr>
          <p:cNvPr id="8" name="Text 6"/>
          <p:cNvSpPr/>
          <p:nvPr/>
        </p:nvSpPr>
        <p:spPr>
          <a:xfrm>
            <a:off x="812800" y="2517031"/>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2</a:t>
            </a:r>
            <a:endParaRPr lang="en-US" sz="1400" dirty="0"/>
          </a:p>
        </p:txBody>
      </p:sp>
      <p:sp>
        <p:nvSpPr>
          <p:cNvPr id="9" name="Text 7"/>
          <p:cNvSpPr/>
          <p:nvPr/>
        </p:nvSpPr>
        <p:spPr>
          <a:xfrm>
            <a:off x="1168400" y="2517031"/>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Encaja con Scrum: HU definidas antes del sprint</a:t>
            </a:r>
            <a:endParaRPr lang="en-US" sz="1400" dirty="0"/>
          </a:p>
        </p:txBody>
      </p:sp>
      <p:sp>
        <p:nvSpPr>
          <p:cNvPr id="10" name="Shape 8"/>
          <p:cNvSpPr/>
          <p:nvPr/>
        </p:nvSpPr>
        <p:spPr>
          <a:xfrm>
            <a:off x="812800" y="2870696"/>
            <a:ext cx="6197600" cy="0"/>
          </a:xfrm>
          <a:prstGeom prst="line">
            <a:avLst/>
          </a:prstGeom>
          <a:noFill/>
          <a:ln w="6350">
            <a:solidFill>
              <a:srgbClr val="DDD8CC"/>
            </a:solidFill>
            <a:prstDash val="solid"/>
          </a:ln>
        </p:spPr>
      </p:sp>
      <p:sp>
        <p:nvSpPr>
          <p:cNvPr id="11" name="Text 9"/>
          <p:cNvSpPr/>
          <p:nvPr/>
        </p:nvSpPr>
        <p:spPr>
          <a:xfrm>
            <a:off x="812800" y="2975471"/>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3</a:t>
            </a:r>
            <a:endParaRPr lang="en-US" sz="1400" dirty="0"/>
          </a:p>
        </p:txBody>
      </p:sp>
      <p:sp>
        <p:nvSpPr>
          <p:cNvPr id="12" name="Text 10"/>
          <p:cNvSpPr/>
          <p:nvPr/>
        </p:nvSpPr>
        <p:spPr>
          <a:xfrm>
            <a:off x="1168400" y="2975471"/>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Funciona sobre el código existente, de forma incremental</a:t>
            </a:r>
            <a:endParaRPr lang="en-US" sz="1400" dirty="0"/>
          </a:p>
        </p:txBody>
      </p:sp>
      <p:sp>
        <p:nvSpPr>
          <p:cNvPr id="13" name="Shape 11"/>
          <p:cNvSpPr/>
          <p:nvPr/>
        </p:nvSpPr>
        <p:spPr>
          <a:xfrm>
            <a:off x="812800" y="3329136"/>
            <a:ext cx="6197600" cy="0"/>
          </a:xfrm>
          <a:prstGeom prst="line">
            <a:avLst/>
          </a:prstGeom>
          <a:noFill/>
          <a:ln w="6350">
            <a:solidFill>
              <a:srgbClr val="DDD8CC"/>
            </a:solidFill>
            <a:prstDash val="solid"/>
          </a:ln>
        </p:spPr>
      </p:sp>
      <p:sp>
        <p:nvSpPr>
          <p:cNvPr id="14" name="Text 12"/>
          <p:cNvSpPr/>
          <p:nvPr/>
        </p:nvSpPr>
        <p:spPr>
          <a:xfrm>
            <a:off x="812800" y="3433911"/>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4</a:t>
            </a:r>
            <a:endParaRPr lang="en-US" sz="1400" dirty="0"/>
          </a:p>
        </p:txBody>
      </p:sp>
      <p:sp>
        <p:nvSpPr>
          <p:cNvPr id="15" name="Text 13"/>
          <p:cNvSpPr/>
          <p:nvPr/>
        </p:nvSpPr>
        <p:spPr>
          <a:xfrm>
            <a:off x="1168400" y="3433911"/>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Deja trazabilidad versionada junto al código</a:t>
            </a:r>
            <a:endParaRPr lang="en-US" sz="1400" dirty="0"/>
          </a:p>
        </p:txBody>
      </p:sp>
      <p:sp>
        <p:nvSpPr>
          <p:cNvPr id="16" name="Shape 14"/>
          <p:cNvSpPr/>
          <p:nvPr/>
        </p:nvSpPr>
        <p:spPr>
          <a:xfrm>
            <a:off x="812800" y="3787577"/>
            <a:ext cx="6197600" cy="0"/>
          </a:xfrm>
          <a:prstGeom prst="line">
            <a:avLst/>
          </a:prstGeom>
          <a:noFill/>
          <a:ln w="6350">
            <a:solidFill>
              <a:srgbClr val="DDD8CC"/>
            </a:solidFill>
            <a:prstDash val="solid"/>
          </a:ln>
        </p:spPr>
      </p:sp>
      <p:sp>
        <p:nvSpPr>
          <p:cNvPr id="17" name="Text 15"/>
          <p:cNvSpPr/>
          <p:nvPr/>
        </p:nvSpPr>
        <p:spPr>
          <a:xfrm>
            <a:off x="812800" y="3892352"/>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5</a:t>
            </a:r>
            <a:endParaRPr lang="en-US" sz="1400" dirty="0"/>
          </a:p>
        </p:txBody>
      </p:sp>
      <p:sp>
        <p:nvSpPr>
          <p:cNvPr id="18" name="Text 16"/>
          <p:cNvSpPr/>
          <p:nvPr/>
        </p:nvSpPr>
        <p:spPr>
          <a:xfrm>
            <a:off x="1168400" y="3892352"/>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Controla el consumo de tokens</a:t>
            </a:r>
            <a:endParaRPr lang="en-US" sz="1400" dirty="0"/>
          </a:p>
        </p:txBody>
      </p:sp>
      <p:sp>
        <p:nvSpPr>
          <p:cNvPr id="19" name="Shape 17"/>
          <p:cNvSpPr/>
          <p:nvPr/>
        </p:nvSpPr>
        <p:spPr>
          <a:xfrm>
            <a:off x="812800" y="4246017"/>
            <a:ext cx="6197600" cy="0"/>
          </a:xfrm>
          <a:prstGeom prst="line">
            <a:avLst/>
          </a:prstGeom>
          <a:noFill/>
          <a:ln w="6350">
            <a:solidFill>
              <a:srgbClr val="DDD8CC"/>
            </a:solidFill>
            <a:prstDash val="solid"/>
          </a:ln>
        </p:spPr>
      </p:sp>
      <p:sp>
        <p:nvSpPr>
          <p:cNvPr id="20" name="Shape 18"/>
          <p:cNvSpPr/>
          <p:nvPr/>
        </p:nvSpPr>
        <p:spPr>
          <a:xfrm>
            <a:off x="812800" y="4704457"/>
            <a:ext cx="6197600" cy="0"/>
          </a:xfrm>
          <a:prstGeom prst="line">
            <a:avLst/>
          </a:prstGeom>
          <a:noFill/>
          <a:ln w="6350">
            <a:solidFill>
              <a:srgbClr val="DDD8CC"/>
            </a:solidFill>
            <a:prstDash val="solid"/>
          </a:ln>
        </p:spPr>
      </p:sp>
      <p:sp>
        <p:nvSpPr>
          <p:cNvPr id="21" name="Text 19"/>
          <p:cNvSpPr/>
          <p:nvPr/>
        </p:nvSpPr>
        <p:spPr>
          <a:xfrm>
            <a:off x="812800" y="4350792"/>
            <a:ext cx="254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5F8E"/>
                </a:solidFill>
                <a:latin typeface="Source Serif 4" pitchFamily="18" charset="0"/>
                <a:ea typeface="Source Serif 4" pitchFamily="18" charset="-122"/>
                <a:cs typeface="Source Serif 4" pitchFamily="18" charset="-120"/>
              </a:rPr>
              <a:t>6</a:t>
            </a:r>
            <a:endParaRPr lang="en-US" sz="1400" dirty="0"/>
          </a:p>
        </p:txBody>
      </p:sp>
      <p:sp>
        <p:nvSpPr>
          <p:cNvPr id="22" name="Text 20"/>
          <p:cNvSpPr/>
          <p:nvPr/>
        </p:nvSpPr>
        <p:spPr>
          <a:xfrm>
            <a:off x="1168400" y="4350792"/>
            <a:ext cx="601726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33A"/>
                </a:solidFill>
                <a:latin typeface="IBM Plex Sans" pitchFamily="34" charset="0"/>
                <a:ea typeface="IBM Plex Sans" pitchFamily="34" charset="-122"/>
                <a:cs typeface="IBM Plex Sans" pitchFamily="34" charset="-120"/>
              </a:rPr>
              <a:t>Minimiza la dependencia de terceros</a:t>
            </a:r>
            <a:endParaRPr lang="en-US" sz="1400" dirty="0"/>
          </a:p>
        </p:txBody>
      </p:sp>
      <p:sp>
        <p:nvSpPr>
          <p:cNvPr id="23" name="Shape 21"/>
          <p:cNvSpPr/>
          <p:nvPr/>
        </p:nvSpPr>
        <p:spPr>
          <a:xfrm>
            <a:off x="7318375" y="1953816"/>
            <a:ext cx="4057650" cy="2779713"/>
          </a:xfrm>
          <a:prstGeom prst="roundRect">
            <a:avLst>
              <a:gd name="adj" fmla="val 3541"/>
            </a:avLst>
          </a:prstGeom>
          <a:solidFill>
            <a:srgbClr val="FCFBF7"/>
          </a:solidFill>
          <a:ln w="6350">
            <a:solidFill>
              <a:srgbClr val="DDD8CC"/>
            </a:solidFill>
            <a:prstDash val="solid"/>
          </a:ln>
        </p:spPr>
      </p:sp>
      <p:sp>
        <p:nvSpPr>
          <p:cNvPr id="24" name="Text 22"/>
          <p:cNvSpPr/>
          <p:nvPr/>
        </p:nvSpPr>
        <p:spPr>
          <a:xfrm>
            <a:off x="7524750" y="2160191"/>
            <a:ext cx="375424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IBM Plex Sans" pitchFamily="34" charset="0"/>
                <a:ea typeface="IBM Plex Sans" pitchFamily="34" charset="-122"/>
                <a:cs typeface="IBM Plex Sans" pitchFamily="34" charset="-120"/>
              </a:rPr>
              <a:t>MODELO DE SDD ELEGIDO</a:t>
            </a:r>
            <a:endParaRPr lang="en-US" sz="1200" dirty="0"/>
          </a:p>
        </p:txBody>
      </p:sp>
      <p:sp>
        <p:nvSpPr>
          <p:cNvPr id="25" name="Text 23"/>
          <p:cNvSpPr/>
          <p:nvPr/>
        </p:nvSpPr>
        <p:spPr>
          <a:xfrm>
            <a:off x="7524750" y="2500511"/>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46B76"/>
                </a:solidFill>
                <a:latin typeface="IBM Plex Sans" pitchFamily="34" charset="0"/>
                <a:ea typeface="IBM Plex Sans" pitchFamily="34" charset="-122"/>
                <a:cs typeface="IBM Plex Sans" pitchFamily="34" charset="-120"/>
              </a:rPr>
              <a:t>Spec-first</a:t>
            </a:r>
            <a:endParaRPr lang="en-US" sz="1200" dirty="0"/>
          </a:p>
        </p:txBody>
      </p:sp>
      <p:sp>
        <p:nvSpPr>
          <p:cNvPr id="26" name="Text 24"/>
          <p:cNvSpPr/>
          <p:nvPr/>
        </p:nvSpPr>
        <p:spPr>
          <a:xfrm>
            <a:off x="7524750" y="2739231"/>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La spec se usa una vez y queda obsoleta.</a:t>
            </a:r>
            <a:endParaRPr lang="en-US" sz="1200" dirty="0"/>
          </a:p>
        </p:txBody>
      </p:sp>
      <p:sp>
        <p:nvSpPr>
          <p:cNvPr id="27" name="Shape 25"/>
          <p:cNvSpPr/>
          <p:nvPr/>
        </p:nvSpPr>
        <p:spPr>
          <a:xfrm>
            <a:off x="7524750" y="3079552"/>
            <a:ext cx="3644900" cy="868561"/>
          </a:xfrm>
          <a:prstGeom prst="roundRect">
            <a:avLst>
              <a:gd name="adj" fmla="val 8773"/>
            </a:avLst>
          </a:prstGeom>
          <a:solidFill>
            <a:srgbClr val="E6EEF6"/>
          </a:solidFill>
          <a:ln/>
        </p:spPr>
      </p:sp>
      <p:sp>
        <p:nvSpPr>
          <p:cNvPr id="28" name="Text 26"/>
          <p:cNvSpPr/>
          <p:nvPr/>
        </p:nvSpPr>
        <p:spPr>
          <a:xfrm>
            <a:off x="7651750" y="3181152"/>
            <a:ext cx="34926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8E"/>
                </a:solidFill>
                <a:latin typeface="IBM Plex Sans" pitchFamily="34" charset="0"/>
                <a:ea typeface="IBM Plex Sans" pitchFamily="34" charset="-122"/>
                <a:cs typeface="IBM Plex Sans" pitchFamily="34" charset="-120"/>
              </a:rPr>
              <a:t>Spec-anchored · elegido</a:t>
            </a:r>
            <a:endParaRPr lang="en-US" sz="1200" dirty="0"/>
          </a:p>
        </p:txBody>
      </p:sp>
      <p:sp>
        <p:nvSpPr>
          <p:cNvPr id="29" name="Text 27"/>
          <p:cNvSpPr/>
          <p:nvPr/>
        </p:nvSpPr>
        <p:spPr>
          <a:xfrm>
            <a:off x="7651750" y="3419872"/>
            <a:ext cx="34926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La spec se mantiene viva y guía cada cambio del código.</a:t>
            </a:r>
            <a:endParaRPr lang="en-US" sz="1200" dirty="0"/>
          </a:p>
        </p:txBody>
      </p:sp>
      <p:sp>
        <p:nvSpPr>
          <p:cNvPr id="30" name="Text 28"/>
          <p:cNvSpPr/>
          <p:nvPr/>
        </p:nvSpPr>
        <p:spPr>
          <a:xfrm>
            <a:off x="7524750" y="4075113"/>
            <a:ext cx="37542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46B76"/>
                </a:solidFill>
                <a:latin typeface="IBM Plex Sans" pitchFamily="34" charset="0"/>
                <a:ea typeface="IBM Plex Sans" pitchFamily="34" charset="-122"/>
                <a:cs typeface="IBM Plex Sans" pitchFamily="34" charset="-120"/>
              </a:rPr>
              <a:t>Spec-as-source</a:t>
            </a:r>
            <a:endParaRPr lang="en-US" sz="1200" dirty="0"/>
          </a:p>
        </p:txBody>
      </p:sp>
      <p:sp>
        <p:nvSpPr>
          <p:cNvPr id="31" name="Text 29"/>
          <p:cNvSpPr/>
          <p:nvPr/>
        </p:nvSpPr>
        <p:spPr>
          <a:xfrm>
            <a:off x="7524750" y="4313833"/>
            <a:ext cx="37542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Solo se edita la spec; el código se regenera.</a:t>
            </a:r>
            <a:endParaRPr lang="en-US" sz="1200" dirty="0"/>
          </a:p>
        </p:txBody>
      </p:sp>
      <p:sp>
        <p:nvSpPr>
          <p:cNvPr id="32" name="Text 30"/>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33"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IBM Plex Sans" pitchFamily="34" charset="0"/>
                <a:ea typeface="IBM Plex Sans" pitchFamily="34" charset="-122"/>
                <a:cs typeface="IBM Plex Sans" pitchFamily="34" charset="-120"/>
              </a:rPr>
              <a:t>ETAPA 2 · AGOSTO – OCTUBRE 2026</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SDD con OpenSpec: lo que construimos</a:t>
            </a:r>
            <a:endParaRPr lang="en-US" sz="3200" dirty="0"/>
          </a:p>
        </p:txBody>
      </p:sp>
      <p:sp>
        <p:nvSpPr>
          <p:cNvPr id="4" name="Shape 2"/>
          <p:cNvSpPr/>
          <p:nvPr/>
        </p:nvSpPr>
        <p:spPr>
          <a:xfrm>
            <a:off x="812800" y="1903016"/>
            <a:ext cx="10566400" cy="0"/>
          </a:xfrm>
          <a:prstGeom prst="line">
            <a:avLst/>
          </a:prstGeom>
          <a:noFill/>
          <a:ln w="6350">
            <a:solidFill>
              <a:srgbClr val="DDD8CC"/>
            </a:solidFill>
            <a:prstDash val="solid"/>
          </a:ln>
        </p:spPr>
      </p:sp>
      <p:sp>
        <p:nvSpPr>
          <p:cNvPr id="5" name="Text 3"/>
          <p:cNvSpPr/>
          <p:nvPr/>
        </p:nvSpPr>
        <p:spPr>
          <a:xfrm>
            <a:off x="812800" y="198239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18 ago</a:t>
            </a:r>
            <a:endParaRPr lang="en-US" sz="1200" dirty="0"/>
          </a:p>
        </p:txBody>
      </p:sp>
      <p:sp>
        <p:nvSpPr>
          <p:cNvPr id="6" name="Text 4"/>
          <p:cNvSpPr/>
          <p:nvPr/>
        </p:nvSpPr>
        <p:spPr>
          <a:xfrm>
            <a:off x="2032000" y="198239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Primer estándar del equipo y flujo de trabajo en Git</a:t>
            </a:r>
            <a:endParaRPr lang="en-US" sz="1200" dirty="0"/>
          </a:p>
        </p:txBody>
      </p:sp>
      <p:sp>
        <p:nvSpPr>
          <p:cNvPr id="7" name="Shape 5"/>
          <p:cNvSpPr/>
          <p:nvPr/>
        </p:nvSpPr>
        <p:spPr>
          <a:xfrm>
            <a:off x="812800" y="2275086"/>
            <a:ext cx="10566400" cy="0"/>
          </a:xfrm>
          <a:prstGeom prst="line">
            <a:avLst/>
          </a:prstGeom>
          <a:noFill/>
          <a:ln w="6350">
            <a:solidFill>
              <a:srgbClr val="DDD8CC"/>
            </a:solidFill>
            <a:prstDash val="solid"/>
          </a:ln>
        </p:spPr>
      </p:sp>
      <p:sp>
        <p:nvSpPr>
          <p:cNvPr id="8" name="Text 6"/>
          <p:cNvSpPr/>
          <p:nvPr/>
        </p:nvSpPr>
        <p:spPr>
          <a:xfrm>
            <a:off x="812800" y="235446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21 ago</a:t>
            </a:r>
            <a:endParaRPr lang="en-US" sz="1200" dirty="0"/>
          </a:p>
        </p:txBody>
      </p:sp>
      <p:sp>
        <p:nvSpPr>
          <p:cNvPr id="9" name="Text 7"/>
          <p:cNvSpPr/>
          <p:nvPr/>
        </p:nvSpPr>
        <p:spPr>
          <a:xfrm>
            <a:off x="2032000" y="235446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Diseño de controles automáticos (hooks), tomando ideas de gentle-ai sin adoptarlo</a:t>
            </a:r>
            <a:endParaRPr lang="en-US" sz="1200" dirty="0"/>
          </a:p>
        </p:txBody>
      </p:sp>
      <p:sp>
        <p:nvSpPr>
          <p:cNvPr id="10" name="Shape 8"/>
          <p:cNvSpPr/>
          <p:nvPr/>
        </p:nvSpPr>
        <p:spPr>
          <a:xfrm>
            <a:off x="812800" y="2647156"/>
            <a:ext cx="10566400" cy="0"/>
          </a:xfrm>
          <a:prstGeom prst="line">
            <a:avLst/>
          </a:prstGeom>
          <a:noFill/>
          <a:ln w="6350">
            <a:solidFill>
              <a:srgbClr val="DDD8CC"/>
            </a:solidFill>
            <a:prstDash val="solid"/>
          </a:ln>
        </p:spPr>
      </p:sp>
      <p:sp>
        <p:nvSpPr>
          <p:cNvPr id="11" name="Text 9"/>
          <p:cNvSpPr/>
          <p:nvPr/>
        </p:nvSpPr>
        <p:spPr>
          <a:xfrm>
            <a:off x="812800" y="272653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25 ago</a:t>
            </a:r>
            <a:endParaRPr lang="en-US" sz="1200" dirty="0"/>
          </a:p>
        </p:txBody>
      </p:sp>
      <p:sp>
        <p:nvSpPr>
          <p:cNvPr id="12" name="Text 10"/>
          <p:cNvSpPr/>
          <p:nvPr/>
        </p:nvSpPr>
        <p:spPr>
          <a:xfrm>
            <a:off x="2032000" y="2726531"/>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Decisiones persistidas en Git contra la pérdida de contexto; se descarta un orquestador propio que duplicaba OpenSpec</a:t>
            </a:r>
            <a:endParaRPr lang="en-US" sz="1200" dirty="0"/>
          </a:p>
        </p:txBody>
      </p:sp>
      <p:sp>
        <p:nvSpPr>
          <p:cNvPr id="13" name="Shape 11"/>
          <p:cNvSpPr/>
          <p:nvPr/>
        </p:nvSpPr>
        <p:spPr>
          <a:xfrm>
            <a:off x="812800" y="3019227"/>
            <a:ext cx="10566400" cy="0"/>
          </a:xfrm>
          <a:prstGeom prst="line">
            <a:avLst/>
          </a:prstGeom>
          <a:noFill/>
          <a:ln w="6350">
            <a:solidFill>
              <a:srgbClr val="DDD8CC"/>
            </a:solidFill>
            <a:prstDash val="solid"/>
          </a:ln>
        </p:spPr>
      </p:sp>
      <p:sp>
        <p:nvSpPr>
          <p:cNvPr id="14" name="Text 12"/>
          <p:cNvSpPr/>
          <p:nvPr/>
        </p:nvSpPr>
        <p:spPr>
          <a:xfrm>
            <a:off x="812800" y="309860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25–27 ago</a:t>
            </a:r>
            <a:endParaRPr lang="en-US" sz="1200" dirty="0"/>
          </a:p>
        </p:txBody>
      </p:sp>
      <p:sp>
        <p:nvSpPr>
          <p:cNvPr id="15" name="Text 13"/>
          <p:cNvSpPr/>
          <p:nvPr/>
        </p:nvSpPr>
        <p:spPr>
          <a:xfrm>
            <a:off x="2032000" y="309860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Agentes propios donde OpenSpec no llegaba: TDD estricto, verificación con evidencia, revisión de código y contratos</a:t>
            </a:r>
            <a:endParaRPr lang="en-US" sz="1200" dirty="0"/>
          </a:p>
        </p:txBody>
      </p:sp>
      <p:sp>
        <p:nvSpPr>
          <p:cNvPr id="16" name="Shape 14"/>
          <p:cNvSpPr/>
          <p:nvPr/>
        </p:nvSpPr>
        <p:spPr>
          <a:xfrm>
            <a:off x="812800" y="3391297"/>
            <a:ext cx="10566400" cy="0"/>
          </a:xfrm>
          <a:prstGeom prst="line">
            <a:avLst/>
          </a:prstGeom>
          <a:noFill/>
          <a:ln w="6350">
            <a:solidFill>
              <a:srgbClr val="DDD8CC"/>
            </a:solidFill>
            <a:prstDash val="solid"/>
          </a:ln>
        </p:spPr>
      </p:sp>
      <p:sp>
        <p:nvSpPr>
          <p:cNvPr id="17" name="Text 15"/>
          <p:cNvSpPr/>
          <p:nvPr/>
        </p:nvSpPr>
        <p:spPr>
          <a:xfrm>
            <a:off x="812800" y="347067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27 ago</a:t>
            </a:r>
            <a:endParaRPr lang="en-US" sz="1200" dirty="0"/>
          </a:p>
        </p:txBody>
      </p:sp>
      <p:sp>
        <p:nvSpPr>
          <p:cNvPr id="18" name="Text 16"/>
          <p:cNvSpPr/>
          <p:nvPr/>
        </p:nvSpPr>
        <p:spPr>
          <a:xfrm>
            <a:off x="2032000" y="347067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Contrato frontend–backend corregido; ramas y commits trazables por cambio</a:t>
            </a:r>
            <a:endParaRPr lang="en-US" sz="1200" dirty="0"/>
          </a:p>
        </p:txBody>
      </p:sp>
      <p:sp>
        <p:nvSpPr>
          <p:cNvPr id="19" name="Shape 17"/>
          <p:cNvSpPr/>
          <p:nvPr/>
        </p:nvSpPr>
        <p:spPr>
          <a:xfrm>
            <a:off x="812800" y="3763367"/>
            <a:ext cx="10566400" cy="0"/>
          </a:xfrm>
          <a:prstGeom prst="line">
            <a:avLst/>
          </a:prstGeom>
          <a:noFill/>
          <a:ln w="6350">
            <a:solidFill>
              <a:srgbClr val="DDD8CC"/>
            </a:solidFill>
            <a:prstDash val="solid"/>
          </a:ln>
        </p:spPr>
      </p:sp>
      <p:sp>
        <p:nvSpPr>
          <p:cNvPr id="20" name="Text 18"/>
          <p:cNvSpPr/>
          <p:nvPr/>
        </p:nvSpPr>
        <p:spPr>
          <a:xfrm>
            <a:off x="812800" y="3842742"/>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28–31 ago</a:t>
            </a:r>
            <a:endParaRPr lang="en-US" sz="1200" dirty="0"/>
          </a:p>
        </p:txBody>
      </p:sp>
      <p:sp>
        <p:nvSpPr>
          <p:cNvPr id="21" name="Text 19"/>
          <p:cNvSpPr/>
          <p:nvPr/>
        </p:nvSpPr>
        <p:spPr>
          <a:xfrm>
            <a:off x="2032000" y="3842742"/>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Estrategia Zero-CLI ante el bloqueo de Node.js en laptops corporativas</a:t>
            </a:r>
            <a:endParaRPr lang="en-US" sz="1200" dirty="0"/>
          </a:p>
        </p:txBody>
      </p:sp>
      <p:sp>
        <p:nvSpPr>
          <p:cNvPr id="22" name="Shape 20"/>
          <p:cNvSpPr/>
          <p:nvPr/>
        </p:nvSpPr>
        <p:spPr>
          <a:xfrm>
            <a:off x="812800" y="4135438"/>
            <a:ext cx="10566400" cy="0"/>
          </a:xfrm>
          <a:prstGeom prst="line">
            <a:avLst/>
          </a:prstGeom>
          <a:noFill/>
          <a:ln w="6350">
            <a:solidFill>
              <a:srgbClr val="DDD8CC"/>
            </a:solidFill>
            <a:prstDash val="solid"/>
          </a:ln>
        </p:spPr>
      </p:sp>
      <p:sp>
        <p:nvSpPr>
          <p:cNvPr id="23" name="Text 21"/>
          <p:cNvSpPr/>
          <p:nvPr/>
        </p:nvSpPr>
        <p:spPr>
          <a:xfrm>
            <a:off x="812800" y="421481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2 sep</a:t>
            </a:r>
            <a:endParaRPr lang="en-US" sz="1200" dirty="0"/>
          </a:p>
        </p:txBody>
      </p:sp>
      <p:sp>
        <p:nvSpPr>
          <p:cNvPr id="24" name="Text 22"/>
          <p:cNvSpPr/>
          <p:nvPr/>
        </p:nvSpPr>
        <p:spPr>
          <a:xfrm>
            <a:off x="2032000" y="421481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Directivas técnicas de Angular 20 para que la IA genere código consistente</a:t>
            </a:r>
            <a:endParaRPr lang="en-US" sz="1200" dirty="0"/>
          </a:p>
        </p:txBody>
      </p:sp>
      <p:sp>
        <p:nvSpPr>
          <p:cNvPr id="25" name="Shape 23"/>
          <p:cNvSpPr/>
          <p:nvPr/>
        </p:nvSpPr>
        <p:spPr>
          <a:xfrm>
            <a:off x="812800" y="4507508"/>
            <a:ext cx="10566400" cy="0"/>
          </a:xfrm>
          <a:prstGeom prst="line">
            <a:avLst/>
          </a:prstGeom>
          <a:noFill/>
          <a:ln w="6350">
            <a:solidFill>
              <a:srgbClr val="DDD8CC"/>
            </a:solidFill>
            <a:prstDash val="solid"/>
          </a:ln>
        </p:spPr>
      </p:sp>
      <p:sp>
        <p:nvSpPr>
          <p:cNvPr id="26" name="Text 24"/>
          <p:cNvSpPr/>
          <p:nvPr/>
        </p:nvSpPr>
        <p:spPr>
          <a:xfrm>
            <a:off x="812800" y="458688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4 sep</a:t>
            </a:r>
            <a:endParaRPr lang="en-US" sz="1200" dirty="0"/>
          </a:p>
        </p:txBody>
      </p:sp>
      <p:sp>
        <p:nvSpPr>
          <p:cNvPr id="27" name="Text 25"/>
          <p:cNvSpPr/>
          <p:nvPr/>
        </p:nvSpPr>
        <p:spPr>
          <a:xfrm>
            <a:off x="2032000" y="458688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Agente de arquitectura con herramientas de edición bloqueadas</a:t>
            </a:r>
            <a:endParaRPr lang="en-US" sz="1200" dirty="0"/>
          </a:p>
        </p:txBody>
      </p:sp>
      <p:sp>
        <p:nvSpPr>
          <p:cNvPr id="28" name="Shape 26"/>
          <p:cNvSpPr/>
          <p:nvPr/>
        </p:nvSpPr>
        <p:spPr>
          <a:xfrm>
            <a:off x="812800" y="4879578"/>
            <a:ext cx="10566400" cy="0"/>
          </a:xfrm>
          <a:prstGeom prst="line">
            <a:avLst/>
          </a:prstGeom>
          <a:noFill/>
          <a:ln w="6350">
            <a:solidFill>
              <a:srgbClr val="DDD8CC"/>
            </a:solidFill>
            <a:prstDash val="solid"/>
          </a:ln>
        </p:spPr>
      </p:sp>
      <p:sp>
        <p:nvSpPr>
          <p:cNvPr id="29" name="Shape 27"/>
          <p:cNvSpPr/>
          <p:nvPr/>
        </p:nvSpPr>
        <p:spPr>
          <a:xfrm>
            <a:off x="812800" y="5251648"/>
            <a:ext cx="10566400" cy="0"/>
          </a:xfrm>
          <a:prstGeom prst="line">
            <a:avLst/>
          </a:prstGeom>
          <a:noFill/>
          <a:ln w="6350">
            <a:solidFill>
              <a:srgbClr val="DDD8CC"/>
            </a:solidFill>
            <a:prstDash val="solid"/>
          </a:ln>
        </p:spPr>
      </p:sp>
      <p:sp>
        <p:nvSpPr>
          <p:cNvPr id="30" name="Text 28"/>
          <p:cNvSpPr/>
          <p:nvPr/>
        </p:nvSpPr>
        <p:spPr>
          <a:xfrm>
            <a:off x="812800" y="4958953"/>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B7D"/>
                </a:solidFill>
                <a:latin typeface="IBM Plex Sans" pitchFamily="34" charset="0"/>
                <a:ea typeface="IBM Plex Sans" pitchFamily="34" charset="-122"/>
                <a:cs typeface="IBM Plex Sans" pitchFamily="34" charset="-120"/>
              </a:rPr>
              <a:t>8 sep</a:t>
            </a:r>
            <a:endParaRPr lang="en-US" sz="1200" dirty="0"/>
          </a:p>
        </p:txBody>
      </p:sp>
      <p:sp>
        <p:nvSpPr>
          <p:cNvPr id="31" name="Text 29"/>
          <p:cNvSpPr/>
          <p:nvPr/>
        </p:nvSpPr>
        <p:spPr>
          <a:xfrm>
            <a:off x="2032000" y="4958953"/>
            <a:ext cx="9627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Retrospectiva oficial y bitácora de estrategia publicadas</a:t>
            </a:r>
            <a:endParaRPr lang="en-US" sz="1200" dirty="0"/>
          </a:p>
        </p:txBody>
      </p:sp>
      <p:sp>
        <p:nvSpPr>
          <p:cNvPr id="32" name="Text 30"/>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33"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IBM Plex Sans" pitchFamily="34" charset="0"/>
                <a:ea typeface="IBM Plex Sans" pitchFamily="34" charset="-122"/>
                <a:cs typeface="IBM Plex Sans" pitchFamily="34" charset="-120"/>
              </a:rPr>
              <a:t>ETAPA 2 · IMPACTO EN LA CÉLULA</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Qué cambió en la práctica</a:t>
            </a:r>
            <a:endParaRPr lang="en-US" sz="3200" dirty="0"/>
          </a:p>
        </p:txBody>
      </p:sp>
      <p:sp>
        <p:nvSpPr>
          <p:cNvPr id="4" name="Shape 2"/>
          <p:cNvSpPr/>
          <p:nvPr/>
        </p:nvSpPr>
        <p:spPr>
          <a:xfrm>
            <a:off x="815975" y="1953816"/>
            <a:ext cx="3414167" cy="1019721"/>
          </a:xfrm>
          <a:prstGeom prst="roundRect">
            <a:avLst>
              <a:gd name="adj" fmla="val 9652"/>
            </a:avLst>
          </a:prstGeom>
          <a:solidFill>
            <a:srgbClr val="FCFBF7"/>
          </a:solidFill>
          <a:ln w="6350">
            <a:solidFill>
              <a:srgbClr val="DDD8CC"/>
            </a:solidFill>
            <a:prstDash val="solid"/>
          </a:ln>
        </p:spPr>
      </p:sp>
      <p:sp>
        <p:nvSpPr>
          <p:cNvPr id="5" name="Text 3"/>
          <p:cNvSpPr/>
          <p:nvPr/>
        </p:nvSpPr>
        <p:spPr>
          <a:xfrm>
            <a:off x="996950" y="210939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Contrato antes del código</a:t>
            </a:r>
            <a:endParaRPr lang="en-US" sz="1400" dirty="0"/>
          </a:p>
        </p:txBody>
      </p:sp>
      <p:sp>
        <p:nvSpPr>
          <p:cNvPr id="6" name="Text 4"/>
          <p:cNvSpPr/>
          <p:nvPr/>
        </p:nvSpPr>
        <p:spPr>
          <a:xfrm>
            <a:off x="996950" y="239132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Cada cambio parte de una especificación versionada en Git.</a:t>
            </a:r>
            <a:endParaRPr lang="en-US" sz="1200" dirty="0"/>
          </a:p>
        </p:txBody>
      </p:sp>
      <p:sp>
        <p:nvSpPr>
          <p:cNvPr id="7" name="Shape 5"/>
          <p:cNvSpPr/>
          <p:nvPr/>
        </p:nvSpPr>
        <p:spPr>
          <a:xfrm>
            <a:off x="4388892" y="1953816"/>
            <a:ext cx="3414167" cy="1019721"/>
          </a:xfrm>
          <a:prstGeom prst="roundRect">
            <a:avLst>
              <a:gd name="adj" fmla="val 9652"/>
            </a:avLst>
          </a:prstGeom>
          <a:solidFill>
            <a:srgbClr val="FCFBF7"/>
          </a:solidFill>
          <a:ln w="6350">
            <a:solidFill>
              <a:srgbClr val="DDD8CC"/>
            </a:solidFill>
            <a:prstDash val="solid"/>
          </a:ln>
        </p:spPr>
      </p:sp>
      <p:sp>
        <p:nvSpPr>
          <p:cNvPr id="8" name="Text 6"/>
          <p:cNvSpPr/>
          <p:nvPr/>
        </p:nvSpPr>
        <p:spPr>
          <a:xfrm>
            <a:off x="4569867" y="210939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HU grandes, cambios pequeños</a:t>
            </a:r>
            <a:endParaRPr lang="en-US" sz="1400" dirty="0"/>
          </a:p>
        </p:txBody>
      </p:sp>
      <p:sp>
        <p:nvSpPr>
          <p:cNvPr id="9" name="Text 7"/>
          <p:cNvSpPr/>
          <p:nvPr/>
        </p:nvSpPr>
        <p:spPr>
          <a:xfrm>
            <a:off x="4569867" y="239132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La HU04-1 se dividió en 6 cambios verificables por separado.</a:t>
            </a:r>
            <a:endParaRPr lang="en-US" sz="1200" dirty="0"/>
          </a:p>
        </p:txBody>
      </p:sp>
      <p:sp>
        <p:nvSpPr>
          <p:cNvPr id="10" name="Shape 8"/>
          <p:cNvSpPr/>
          <p:nvPr/>
        </p:nvSpPr>
        <p:spPr>
          <a:xfrm>
            <a:off x="7961809" y="1953816"/>
            <a:ext cx="3414216" cy="1019721"/>
          </a:xfrm>
          <a:prstGeom prst="roundRect">
            <a:avLst>
              <a:gd name="adj" fmla="val 9652"/>
            </a:avLst>
          </a:prstGeom>
          <a:solidFill>
            <a:srgbClr val="FCFBF7"/>
          </a:solidFill>
          <a:ln w="6350">
            <a:solidFill>
              <a:srgbClr val="DDD8CC"/>
            </a:solidFill>
            <a:prstDash val="solid"/>
          </a:ln>
        </p:spPr>
      </p:sp>
      <p:sp>
        <p:nvSpPr>
          <p:cNvPr id="11" name="Text 9"/>
          <p:cNvSpPr/>
          <p:nvPr/>
        </p:nvSpPr>
        <p:spPr>
          <a:xfrm>
            <a:off x="8142784" y="210939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Frontend y backend alineados</a:t>
            </a:r>
            <a:endParaRPr lang="en-US" sz="1400" dirty="0"/>
          </a:p>
        </p:txBody>
      </p:sp>
      <p:sp>
        <p:nvSpPr>
          <p:cNvPr id="12" name="Text 10"/>
          <p:cNvSpPr/>
          <p:nvPr/>
        </p:nvSpPr>
        <p:spPr>
          <a:xfrm>
            <a:off x="8142784" y="239132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Se detectó y corrigió un contrato de respuesta mal documentado.</a:t>
            </a:r>
            <a:endParaRPr lang="en-US" sz="1200" dirty="0"/>
          </a:p>
        </p:txBody>
      </p:sp>
      <p:sp>
        <p:nvSpPr>
          <p:cNvPr id="13" name="Shape 11"/>
          <p:cNvSpPr/>
          <p:nvPr/>
        </p:nvSpPr>
        <p:spPr>
          <a:xfrm>
            <a:off x="815975" y="3132286"/>
            <a:ext cx="3414167" cy="1019721"/>
          </a:xfrm>
          <a:prstGeom prst="roundRect">
            <a:avLst>
              <a:gd name="adj" fmla="val 9652"/>
            </a:avLst>
          </a:prstGeom>
          <a:solidFill>
            <a:srgbClr val="FCFBF7"/>
          </a:solidFill>
          <a:ln w="6350">
            <a:solidFill>
              <a:srgbClr val="DDD8CC"/>
            </a:solidFill>
            <a:prstDash val="solid"/>
          </a:ln>
        </p:spPr>
      </p:sp>
      <p:sp>
        <p:nvSpPr>
          <p:cNvPr id="14" name="Text 12"/>
          <p:cNvSpPr/>
          <p:nvPr/>
        </p:nvSpPr>
        <p:spPr>
          <a:xfrm>
            <a:off x="996950" y="328786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Código Angular consistente</a:t>
            </a:r>
            <a:endParaRPr lang="en-US" sz="1400" dirty="0"/>
          </a:p>
        </p:txBody>
      </p:sp>
      <p:sp>
        <p:nvSpPr>
          <p:cNvPr id="15" name="Text 13"/>
          <p:cNvSpPr/>
          <p:nvPr/>
        </p:nvSpPr>
        <p:spPr>
          <a:xfrm>
            <a:off x="996950" y="356979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Directivas que evitan mezclar patrones antiguos y nuevos.</a:t>
            </a:r>
            <a:endParaRPr lang="en-US" sz="1200" dirty="0"/>
          </a:p>
        </p:txBody>
      </p:sp>
      <p:sp>
        <p:nvSpPr>
          <p:cNvPr id="16" name="Shape 14"/>
          <p:cNvSpPr/>
          <p:nvPr/>
        </p:nvSpPr>
        <p:spPr>
          <a:xfrm>
            <a:off x="4388892" y="3132286"/>
            <a:ext cx="3414167" cy="1019721"/>
          </a:xfrm>
          <a:prstGeom prst="roundRect">
            <a:avLst>
              <a:gd name="adj" fmla="val 9652"/>
            </a:avLst>
          </a:prstGeom>
          <a:solidFill>
            <a:srgbClr val="FCFBF7"/>
          </a:solidFill>
          <a:ln w="6350">
            <a:solidFill>
              <a:srgbClr val="DDD8CC"/>
            </a:solidFill>
            <a:prstDash val="solid"/>
          </a:ln>
        </p:spPr>
      </p:sp>
      <p:sp>
        <p:nvSpPr>
          <p:cNvPr id="17" name="Text 15"/>
          <p:cNvSpPr/>
          <p:nvPr/>
        </p:nvSpPr>
        <p:spPr>
          <a:xfrm>
            <a:off x="4569867" y="3287861"/>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TDD con evidencia</a:t>
            </a:r>
            <a:endParaRPr lang="en-US" sz="1400" dirty="0"/>
          </a:p>
        </p:txBody>
      </p:sp>
      <p:sp>
        <p:nvSpPr>
          <p:cNvPr id="18" name="Text 16"/>
          <p:cNvSpPr/>
          <p:nvPr/>
        </p:nvSpPr>
        <p:spPr>
          <a:xfrm>
            <a:off x="4569867" y="356979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Test en rojo antes del código y verificación con tests ejecutados.</a:t>
            </a:r>
            <a:endParaRPr lang="en-US" sz="1200" dirty="0"/>
          </a:p>
        </p:txBody>
      </p:sp>
      <p:sp>
        <p:nvSpPr>
          <p:cNvPr id="19" name="Shape 17"/>
          <p:cNvSpPr/>
          <p:nvPr/>
        </p:nvSpPr>
        <p:spPr>
          <a:xfrm>
            <a:off x="7961809" y="3132286"/>
            <a:ext cx="3414216" cy="1019721"/>
          </a:xfrm>
          <a:prstGeom prst="roundRect">
            <a:avLst>
              <a:gd name="adj" fmla="val 9652"/>
            </a:avLst>
          </a:prstGeom>
          <a:solidFill>
            <a:srgbClr val="FCFBF7"/>
          </a:solidFill>
          <a:ln w="6350">
            <a:solidFill>
              <a:srgbClr val="DDD8CC"/>
            </a:solidFill>
            <a:prstDash val="solid"/>
          </a:ln>
        </p:spPr>
      </p:sp>
      <p:sp>
        <p:nvSpPr>
          <p:cNvPr id="20" name="Text 18"/>
          <p:cNvSpPr/>
          <p:nvPr/>
        </p:nvSpPr>
        <p:spPr>
          <a:xfrm>
            <a:off x="8142784" y="3287861"/>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Trazabilidad en commits</a:t>
            </a:r>
            <a:endParaRPr lang="en-US" sz="1400" dirty="0"/>
          </a:p>
        </p:txBody>
      </p:sp>
      <p:sp>
        <p:nvSpPr>
          <p:cNvPr id="21" name="Text 19"/>
          <p:cNvSpPr/>
          <p:nvPr/>
        </p:nvSpPr>
        <p:spPr>
          <a:xfrm>
            <a:off x="8142784" y="356979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Cuatro momentos de commit, todos con referencia al cambio.</a:t>
            </a:r>
            <a:endParaRPr lang="en-US" sz="1200" dirty="0"/>
          </a:p>
        </p:txBody>
      </p:sp>
      <p:sp>
        <p:nvSpPr>
          <p:cNvPr id="22" name="Shape 20"/>
          <p:cNvSpPr/>
          <p:nvPr/>
        </p:nvSpPr>
        <p:spPr>
          <a:xfrm>
            <a:off x="825500" y="4510782"/>
            <a:ext cx="0" cy="863501"/>
          </a:xfrm>
          <a:prstGeom prst="line">
            <a:avLst/>
          </a:prstGeom>
          <a:noFill/>
          <a:ln w="25400">
            <a:solidFill>
              <a:srgbClr val="5B6B7D"/>
            </a:solidFill>
            <a:prstDash val="solid"/>
          </a:ln>
        </p:spPr>
      </p:sp>
      <p:sp>
        <p:nvSpPr>
          <p:cNvPr id="23" name="Text 21"/>
          <p:cNvSpPr/>
          <p:nvPr/>
        </p:nvSpPr>
        <p:spPr>
          <a:xfrm>
            <a:off x="1016000" y="4561582"/>
            <a:ext cx="10674096" cy="52318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233A"/>
                </a:solidFill>
                <a:latin typeface="Source Serif 4" pitchFamily="18" charset="0"/>
                <a:ea typeface="Source Serif 4" pitchFamily="18" charset="-122"/>
                <a:cs typeface="Source Serif 4" pitchFamily="18" charset="-120"/>
              </a:rPr>
              <a:t>«Se debe especificar al detalle para que Copilot entregue todo lo necesario, evitar iteraciones para no demorar el desarrollo y gasto de créditos.»</a:t>
            </a:r>
            <a:endParaRPr lang="en-US" sz="1400" dirty="0"/>
          </a:p>
        </p:txBody>
      </p:sp>
      <p:sp>
        <p:nvSpPr>
          <p:cNvPr id="24" name="Text 22"/>
          <p:cNvSpPr/>
          <p:nvPr/>
        </p:nvSpPr>
        <p:spPr>
          <a:xfrm>
            <a:off x="1016000" y="5110163"/>
            <a:ext cx="106740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Registro del equipo · agosto 2026</a:t>
            </a:r>
            <a:endParaRPr lang="en-US" sz="1200" dirty="0"/>
          </a:p>
        </p:txBody>
      </p:sp>
      <p:sp>
        <p:nvSpPr>
          <p:cNvPr id="25" name="Text 23"/>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26"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B7D"/>
                </a:solidFill>
                <a:latin typeface="IBM Plex Sans" pitchFamily="34" charset="0"/>
                <a:ea typeface="IBM Plex Sans" pitchFamily="34" charset="-122"/>
                <a:cs typeface="IBM Plex Sans" pitchFamily="34" charset="-120"/>
              </a:rPr>
              <a:t>ETAPA 2 · DATOS DE LA BITÁCORA DEL EQUIPO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Antes y después de adoptar SDD</a:t>
            </a:r>
            <a:endParaRPr lang="en-US" sz="3200" dirty="0"/>
          </a:p>
        </p:txBody>
      </p:sp>
      <p:sp>
        <p:nvSpPr>
          <p:cNvPr id="4" name="Shape 2"/>
          <p:cNvSpPr/>
          <p:nvPr/>
        </p:nvSpPr>
        <p:spPr>
          <a:xfrm>
            <a:off x="815975" y="1852216"/>
            <a:ext cx="5200650" cy="1108670"/>
          </a:xfrm>
          <a:prstGeom prst="roundRect">
            <a:avLst>
              <a:gd name="adj" fmla="val 8878"/>
            </a:avLst>
          </a:prstGeom>
          <a:solidFill>
            <a:srgbClr val="FCFBF7"/>
          </a:solidFill>
          <a:ln w="6350">
            <a:solidFill>
              <a:srgbClr val="DDD8CC"/>
            </a:solidFill>
            <a:prstDash val="solid"/>
          </a:ln>
        </p:spPr>
      </p:sp>
      <p:sp>
        <p:nvSpPr>
          <p:cNvPr id="5" name="Text 3"/>
          <p:cNvSpPr/>
          <p:nvPr/>
        </p:nvSpPr>
        <p:spPr>
          <a:xfrm>
            <a:off x="1047750" y="2033191"/>
            <a:ext cx="487921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46B76"/>
                </a:solidFill>
                <a:latin typeface="Source Serif 4" pitchFamily="18" charset="0"/>
                <a:ea typeface="Source Serif 4" pitchFamily="18" charset="-122"/>
                <a:cs typeface="Source Serif 4" pitchFamily="18" charset="-120"/>
              </a:rPr>
              <a:t>62 %</a:t>
            </a:r>
            <a:r>
              <a:rPr lang="en-US" sz="3200" b="1" dirty="0">
                <a:solidFill>
                  <a:srgbClr val="2B5F8E"/>
                </a:solidFill>
                <a:latin typeface="Source Serif 4" pitchFamily="18" charset="0"/>
                <a:ea typeface="Source Serif 4" pitchFamily="18" charset="-122"/>
                <a:cs typeface="Source Serif 4" pitchFamily="18" charset="-120"/>
              </a:rPr>
              <a:t> → 84 %</a:t>
            </a:r>
            <a:endParaRPr lang="en-US" sz="3200" dirty="0"/>
          </a:p>
        </p:txBody>
      </p:sp>
      <p:sp>
        <p:nvSpPr>
          <p:cNvPr id="6" name="Text 4"/>
          <p:cNvSpPr/>
          <p:nvPr/>
        </p:nvSpPr>
        <p:spPr>
          <a:xfrm>
            <a:off x="1047750" y="2531021"/>
            <a:ext cx="48792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Tareas con resultado exitoso</a:t>
            </a:r>
            <a:endParaRPr lang="en-US" sz="1400" dirty="0"/>
          </a:p>
        </p:txBody>
      </p:sp>
      <p:sp>
        <p:nvSpPr>
          <p:cNvPr id="7" name="Shape 5"/>
          <p:cNvSpPr/>
          <p:nvPr/>
        </p:nvSpPr>
        <p:spPr>
          <a:xfrm>
            <a:off x="6175375" y="1852216"/>
            <a:ext cx="5200650" cy="1108670"/>
          </a:xfrm>
          <a:prstGeom prst="roundRect">
            <a:avLst>
              <a:gd name="adj" fmla="val 8878"/>
            </a:avLst>
          </a:prstGeom>
          <a:solidFill>
            <a:srgbClr val="FCFBF7"/>
          </a:solidFill>
          <a:ln w="6350">
            <a:solidFill>
              <a:srgbClr val="DDD8CC"/>
            </a:solidFill>
            <a:prstDash val="solid"/>
          </a:ln>
        </p:spPr>
      </p:sp>
      <p:sp>
        <p:nvSpPr>
          <p:cNvPr id="8" name="Text 6"/>
          <p:cNvSpPr/>
          <p:nvPr/>
        </p:nvSpPr>
        <p:spPr>
          <a:xfrm>
            <a:off x="6407150" y="2033191"/>
            <a:ext cx="487921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46B76"/>
                </a:solidFill>
                <a:latin typeface="Source Serif 4" pitchFamily="18" charset="0"/>
                <a:ea typeface="Source Serif 4" pitchFamily="18" charset="-122"/>
                <a:cs typeface="Source Serif 4" pitchFamily="18" charset="-120"/>
              </a:rPr>
              <a:t>38 %</a:t>
            </a:r>
            <a:r>
              <a:rPr lang="en-US" sz="3200" b="1" dirty="0">
                <a:solidFill>
                  <a:srgbClr val="2B5F8E"/>
                </a:solidFill>
                <a:latin typeface="Source Serif 4" pitchFamily="18" charset="0"/>
                <a:ea typeface="Source Serif 4" pitchFamily="18" charset="-122"/>
                <a:cs typeface="Source Serif 4" pitchFamily="18" charset="-120"/>
              </a:rPr>
              <a:t> → 16 %</a:t>
            </a:r>
            <a:endParaRPr lang="en-US" sz="3200" dirty="0"/>
          </a:p>
        </p:txBody>
      </p:sp>
      <p:sp>
        <p:nvSpPr>
          <p:cNvPr id="9" name="Text 7"/>
          <p:cNvSpPr/>
          <p:nvPr/>
        </p:nvSpPr>
        <p:spPr>
          <a:xfrm>
            <a:off x="6407150" y="2531021"/>
            <a:ext cx="48792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Tareas con riesgo de calidad o precisión</a:t>
            </a:r>
            <a:endParaRPr lang="en-US" sz="1400" dirty="0"/>
          </a:p>
        </p:txBody>
      </p:sp>
      <p:sp>
        <p:nvSpPr>
          <p:cNvPr id="10" name="Shape 8"/>
          <p:cNvSpPr/>
          <p:nvPr/>
        </p:nvSpPr>
        <p:spPr>
          <a:xfrm>
            <a:off x="815975" y="3119636"/>
            <a:ext cx="5200650" cy="1108670"/>
          </a:xfrm>
          <a:prstGeom prst="roundRect">
            <a:avLst>
              <a:gd name="adj" fmla="val 8878"/>
            </a:avLst>
          </a:prstGeom>
          <a:solidFill>
            <a:srgbClr val="FCFBF7"/>
          </a:solidFill>
          <a:ln w="6350">
            <a:solidFill>
              <a:srgbClr val="DDD8CC"/>
            </a:solidFill>
            <a:prstDash val="solid"/>
          </a:ln>
        </p:spPr>
      </p:sp>
      <p:sp>
        <p:nvSpPr>
          <p:cNvPr id="11" name="Text 9"/>
          <p:cNvSpPr/>
          <p:nvPr/>
        </p:nvSpPr>
        <p:spPr>
          <a:xfrm>
            <a:off x="1047750" y="3300611"/>
            <a:ext cx="487921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46B76"/>
                </a:solidFill>
                <a:latin typeface="Source Serif 4" pitchFamily="18" charset="0"/>
                <a:ea typeface="Source Serif 4" pitchFamily="18" charset="-122"/>
                <a:cs typeface="Source Serif 4" pitchFamily="18" charset="-120"/>
              </a:rPr>
              <a:t>19 %</a:t>
            </a:r>
            <a:r>
              <a:rPr lang="en-US" sz="3200" b="1" dirty="0">
                <a:solidFill>
                  <a:srgbClr val="2B5F8E"/>
                </a:solidFill>
                <a:latin typeface="Source Serif 4" pitchFamily="18" charset="0"/>
                <a:ea typeface="Source Serif 4" pitchFamily="18" charset="-122"/>
                <a:cs typeface="Source Serif 4" pitchFamily="18" charset="-120"/>
              </a:rPr>
              <a:t> → 41 %</a:t>
            </a:r>
            <a:endParaRPr lang="en-US" sz="3200" dirty="0"/>
          </a:p>
        </p:txBody>
      </p:sp>
      <p:sp>
        <p:nvSpPr>
          <p:cNvPr id="12" name="Text 10"/>
          <p:cNvSpPr/>
          <p:nvPr/>
        </p:nvSpPr>
        <p:spPr>
          <a:xfrm>
            <a:off x="1047750" y="3798441"/>
            <a:ext cx="48792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Tareas que parten por análisis y especificación</a:t>
            </a:r>
            <a:endParaRPr lang="en-US" sz="1400" dirty="0"/>
          </a:p>
        </p:txBody>
      </p:sp>
      <p:sp>
        <p:nvSpPr>
          <p:cNvPr id="13" name="Shape 11"/>
          <p:cNvSpPr/>
          <p:nvPr/>
        </p:nvSpPr>
        <p:spPr>
          <a:xfrm>
            <a:off x="6175375" y="3119636"/>
            <a:ext cx="5200650" cy="1108670"/>
          </a:xfrm>
          <a:prstGeom prst="roundRect">
            <a:avLst>
              <a:gd name="adj" fmla="val 8878"/>
            </a:avLst>
          </a:prstGeom>
          <a:solidFill>
            <a:srgbClr val="FCFBF7"/>
          </a:solidFill>
          <a:ln w="6350">
            <a:solidFill>
              <a:srgbClr val="DDD8CC"/>
            </a:solidFill>
            <a:prstDash val="solid"/>
          </a:ln>
        </p:spPr>
      </p:sp>
      <p:sp>
        <p:nvSpPr>
          <p:cNvPr id="14" name="Text 12"/>
          <p:cNvSpPr/>
          <p:nvPr/>
        </p:nvSpPr>
        <p:spPr>
          <a:xfrm>
            <a:off x="6407150" y="3300611"/>
            <a:ext cx="4879213"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646B76"/>
                </a:solidFill>
                <a:latin typeface="Source Serif 4" pitchFamily="18" charset="0"/>
                <a:ea typeface="Source Serif 4" pitchFamily="18" charset="-122"/>
                <a:cs typeface="Source Serif 4" pitchFamily="18" charset="-120"/>
              </a:rPr>
              <a:t>4,4</a:t>
            </a:r>
            <a:r>
              <a:rPr lang="en-US" sz="3200" b="1" dirty="0">
                <a:solidFill>
                  <a:srgbClr val="2B5F8E"/>
                </a:solidFill>
                <a:latin typeface="Source Serif 4" pitchFamily="18" charset="0"/>
                <a:ea typeface="Source Serif 4" pitchFamily="18" charset="-122"/>
                <a:cs typeface="Source Serif 4" pitchFamily="18" charset="-120"/>
              </a:rPr>
              <a:t> → 4,7</a:t>
            </a:r>
            <a:endParaRPr lang="en-US" sz="3200" dirty="0"/>
          </a:p>
        </p:txBody>
      </p:sp>
      <p:sp>
        <p:nvSpPr>
          <p:cNvPr id="15" name="Text 13"/>
          <p:cNvSpPr/>
          <p:nvPr/>
        </p:nvSpPr>
        <p:spPr>
          <a:xfrm>
            <a:off x="6407150" y="3798441"/>
            <a:ext cx="487921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Confianza media en el resultado (escala de 1 a 5)</a:t>
            </a:r>
            <a:endParaRPr lang="en-US" sz="1400" dirty="0"/>
          </a:p>
        </p:txBody>
      </p:sp>
      <p:sp>
        <p:nvSpPr>
          <p:cNvPr id="16" name="Text 14"/>
          <p:cNvSpPr/>
          <p:nvPr/>
        </p:nvSpPr>
        <p:spPr>
          <a:xfrm>
            <a:off x="812800" y="448548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84 usos registrados por 6 personas (abril a octubre de 2026): ≈ 189 h invertidas y ≈ 365 h de ahorro estimado.</a:t>
            </a:r>
            <a:endParaRPr lang="en-US" sz="1400" dirty="0"/>
          </a:p>
        </p:txBody>
      </p:sp>
      <p:sp>
        <p:nvSpPr>
          <p:cNvPr id="17" name="Text 15"/>
          <p:cNvSpPr/>
          <p:nvPr/>
        </p:nvSpPr>
        <p:spPr>
          <a:xfrm>
            <a:off x="812800" y="4988371"/>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Fuente: bitácora de adopción de IA del equipo. Tareas de desarrollo y análisis; antes: mayo al 21 de agosto (16 tareas); después: 26 de agosto al 15 de octubre (37 tareas). Datos autoinformados y muestra pequeña: indicador preliminar.</a:t>
            </a:r>
            <a:endParaRPr lang="en-US" sz="1200" dirty="0"/>
          </a:p>
        </p:txBody>
      </p:sp>
      <p:sp>
        <p:nvSpPr>
          <p:cNvPr id="18" name="Text 16"/>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19" name="Text 17"/>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IBM Plex Sans" pitchFamily="34" charset="0"/>
                <a:ea typeface="IBM Plex Sans" pitchFamily="34" charset="-122"/>
                <a:cs typeface="IBM Plex Sans" pitchFamily="34" charset="-120"/>
              </a:rPr>
              <a:t>DIFICULTADES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Lo que costó y cómo lo resolvimos</a:t>
            </a:r>
            <a:endParaRPr lang="en-US" sz="3200" dirty="0"/>
          </a:p>
        </p:txBody>
      </p:sp>
      <p:sp>
        <p:nvSpPr>
          <p:cNvPr id="4" name="Shape 2"/>
          <p:cNvSpPr/>
          <p:nvPr/>
        </p:nvSpPr>
        <p:spPr>
          <a:xfrm>
            <a:off x="815975" y="1903016"/>
            <a:ext cx="3414167" cy="3216473"/>
          </a:xfrm>
          <a:prstGeom prst="roundRect">
            <a:avLst>
              <a:gd name="adj" fmla="val 3060"/>
            </a:avLst>
          </a:prstGeom>
          <a:solidFill>
            <a:srgbClr val="FCFBF7"/>
          </a:solidFill>
          <a:ln w="6350">
            <a:solidFill>
              <a:srgbClr val="DDD8CC"/>
            </a:solidFill>
            <a:prstDash val="solid"/>
          </a:ln>
        </p:spPr>
      </p:sp>
      <p:sp>
        <p:nvSpPr>
          <p:cNvPr id="5" name="Text 3"/>
          <p:cNvSpPr/>
          <p:nvPr/>
        </p:nvSpPr>
        <p:spPr>
          <a:xfrm>
            <a:off x="996950" y="20839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IBM Plex Sans" pitchFamily="34" charset="0"/>
                <a:ea typeface="IBM Plex Sans" pitchFamily="34" charset="-122"/>
                <a:cs typeface="IBM Plex Sans" pitchFamily="34" charset="-120"/>
              </a:rPr>
              <a:t>PERSONAS Y PROCESO</a:t>
            </a:r>
            <a:endParaRPr lang="en-US" sz="1200" dirty="0"/>
          </a:p>
        </p:txBody>
      </p:sp>
      <p:sp>
        <p:nvSpPr>
          <p:cNvPr id="6" name="Text 4"/>
          <p:cNvSpPr/>
          <p:nvPr/>
        </p:nvSpPr>
        <p:spPr>
          <a:xfrm>
            <a:off x="996950" y="2398911"/>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Resistencia inicial a un flujo formal</a:t>
            </a:r>
            <a:endParaRPr lang="en-US" sz="1200" dirty="0"/>
          </a:p>
        </p:txBody>
      </p:sp>
      <p:sp>
        <p:nvSpPr>
          <p:cNvPr id="7" name="Text 5"/>
          <p:cNvSpPr/>
          <p:nvPr/>
        </p:nvSpPr>
        <p:spPr>
          <a:xfrm>
            <a:off x="996950" y="2637631"/>
            <a:ext cx="32300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Adopción incremental, con HU medianas</a:t>
            </a:r>
            <a:endParaRPr lang="en-US" sz="1200" dirty="0"/>
          </a:p>
        </p:txBody>
      </p:sp>
      <p:sp>
        <p:nvSpPr>
          <p:cNvPr id="8" name="Text 6"/>
          <p:cNvSpPr/>
          <p:nvPr/>
        </p:nvSpPr>
        <p:spPr>
          <a:xfrm>
            <a:off x="996950" y="2952552"/>
            <a:ext cx="314378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Confusión entre comandos de chat y de terminal</a:t>
            </a:r>
            <a:endParaRPr lang="en-US" sz="1200" dirty="0"/>
          </a:p>
        </p:txBody>
      </p:sp>
      <p:sp>
        <p:nvSpPr>
          <p:cNvPr id="9" name="Text 7"/>
          <p:cNvSpPr/>
          <p:nvPr/>
        </p:nvSpPr>
        <p:spPr>
          <a:xfrm>
            <a:off x="996950" y="3404592"/>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Guía de onboarding del equipo</a:t>
            </a:r>
            <a:endParaRPr lang="en-US" sz="1200" dirty="0"/>
          </a:p>
        </p:txBody>
      </p:sp>
      <p:sp>
        <p:nvSpPr>
          <p:cNvPr id="10" name="Text 8"/>
          <p:cNvSpPr/>
          <p:nvPr/>
        </p:nvSpPr>
        <p:spPr>
          <a:xfrm>
            <a:off x="996950" y="3719512"/>
            <a:ext cx="314378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Especificaciones generadas demasiado vagas</a:t>
            </a:r>
            <a:endParaRPr lang="en-US" sz="1200" dirty="0"/>
          </a:p>
        </p:txBody>
      </p:sp>
      <p:sp>
        <p:nvSpPr>
          <p:cNvPr id="11" name="Text 9"/>
          <p:cNvSpPr/>
          <p:nvPr/>
        </p:nvSpPr>
        <p:spPr>
          <a:xfrm>
            <a:off x="996950" y="4171553"/>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Revisión humana de cada artefacto</a:t>
            </a:r>
            <a:endParaRPr lang="en-US" sz="1200" dirty="0"/>
          </a:p>
        </p:txBody>
      </p:sp>
      <p:sp>
        <p:nvSpPr>
          <p:cNvPr id="12" name="Shape 10"/>
          <p:cNvSpPr/>
          <p:nvPr/>
        </p:nvSpPr>
        <p:spPr>
          <a:xfrm>
            <a:off x="4388892" y="1903016"/>
            <a:ext cx="3414216" cy="3216473"/>
          </a:xfrm>
          <a:prstGeom prst="roundRect">
            <a:avLst>
              <a:gd name="adj" fmla="val 3060"/>
            </a:avLst>
          </a:prstGeom>
          <a:solidFill>
            <a:srgbClr val="FCFBF7"/>
          </a:solidFill>
          <a:ln w="6350">
            <a:solidFill>
              <a:srgbClr val="DDD8CC"/>
            </a:solidFill>
            <a:prstDash val="solid"/>
          </a:ln>
        </p:spPr>
      </p:sp>
      <p:sp>
        <p:nvSpPr>
          <p:cNvPr id="13" name="Text 11"/>
          <p:cNvSpPr/>
          <p:nvPr/>
        </p:nvSpPr>
        <p:spPr>
          <a:xfrm>
            <a:off x="4569867" y="2083991"/>
            <a:ext cx="31438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IBM Plex Sans" pitchFamily="34" charset="0"/>
                <a:ea typeface="IBM Plex Sans" pitchFamily="34" charset="-122"/>
                <a:cs typeface="IBM Plex Sans" pitchFamily="34" charset="-120"/>
              </a:rPr>
              <a:t>ENTORNO Y HERRAMIENTAS</a:t>
            </a:r>
            <a:endParaRPr lang="en-US" sz="1200" dirty="0"/>
          </a:p>
        </p:txBody>
      </p:sp>
      <p:sp>
        <p:nvSpPr>
          <p:cNvPr id="14" name="Text 12"/>
          <p:cNvSpPr/>
          <p:nvPr/>
        </p:nvSpPr>
        <p:spPr>
          <a:xfrm>
            <a:off x="4569867" y="2398911"/>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Node.js antiguo y bloqueado en laptops</a:t>
            </a:r>
            <a:endParaRPr lang="en-US" sz="1200" dirty="0"/>
          </a:p>
        </p:txBody>
      </p:sp>
      <p:sp>
        <p:nvSpPr>
          <p:cNvPr id="15" name="Text 13"/>
          <p:cNvSpPr/>
          <p:nvPr/>
        </p:nvSpPr>
        <p:spPr>
          <a:xfrm>
            <a:off x="4569867" y="263763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Estrategia Zero-CLI</a:t>
            </a:r>
            <a:endParaRPr lang="en-US" sz="1200" dirty="0"/>
          </a:p>
        </p:txBody>
      </p:sp>
      <p:sp>
        <p:nvSpPr>
          <p:cNvPr id="16" name="Text 14"/>
          <p:cNvSpPr/>
          <p:nvPr/>
        </p:nvSpPr>
        <p:spPr>
          <a:xfrm>
            <a:off x="4569867" y="2952552"/>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Sesiones que agotan la cuota de tokens</a:t>
            </a:r>
            <a:endParaRPr lang="en-US" sz="1200" dirty="0"/>
          </a:p>
        </p:txBody>
      </p:sp>
      <p:sp>
        <p:nvSpPr>
          <p:cNvPr id="17" name="Text 15"/>
          <p:cNvSpPr/>
          <p:nvPr/>
        </p:nvSpPr>
        <p:spPr>
          <a:xfrm>
            <a:off x="4569867" y="3191272"/>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Sesiones acotadas, una por tarea</a:t>
            </a:r>
            <a:endParaRPr lang="en-US" sz="1200" dirty="0"/>
          </a:p>
        </p:txBody>
      </p:sp>
      <p:sp>
        <p:nvSpPr>
          <p:cNvPr id="18" name="Text 16"/>
          <p:cNvSpPr/>
          <p:nvPr/>
        </p:nvSpPr>
        <p:spPr>
          <a:xfrm>
            <a:off x="4569867" y="3506192"/>
            <a:ext cx="314383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Políticas de seguridad que bloquean cuentas al correr tests</a:t>
            </a:r>
            <a:endParaRPr lang="en-US" sz="1200" dirty="0"/>
          </a:p>
        </p:txBody>
      </p:sp>
      <p:sp>
        <p:nvSpPr>
          <p:cNvPr id="19" name="Text 17"/>
          <p:cNvSpPr/>
          <p:nvPr/>
        </p:nvSpPr>
        <p:spPr>
          <a:xfrm>
            <a:off x="4569867" y="3958233"/>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IBM Plex Sans" pitchFamily="34" charset="0"/>
                <a:ea typeface="IBM Plex Sans" pitchFamily="34" charset="-122"/>
                <a:cs typeface="IBM Plex Sans" pitchFamily="34" charset="-120"/>
              </a:rPr>
              <a:t>→ Abierto: en análisis</a:t>
            </a:r>
            <a:endParaRPr lang="en-US" sz="1200" dirty="0"/>
          </a:p>
        </p:txBody>
      </p:sp>
      <p:sp>
        <p:nvSpPr>
          <p:cNvPr id="20" name="Text 18"/>
          <p:cNvSpPr/>
          <p:nvPr/>
        </p:nvSpPr>
        <p:spPr>
          <a:xfrm>
            <a:off x="4569867" y="4273153"/>
            <a:ext cx="31438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Prohibición de usar OpenSpec</a:t>
            </a:r>
            <a:endParaRPr lang="en-US" sz="1200" dirty="0"/>
          </a:p>
        </p:txBody>
      </p:sp>
      <p:sp>
        <p:nvSpPr>
          <p:cNvPr id="21" name="Text 19"/>
          <p:cNvSpPr/>
          <p:nvPr/>
        </p:nvSpPr>
        <p:spPr>
          <a:xfrm>
            <a:off x="4569867" y="4511873"/>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Estándar propio (etapa 3)</a:t>
            </a:r>
            <a:endParaRPr lang="en-US" sz="1200" dirty="0"/>
          </a:p>
        </p:txBody>
      </p:sp>
      <p:sp>
        <p:nvSpPr>
          <p:cNvPr id="22" name="Shape 20"/>
          <p:cNvSpPr/>
          <p:nvPr/>
        </p:nvSpPr>
        <p:spPr>
          <a:xfrm>
            <a:off x="7961858" y="1903016"/>
            <a:ext cx="3414167" cy="3216473"/>
          </a:xfrm>
          <a:prstGeom prst="roundRect">
            <a:avLst>
              <a:gd name="adj" fmla="val 3060"/>
            </a:avLst>
          </a:prstGeom>
          <a:solidFill>
            <a:srgbClr val="FCFBF7"/>
          </a:solidFill>
          <a:ln w="6350">
            <a:solidFill>
              <a:srgbClr val="DDD8CC"/>
            </a:solidFill>
            <a:prstDash val="solid"/>
          </a:ln>
        </p:spPr>
      </p:sp>
      <p:sp>
        <p:nvSpPr>
          <p:cNvPr id="23" name="Text 21"/>
          <p:cNvSpPr/>
          <p:nvPr/>
        </p:nvSpPr>
        <p:spPr>
          <a:xfrm>
            <a:off x="8142833" y="2083991"/>
            <a:ext cx="3143783"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46B76"/>
                </a:solidFill>
                <a:latin typeface="IBM Plex Sans" pitchFamily="34" charset="0"/>
                <a:ea typeface="IBM Plex Sans" pitchFamily="34" charset="-122"/>
                <a:cs typeface="IBM Plex Sans" pitchFamily="34" charset="-120"/>
              </a:rPr>
              <a:t>CALIDAD DEL RESULTADO</a:t>
            </a:r>
            <a:endParaRPr lang="en-US" sz="1200" dirty="0"/>
          </a:p>
        </p:txBody>
      </p:sp>
      <p:sp>
        <p:nvSpPr>
          <p:cNvPr id="24" name="Text 22"/>
          <p:cNvSpPr/>
          <p:nvPr/>
        </p:nvSpPr>
        <p:spPr>
          <a:xfrm>
            <a:off x="8142833" y="2398911"/>
            <a:ext cx="3143783"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Instrucciones en texto: ~80 % de cumplimiento</a:t>
            </a:r>
            <a:endParaRPr lang="en-US" sz="1200" dirty="0"/>
          </a:p>
        </p:txBody>
      </p:sp>
      <p:sp>
        <p:nvSpPr>
          <p:cNvPr id="25" name="Text 23"/>
          <p:cNvSpPr/>
          <p:nvPr/>
        </p:nvSpPr>
        <p:spPr>
          <a:xfrm>
            <a:off x="8142833" y="2850952"/>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Controles automáticos (hooks)</a:t>
            </a:r>
            <a:endParaRPr lang="en-US" sz="1200" dirty="0"/>
          </a:p>
        </p:txBody>
      </p:sp>
      <p:sp>
        <p:nvSpPr>
          <p:cNvPr id="26" name="Text 24"/>
          <p:cNvSpPr/>
          <p:nvPr/>
        </p:nvSpPr>
        <p:spPr>
          <a:xfrm>
            <a:off x="8142833" y="3165872"/>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Pérdida de contexto en sesiones largas</a:t>
            </a:r>
            <a:endParaRPr lang="en-US" sz="1200" dirty="0"/>
          </a:p>
        </p:txBody>
      </p:sp>
      <p:sp>
        <p:nvSpPr>
          <p:cNvPr id="27" name="Text 25"/>
          <p:cNvSpPr/>
          <p:nvPr/>
        </p:nvSpPr>
        <p:spPr>
          <a:xfrm>
            <a:off x="8142833" y="3404592"/>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Decisiones persistidas en Git</a:t>
            </a:r>
            <a:endParaRPr lang="en-US" sz="1200" dirty="0"/>
          </a:p>
        </p:txBody>
      </p:sp>
      <p:sp>
        <p:nvSpPr>
          <p:cNvPr id="28" name="Text 26"/>
          <p:cNvSpPr/>
          <p:nvPr/>
        </p:nvSpPr>
        <p:spPr>
          <a:xfrm>
            <a:off x="8142833" y="3719512"/>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La IA asume datos sin evidencia</a:t>
            </a:r>
            <a:endParaRPr lang="en-US" sz="1200" dirty="0"/>
          </a:p>
        </p:txBody>
      </p:sp>
      <p:sp>
        <p:nvSpPr>
          <p:cNvPr id="29" name="Text 27"/>
          <p:cNvSpPr/>
          <p:nvPr/>
        </p:nvSpPr>
        <p:spPr>
          <a:xfrm>
            <a:off x="8142833" y="3958233"/>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5F8E"/>
                </a:solidFill>
                <a:latin typeface="IBM Plex Sans" pitchFamily="34" charset="0"/>
                <a:ea typeface="IBM Plex Sans" pitchFamily="34" charset="-122"/>
                <a:cs typeface="IBM Plex Sans" pitchFamily="34" charset="-120"/>
              </a:rPr>
              <a:t>→ Protocolo de preguntas y revisión humana</a:t>
            </a:r>
            <a:endParaRPr lang="en-US" sz="1200" dirty="0"/>
          </a:p>
        </p:txBody>
      </p:sp>
      <p:sp>
        <p:nvSpPr>
          <p:cNvPr id="30" name="Text 28"/>
          <p:cNvSpPr/>
          <p:nvPr/>
        </p:nvSpPr>
        <p:spPr>
          <a:xfrm>
            <a:off x="8142833" y="4486473"/>
            <a:ext cx="31437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33A"/>
                </a:solidFill>
                <a:latin typeface="IBM Plex Sans" pitchFamily="34" charset="0"/>
                <a:ea typeface="IBM Plex Sans" pitchFamily="34" charset="-122"/>
                <a:cs typeface="IBM Plex Sans" pitchFamily="34" charset="-120"/>
              </a:rPr>
              <a:t>Estilos de interfaz difíciles de lograr</a:t>
            </a:r>
            <a:endParaRPr lang="en-US" sz="1200" dirty="0"/>
          </a:p>
        </p:txBody>
      </p:sp>
      <p:sp>
        <p:nvSpPr>
          <p:cNvPr id="31" name="Text 29"/>
          <p:cNvSpPr/>
          <p:nvPr/>
        </p:nvSpPr>
        <p:spPr>
          <a:xfrm>
            <a:off x="8142833" y="4725194"/>
            <a:ext cx="3143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5A12"/>
                </a:solidFill>
                <a:latin typeface="IBM Plex Sans" pitchFamily="34" charset="0"/>
                <a:ea typeface="IBM Plex Sans" pitchFamily="34" charset="-122"/>
                <a:cs typeface="IBM Plex Sans" pitchFamily="34" charset="-120"/>
              </a:rPr>
              <a:t>→ Propuesta: conectar con los diseños</a:t>
            </a:r>
            <a:endParaRPr lang="en-US" sz="1200" dirty="0"/>
          </a:p>
        </p:txBody>
      </p:sp>
      <p:sp>
        <p:nvSpPr>
          <p:cNvPr id="32" name="Text 30"/>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33"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527D"/>
        </a:solidFill>
      </p:bgPr>
    </p:bg>
    <p:spTree>
      <p:nvGrpSpPr>
        <p:cNvPr id="1" name=""/>
        <p:cNvGrpSpPr/>
        <p:nvPr/>
      </p:nvGrpSpPr>
      <p:grpSpPr>
        <a:xfrm>
          <a:off x="0" y="0"/>
          <a:ext cx="0" cy="0"/>
          <a:chOff x="0" y="0"/>
          <a:chExt cx="0" cy="0"/>
        </a:xfrm>
      </p:grpSpPr>
      <p:sp>
        <p:nvSpPr>
          <p:cNvPr id="2" name="Text 0"/>
          <p:cNvSpPr/>
          <p:nvPr/>
        </p:nvSpPr>
        <p:spPr>
          <a:xfrm>
            <a:off x="812800" y="1696889"/>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D6E2EE"/>
                </a:solidFill>
                <a:latin typeface="IBM Plex Sans" pitchFamily="34" charset="0"/>
                <a:ea typeface="IBM Plex Sans" pitchFamily="34" charset="-122"/>
                <a:cs typeface="IBM Plex Sans" pitchFamily="34" charset="-120"/>
              </a:rPr>
              <a:t>LA LECCIÓN DE LA ETAPA 2</a:t>
            </a:r>
            <a:endParaRPr lang="en-US" sz="1400" dirty="0"/>
          </a:p>
        </p:txBody>
      </p:sp>
      <p:sp>
        <p:nvSpPr>
          <p:cNvPr id="3" name="Text 1"/>
          <p:cNvSpPr/>
          <p:nvPr>
            <p:ph type="title"/>
          </p:nvPr>
        </p:nvSpPr>
        <p:spPr>
          <a:xfrm>
            <a:off x="812800" y="2250579"/>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Source Serif 4" pitchFamily="18" charset="0"/>
                <a:ea typeface="Source Serif 4" pitchFamily="18" charset="-122"/>
                <a:cs typeface="Source Serif 4" pitchFamily="18" charset="-120"/>
              </a:rPr>
              <a:t>El método importa más que la herramienta</a:t>
            </a:r>
            <a:endParaRPr lang="en-US" sz="4800" dirty="0"/>
          </a:p>
        </p:txBody>
      </p:sp>
      <p:sp>
        <p:nvSpPr>
          <p:cNvPr id="4" name="Shape 2"/>
          <p:cNvSpPr/>
          <p:nvPr/>
        </p:nvSpPr>
        <p:spPr>
          <a:xfrm>
            <a:off x="825500" y="3872111"/>
            <a:ext cx="0" cy="735261"/>
          </a:xfrm>
          <a:prstGeom prst="line">
            <a:avLst/>
          </a:prstGeom>
          <a:noFill/>
          <a:ln w="25400">
            <a:solidFill>
              <a:srgbClr val="D9A55A"/>
            </a:solidFill>
            <a:prstDash val="solid"/>
          </a:ln>
        </p:spPr>
      </p:sp>
      <p:sp>
        <p:nvSpPr>
          <p:cNvPr id="5" name="Text 3"/>
          <p:cNvSpPr/>
          <p:nvPr/>
        </p:nvSpPr>
        <p:spPr>
          <a:xfrm>
            <a:off x="1041400" y="3922911"/>
            <a:ext cx="10647934" cy="333970"/>
          </a:xfrm>
          <a:prstGeom prst="rect">
            <a:avLst/>
          </a:prstGeom>
          <a:noFill/>
          <a:ln/>
        </p:spPr>
        <p:txBody>
          <a:bodyPr wrap="square" lIns="0" tIns="0" rIns="0" bIns="0" rtlCol="0" anchor="t">
            <a:normAutofit/>
          </a:bodyPr>
          <a:lstStyle/>
          <a:p>
            <a:pPr algn="l" indent="0" marL="0">
              <a:lnSpc>
                <a:spcPts val="2430"/>
              </a:lnSpc>
              <a:buNone/>
            </a:pPr>
            <a:r>
              <a:rPr lang="en-US" sz="1800" i="1" dirty="0">
                <a:solidFill>
                  <a:srgbClr val="F7F6F2"/>
                </a:solidFill>
                <a:latin typeface="Source Serif 4" pitchFamily="18" charset="0"/>
                <a:ea typeface="Source Serif 4" pitchFamily="18" charset="-122"/>
                <a:cs typeface="Source Serif 4" pitchFamily="18" charset="-120"/>
              </a:rPr>
              <a:t>«El proceso metodológico de specs y planes es más importante que el ejecutable físico.»</a:t>
            </a:r>
            <a:endParaRPr lang="en-US" sz="1800" dirty="0"/>
          </a:p>
        </p:txBody>
      </p:sp>
      <p:sp>
        <p:nvSpPr>
          <p:cNvPr id="6" name="Text 4"/>
          <p:cNvSpPr/>
          <p:nvPr/>
        </p:nvSpPr>
        <p:spPr>
          <a:xfrm>
            <a:off x="1041400" y="4307681"/>
            <a:ext cx="1064793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2EE"/>
                </a:solidFill>
                <a:latin typeface="IBM Plex Sans" pitchFamily="34" charset="0"/>
                <a:ea typeface="IBM Plex Sans" pitchFamily="34" charset="-122"/>
                <a:cs typeface="IBM Plex Sans" pitchFamily="34" charset="-120"/>
              </a:rPr>
              <a:t>Bitácora de estrategia del equipo · 28 de agosto de 2026</a:t>
            </a:r>
            <a:endParaRPr lang="en-US" sz="1400" dirty="0"/>
          </a:p>
        </p:txBody>
      </p:sp>
      <p:sp>
        <p:nvSpPr>
          <p:cNvPr id="7" name="Text 5"/>
          <p:cNvSpPr/>
          <p:nvPr/>
        </p:nvSpPr>
        <p:spPr>
          <a:xfrm>
            <a:off x="812800" y="49121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6E2EE"/>
                </a:solidFill>
                <a:latin typeface="IBM Plex Sans" pitchFamily="34" charset="0"/>
                <a:ea typeface="IBM Plex Sans" pitchFamily="34" charset="-122"/>
                <a:cs typeface="IBM Plex Sans" pitchFamily="34" charset="-120"/>
              </a:rPr>
              <a:t>Cuando OpenSpec dejó de ser una opción, la metodología ya era nuestra.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ETAPA 3 · DESDE OCTUBRE 2026</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Por qué un estándar propio</a:t>
            </a:r>
            <a:endParaRPr lang="en-US" sz="3200" dirty="0"/>
          </a:p>
        </p:txBody>
      </p:sp>
      <p:sp>
        <p:nvSpPr>
          <p:cNvPr id="4" name="Shape 2"/>
          <p:cNvSpPr/>
          <p:nvPr/>
        </p:nvSpPr>
        <p:spPr>
          <a:xfrm>
            <a:off x="812800" y="1950641"/>
            <a:ext cx="6299200" cy="553690"/>
          </a:xfrm>
          <a:prstGeom prst="roundRect">
            <a:avLst>
              <a:gd name="adj" fmla="val 18350"/>
            </a:avLst>
          </a:prstGeom>
          <a:solidFill>
            <a:srgbClr val="14233A"/>
          </a:solidFill>
          <a:ln/>
        </p:spPr>
      </p:sp>
      <p:sp>
        <p:nvSpPr>
          <p:cNvPr id="5" name="Text 3"/>
          <p:cNvSpPr/>
          <p:nvPr/>
        </p:nvSpPr>
        <p:spPr>
          <a:xfrm>
            <a:off x="1016000" y="2120801"/>
            <a:ext cx="1037481" cy="23872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D9A55A"/>
                </a:solidFill>
                <a:latin typeface="IBM Plex Sans" pitchFamily="34" charset="0"/>
                <a:ea typeface="IBM Plex Sans" pitchFamily="34" charset="-122"/>
                <a:cs typeface="IBM Plex Sans" pitchFamily="34" charset="-120"/>
              </a:rPr>
              <a:t>DETONANTE</a:t>
            </a:r>
            <a:endParaRPr lang="en-US" sz="1200" dirty="0"/>
          </a:p>
        </p:txBody>
      </p:sp>
      <p:sp>
        <p:nvSpPr>
          <p:cNvPr id="6" name="Text 4"/>
          <p:cNvSpPr/>
          <p:nvPr/>
        </p:nvSpPr>
        <p:spPr>
          <a:xfrm>
            <a:off x="2129681" y="2103041"/>
            <a:ext cx="49224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Ya no se puede usar OpenSpec ni herramientas similares.</a:t>
            </a:r>
            <a:endParaRPr lang="en-US" sz="1400" dirty="0"/>
          </a:p>
        </p:txBody>
      </p:sp>
      <p:sp>
        <p:nvSpPr>
          <p:cNvPr id="7" name="Shape 5"/>
          <p:cNvSpPr/>
          <p:nvPr/>
        </p:nvSpPr>
        <p:spPr>
          <a:xfrm>
            <a:off x="815975" y="2659906"/>
            <a:ext cx="6292850" cy="1989931"/>
          </a:xfrm>
          <a:prstGeom prst="roundRect">
            <a:avLst>
              <a:gd name="adj" fmla="val 4946"/>
            </a:avLst>
          </a:prstGeom>
          <a:solidFill>
            <a:srgbClr val="FCFBF7"/>
          </a:solidFill>
          <a:ln w="6350">
            <a:solidFill>
              <a:srgbClr val="DDD8CC"/>
            </a:solidFill>
            <a:prstDash val="solid"/>
          </a:ln>
        </p:spPr>
      </p:sp>
      <p:sp>
        <p:nvSpPr>
          <p:cNvPr id="8" name="Text 6"/>
          <p:cNvSpPr/>
          <p:nvPr/>
        </p:nvSpPr>
        <p:spPr>
          <a:xfrm>
            <a:off x="1022350" y="2866281"/>
            <a:ext cx="605650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Límites que arrastrábamos</a:t>
            </a:r>
            <a:endParaRPr lang="en-US" sz="1400" dirty="0"/>
          </a:p>
        </p:txBody>
      </p:sp>
      <p:sp>
        <p:nvSpPr>
          <p:cNvPr id="9" name="Text 7"/>
          <p:cNvSpPr/>
          <p:nvPr/>
        </p:nvSpPr>
        <p:spPr>
          <a:xfrm>
            <a:off x="1100582" y="3199011"/>
            <a:ext cx="5970651" cy="126985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Dependencia de un CLI externo y sus versiones</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Node.js 20.19+ exigido en cada laptop</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Verificación nativa de base heurística</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Cada paso lo encadenaba el desarrollador</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TDD sujeto a la disciplina del agente</a:t>
            </a:r>
            <a:endParaRPr lang="en-US" sz="1400" dirty="0"/>
          </a:p>
        </p:txBody>
      </p:sp>
      <p:sp>
        <p:nvSpPr>
          <p:cNvPr id="10" name="Shape 8"/>
          <p:cNvSpPr/>
          <p:nvPr/>
        </p:nvSpPr>
        <p:spPr>
          <a:xfrm>
            <a:off x="7321550" y="1956991"/>
            <a:ext cx="4051300" cy="2689671"/>
          </a:xfrm>
          <a:prstGeom prst="roundRect">
            <a:avLst>
              <a:gd name="adj" fmla="val 3541"/>
            </a:avLst>
          </a:prstGeom>
          <a:solidFill>
            <a:srgbClr val="FCFBF7"/>
          </a:solidFill>
          <a:ln w="12700">
            <a:solidFill>
              <a:srgbClr val="2B5F8E"/>
            </a:solidFill>
            <a:prstDash val="solid"/>
          </a:ln>
        </p:spPr>
      </p:sp>
      <p:sp>
        <p:nvSpPr>
          <p:cNvPr id="11" name="Text 9"/>
          <p:cNvSpPr/>
          <p:nvPr/>
        </p:nvSpPr>
        <p:spPr>
          <a:xfrm>
            <a:off x="7531100" y="2166541"/>
            <a:ext cx="374116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DECISIÓN</a:t>
            </a:r>
            <a:endParaRPr lang="en-US" sz="1200" dirty="0"/>
          </a:p>
        </p:txBody>
      </p:sp>
      <p:sp>
        <p:nvSpPr>
          <p:cNvPr id="12" name="Text 10"/>
          <p:cNvSpPr/>
          <p:nvPr/>
        </p:nvSpPr>
        <p:spPr>
          <a:xfrm>
            <a:off x="7531100" y="2506861"/>
            <a:ext cx="374116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4233A"/>
                </a:solidFill>
                <a:latin typeface="Source Serif 4" pitchFamily="18" charset="0"/>
                <a:ea typeface="Source Serif 4" pitchFamily="18" charset="-122"/>
                <a:cs typeface="Source Serif 4" pitchFamily="18" charset="-120"/>
              </a:rPr>
              <a:t>Construir el estándar con las capacidades nativas de GitHub Copilot</a:t>
            </a:r>
            <a:endParaRPr lang="en-US" sz="1800" dirty="0"/>
          </a:p>
        </p:txBody>
      </p:sp>
      <p:sp>
        <p:nvSpPr>
          <p:cNvPr id="13" name="Text 11"/>
          <p:cNvSpPr/>
          <p:nvPr/>
        </p:nvSpPr>
        <p:spPr>
          <a:xfrm>
            <a:off x="7609332" y="3491111"/>
            <a:ext cx="3655314" cy="77207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Sin herramientas externas</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Todo versionado en el repositorio</a:t>
            </a:r>
            <a:endParaRPr lang="en-US" sz="1400" dirty="0"/>
          </a:p>
          <a:p>
            <a:pPr algn="l" marL="175768" indent="-175768">
              <a:lnSpc>
                <a:spcPts val="1960"/>
              </a:lnSpc>
              <a:buSzPct val="100000"/>
              <a:buChar char="•"/>
            </a:pPr>
            <a:r>
              <a:rPr lang="en-US" sz="1400" dirty="0">
                <a:solidFill>
                  <a:srgbClr val="4A5363"/>
                </a:solidFill>
                <a:latin typeface="IBM Plex Sans" pitchFamily="34" charset="0"/>
                <a:ea typeface="IBM Plex Sans" pitchFamily="34" charset="-122"/>
                <a:cs typeface="IBM Plex Sans" pitchFamily="34" charset="-120"/>
              </a:rPr>
              <a:t>Conserva lo aprendido en la etapa 2</a:t>
            </a:r>
            <a:endParaRPr lang="en-US" sz="1400" dirty="0"/>
          </a:p>
        </p:txBody>
      </p:sp>
      <p:sp>
        <p:nvSpPr>
          <p:cNvPr id="14" name="Text 12"/>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15" name="Text 1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ETAPA 3 · ESTÁNDAR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El estándar actual en una mirada</a:t>
            </a:r>
            <a:endParaRPr lang="en-US" sz="3200" dirty="0"/>
          </a:p>
        </p:txBody>
      </p:sp>
      <p:sp>
        <p:nvSpPr>
          <p:cNvPr id="4" name="Shape 2"/>
          <p:cNvSpPr/>
          <p:nvPr/>
        </p:nvSpPr>
        <p:spPr>
          <a:xfrm>
            <a:off x="822325" y="1899841"/>
            <a:ext cx="0" cy="975271"/>
          </a:xfrm>
          <a:prstGeom prst="line">
            <a:avLst/>
          </a:prstGeom>
          <a:noFill/>
          <a:ln w="19050">
            <a:solidFill>
              <a:srgbClr val="2B5F8E"/>
            </a:solidFill>
            <a:prstDash val="solid"/>
          </a:ln>
        </p:spPr>
      </p:sp>
      <p:sp>
        <p:nvSpPr>
          <p:cNvPr id="5" name="Text 3"/>
          <p:cNvSpPr/>
          <p:nvPr/>
        </p:nvSpPr>
        <p:spPr>
          <a:xfrm>
            <a:off x="1009650" y="1925241"/>
            <a:ext cx="240036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B5F8E"/>
                </a:solidFill>
                <a:latin typeface="Source Serif 4" pitchFamily="18" charset="0"/>
                <a:ea typeface="Source Serif 4" pitchFamily="18" charset="-122"/>
                <a:cs typeface="Source Serif 4" pitchFamily="18" charset="-120"/>
              </a:rPr>
              <a:t>11</a:t>
            </a:r>
            <a:endParaRPr lang="en-US" sz="3200" dirty="0"/>
          </a:p>
        </p:txBody>
      </p:sp>
      <p:sp>
        <p:nvSpPr>
          <p:cNvPr id="6" name="Text 4"/>
          <p:cNvSpPr/>
          <p:nvPr/>
        </p:nvSpPr>
        <p:spPr>
          <a:xfrm>
            <a:off x="1009650" y="2423071"/>
            <a:ext cx="24003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agentes especializados</a:t>
            </a:r>
            <a:endParaRPr lang="en-US" sz="1200" dirty="0"/>
          </a:p>
        </p:txBody>
      </p:sp>
      <p:sp>
        <p:nvSpPr>
          <p:cNvPr id="7" name="Shape 5"/>
          <p:cNvSpPr/>
          <p:nvPr/>
        </p:nvSpPr>
        <p:spPr>
          <a:xfrm>
            <a:off x="3502025" y="1899841"/>
            <a:ext cx="0" cy="975271"/>
          </a:xfrm>
          <a:prstGeom prst="line">
            <a:avLst/>
          </a:prstGeom>
          <a:noFill/>
          <a:ln w="19050">
            <a:solidFill>
              <a:srgbClr val="2B5F8E"/>
            </a:solidFill>
            <a:prstDash val="solid"/>
          </a:ln>
        </p:spPr>
      </p:sp>
      <p:sp>
        <p:nvSpPr>
          <p:cNvPr id="8" name="Text 6"/>
          <p:cNvSpPr/>
          <p:nvPr/>
        </p:nvSpPr>
        <p:spPr>
          <a:xfrm>
            <a:off x="3689350" y="1925241"/>
            <a:ext cx="240036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B5F8E"/>
                </a:solidFill>
                <a:latin typeface="Source Serif 4" pitchFamily="18" charset="0"/>
                <a:ea typeface="Source Serif 4" pitchFamily="18" charset="-122"/>
                <a:cs typeface="Source Serif 4" pitchFamily="18" charset="-120"/>
              </a:rPr>
              <a:t>15</a:t>
            </a:r>
            <a:endParaRPr lang="en-US" sz="3200" dirty="0"/>
          </a:p>
        </p:txBody>
      </p:sp>
      <p:sp>
        <p:nvSpPr>
          <p:cNvPr id="9" name="Text 7"/>
          <p:cNvSpPr/>
          <p:nvPr/>
        </p:nvSpPr>
        <p:spPr>
          <a:xfrm>
            <a:off x="3689350" y="2423071"/>
            <a:ext cx="24003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skills con el conocimiento de cada etapa</a:t>
            </a:r>
            <a:endParaRPr lang="en-US" sz="1200" dirty="0"/>
          </a:p>
        </p:txBody>
      </p:sp>
      <p:sp>
        <p:nvSpPr>
          <p:cNvPr id="10" name="Shape 8"/>
          <p:cNvSpPr/>
          <p:nvPr/>
        </p:nvSpPr>
        <p:spPr>
          <a:xfrm>
            <a:off x="6181725" y="1899841"/>
            <a:ext cx="0" cy="975271"/>
          </a:xfrm>
          <a:prstGeom prst="line">
            <a:avLst/>
          </a:prstGeom>
          <a:noFill/>
          <a:ln w="19050">
            <a:solidFill>
              <a:srgbClr val="2B5F8E"/>
            </a:solidFill>
            <a:prstDash val="solid"/>
          </a:ln>
        </p:spPr>
      </p:sp>
      <p:sp>
        <p:nvSpPr>
          <p:cNvPr id="11" name="Text 9"/>
          <p:cNvSpPr/>
          <p:nvPr/>
        </p:nvSpPr>
        <p:spPr>
          <a:xfrm>
            <a:off x="6369050" y="1925241"/>
            <a:ext cx="240036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B5F8E"/>
                </a:solidFill>
                <a:latin typeface="Source Serif 4" pitchFamily="18" charset="0"/>
                <a:ea typeface="Source Serif 4" pitchFamily="18" charset="-122"/>
                <a:cs typeface="Source Serif 4" pitchFamily="18" charset="-120"/>
              </a:rPr>
              <a:t>3</a:t>
            </a:r>
            <a:endParaRPr lang="en-US" sz="3200" dirty="0"/>
          </a:p>
        </p:txBody>
      </p:sp>
      <p:sp>
        <p:nvSpPr>
          <p:cNvPr id="12" name="Text 10"/>
          <p:cNvSpPr/>
          <p:nvPr/>
        </p:nvSpPr>
        <p:spPr>
          <a:xfrm>
            <a:off x="6369050" y="2423071"/>
            <a:ext cx="24003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aprobaciones humanas por funcionalidad</a:t>
            </a:r>
            <a:endParaRPr lang="en-US" sz="1200" dirty="0"/>
          </a:p>
        </p:txBody>
      </p:sp>
      <p:sp>
        <p:nvSpPr>
          <p:cNvPr id="13" name="Shape 11"/>
          <p:cNvSpPr/>
          <p:nvPr/>
        </p:nvSpPr>
        <p:spPr>
          <a:xfrm>
            <a:off x="8861425" y="1899841"/>
            <a:ext cx="0" cy="975271"/>
          </a:xfrm>
          <a:prstGeom prst="line">
            <a:avLst/>
          </a:prstGeom>
          <a:noFill/>
          <a:ln w="19050">
            <a:solidFill>
              <a:srgbClr val="2B5F8E"/>
            </a:solidFill>
            <a:prstDash val="solid"/>
          </a:ln>
        </p:spPr>
      </p:sp>
      <p:sp>
        <p:nvSpPr>
          <p:cNvPr id="14" name="Text 12"/>
          <p:cNvSpPr/>
          <p:nvPr/>
        </p:nvSpPr>
        <p:spPr>
          <a:xfrm>
            <a:off x="9048750" y="1925241"/>
            <a:ext cx="240036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B5F8E"/>
                </a:solidFill>
                <a:latin typeface="Source Serif 4" pitchFamily="18" charset="0"/>
                <a:ea typeface="Source Serif 4" pitchFamily="18" charset="-122"/>
                <a:cs typeface="Source Serif 4" pitchFamily="18" charset="-120"/>
              </a:rPr>
              <a:t>0</a:t>
            </a:r>
            <a:endParaRPr lang="en-US" sz="3200" dirty="0"/>
          </a:p>
        </p:txBody>
      </p:sp>
      <p:sp>
        <p:nvSpPr>
          <p:cNvPr id="15" name="Text 13"/>
          <p:cNvSpPr/>
          <p:nvPr/>
        </p:nvSpPr>
        <p:spPr>
          <a:xfrm>
            <a:off x="9048750" y="2423071"/>
            <a:ext cx="240036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herramientas externas que instalar</a:t>
            </a:r>
            <a:endParaRPr lang="en-US" sz="1200" dirty="0"/>
          </a:p>
        </p:txBody>
      </p:sp>
      <p:sp>
        <p:nvSpPr>
          <p:cNvPr id="16" name="Text 14"/>
          <p:cNvSpPr/>
          <p:nvPr/>
        </p:nvSpPr>
        <p:spPr>
          <a:xfrm>
            <a:off x="815975" y="3183086"/>
            <a:ext cx="1010642" cy="397470"/>
          </a:xfrm>
          <a:prstGeom prst="roundRect">
            <a:avLst>
              <a:gd name="adj" fmla="val 15177"/>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Especificar</a:t>
            </a:r>
            <a:endParaRPr lang="en-US" sz="1200" dirty="0"/>
          </a:p>
        </p:txBody>
      </p:sp>
      <p:pic>
        <p:nvPicPr>
          <p:cNvPr id="17" name="Image 0" descr="arrow-right">    </p:cNvPr>
          <p:cNvPicPr>
            <a:picLocks noChangeAspect="1"/>
          </p:cNvPicPr>
          <p:nvPr/>
        </p:nvPicPr>
        <p:blipFill>
          <a:blip r:embed="rId1"/>
          <a:srcRect l="0" r="0" t="0" b="0"/>
          <a:stretch/>
        </p:blipFill>
        <p:spPr>
          <a:xfrm>
            <a:off x="1931392" y="3337371"/>
            <a:ext cx="177800" cy="88900"/>
          </a:xfrm>
          <a:prstGeom prst="rect">
            <a:avLst/>
          </a:prstGeom>
        </p:spPr>
      </p:pic>
      <p:sp>
        <p:nvSpPr>
          <p:cNvPr id="18" name="Text 15"/>
          <p:cNvSpPr/>
          <p:nvPr/>
        </p:nvSpPr>
        <p:spPr>
          <a:xfrm>
            <a:off x="2210792" y="3186261"/>
            <a:ext cx="1192163" cy="391120"/>
          </a:xfrm>
          <a:prstGeom prst="roundRect">
            <a:avLst>
              <a:gd name="adj" fmla="val 16235"/>
            </a:avLst>
          </a:prstGeom>
          <a:solidFill>
            <a:srgbClr val="14233A"/>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Aprobación 1</a:t>
            </a:r>
            <a:endParaRPr lang="en-US" sz="1200" dirty="0"/>
          </a:p>
        </p:txBody>
      </p:sp>
      <p:pic>
        <p:nvPicPr>
          <p:cNvPr id="19" name="Image 1" descr="arrow-right">    </p:cNvPr>
          <p:cNvPicPr>
            <a:picLocks noChangeAspect="1"/>
          </p:cNvPicPr>
          <p:nvPr/>
        </p:nvPicPr>
        <p:blipFill>
          <a:blip r:embed="rId2"/>
          <a:srcRect l="0" r="0" t="0" b="0"/>
          <a:stretch/>
        </p:blipFill>
        <p:spPr>
          <a:xfrm>
            <a:off x="3504555" y="3337371"/>
            <a:ext cx="177800" cy="88900"/>
          </a:xfrm>
          <a:prstGeom prst="rect">
            <a:avLst/>
          </a:prstGeom>
        </p:spPr>
      </p:pic>
      <p:sp>
        <p:nvSpPr>
          <p:cNvPr id="20" name="Text 16"/>
          <p:cNvSpPr/>
          <p:nvPr/>
        </p:nvSpPr>
        <p:spPr>
          <a:xfrm>
            <a:off x="3787130" y="3183086"/>
            <a:ext cx="1566763" cy="397470"/>
          </a:xfrm>
          <a:prstGeom prst="roundRect">
            <a:avLst>
              <a:gd name="adj" fmla="val 15177"/>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Diseñar y planificar</a:t>
            </a:r>
            <a:endParaRPr lang="en-US" sz="1200" dirty="0"/>
          </a:p>
        </p:txBody>
      </p:sp>
      <p:pic>
        <p:nvPicPr>
          <p:cNvPr id="21" name="Image 2" descr="arrow-right">    </p:cNvPr>
          <p:cNvPicPr>
            <a:picLocks noChangeAspect="1"/>
          </p:cNvPicPr>
          <p:nvPr/>
        </p:nvPicPr>
        <p:blipFill>
          <a:blip r:embed="rId3"/>
          <a:srcRect l="0" r="0" t="0" b="0"/>
          <a:stretch/>
        </p:blipFill>
        <p:spPr>
          <a:xfrm>
            <a:off x="5458668" y="3337371"/>
            <a:ext cx="177800" cy="88900"/>
          </a:xfrm>
          <a:prstGeom prst="rect">
            <a:avLst/>
          </a:prstGeom>
        </p:spPr>
      </p:pic>
      <p:sp>
        <p:nvSpPr>
          <p:cNvPr id="22" name="Text 17"/>
          <p:cNvSpPr/>
          <p:nvPr/>
        </p:nvSpPr>
        <p:spPr>
          <a:xfrm>
            <a:off x="5738068" y="3186261"/>
            <a:ext cx="1192163" cy="391120"/>
          </a:xfrm>
          <a:prstGeom prst="roundRect">
            <a:avLst>
              <a:gd name="adj" fmla="val 16235"/>
            </a:avLst>
          </a:prstGeom>
          <a:solidFill>
            <a:srgbClr val="14233A"/>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Aprobación 2</a:t>
            </a:r>
            <a:endParaRPr lang="en-US" sz="1200" dirty="0"/>
          </a:p>
        </p:txBody>
      </p:sp>
      <p:pic>
        <p:nvPicPr>
          <p:cNvPr id="23" name="Image 3" descr="arrow-right">    </p:cNvPr>
          <p:cNvPicPr>
            <a:picLocks noChangeAspect="1"/>
          </p:cNvPicPr>
          <p:nvPr/>
        </p:nvPicPr>
        <p:blipFill>
          <a:blip r:embed="rId4"/>
          <a:srcRect l="0" r="0" t="0" b="0"/>
          <a:stretch/>
        </p:blipFill>
        <p:spPr>
          <a:xfrm>
            <a:off x="7031831" y="3337371"/>
            <a:ext cx="177800" cy="88900"/>
          </a:xfrm>
          <a:prstGeom prst="rect">
            <a:avLst/>
          </a:prstGeom>
        </p:spPr>
      </p:pic>
      <p:sp>
        <p:nvSpPr>
          <p:cNvPr id="24" name="Text 18"/>
          <p:cNvSpPr/>
          <p:nvPr/>
        </p:nvSpPr>
        <p:spPr>
          <a:xfrm>
            <a:off x="7314406" y="3183086"/>
            <a:ext cx="2201168" cy="397470"/>
          </a:xfrm>
          <a:prstGeom prst="roundRect">
            <a:avLst>
              <a:gd name="adj" fmla="val 15177"/>
            </a:avLst>
          </a:prstGeom>
          <a:solidFill>
            <a:srgbClr val="FCFBF7"/>
          </a:solidFill>
          <a:ln w="6350">
            <a:solidFill>
              <a:srgbClr val="DDD8CC"/>
            </a:solidFill>
            <a:prstDash val="solid"/>
          </a:ln>
        </p:spPr>
        <p:txBody>
          <a:bodyPr wrap="none" lIns="0" tIns="0" rIns="0" bIns="0" rtlCol="0" anchor="ctr">
            <a:normAutofit/>
          </a:bodyPr>
          <a:lstStyle/>
          <a:p>
            <a:pPr algn="ct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Construir con TDD y verificar</a:t>
            </a:r>
            <a:endParaRPr lang="en-US" sz="1200" dirty="0"/>
          </a:p>
        </p:txBody>
      </p:sp>
      <p:pic>
        <p:nvPicPr>
          <p:cNvPr id="25" name="Image 4" descr="arrow-right">    </p:cNvPr>
          <p:cNvPicPr>
            <a:picLocks noChangeAspect="1"/>
          </p:cNvPicPr>
          <p:nvPr/>
        </p:nvPicPr>
        <p:blipFill>
          <a:blip r:embed="rId5"/>
          <a:srcRect l="0" r="0" t="0" b="0"/>
          <a:stretch/>
        </p:blipFill>
        <p:spPr>
          <a:xfrm>
            <a:off x="9620349" y="3337371"/>
            <a:ext cx="177800" cy="88900"/>
          </a:xfrm>
          <a:prstGeom prst="rect">
            <a:avLst/>
          </a:prstGeom>
        </p:spPr>
      </p:pic>
      <p:sp>
        <p:nvSpPr>
          <p:cNvPr id="26" name="Text 19"/>
          <p:cNvSpPr/>
          <p:nvPr/>
        </p:nvSpPr>
        <p:spPr>
          <a:xfrm>
            <a:off x="9899749" y="3186261"/>
            <a:ext cx="1192163" cy="391120"/>
          </a:xfrm>
          <a:prstGeom prst="roundRect">
            <a:avLst>
              <a:gd name="adj" fmla="val 16235"/>
            </a:avLst>
          </a:prstGeom>
          <a:solidFill>
            <a:srgbClr val="14233A"/>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Aprobación 3</a:t>
            </a:r>
            <a:endParaRPr lang="en-US" sz="1200" dirty="0"/>
          </a:p>
        </p:txBody>
      </p:sp>
      <p:sp>
        <p:nvSpPr>
          <p:cNvPr id="27" name="Shape 20"/>
          <p:cNvSpPr/>
          <p:nvPr/>
        </p:nvSpPr>
        <p:spPr>
          <a:xfrm>
            <a:off x="815975" y="3891707"/>
            <a:ext cx="3414167" cy="1019721"/>
          </a:xfrm>
          <a:prstGeom prst="roundRect">
            <a:avLst>
              <a:gd name="adj" fmla="val 9652"/>
            </a:avLst>
          </a:prstGeom>
          <a:solidFill>
            <a:srgbClr val="FCFBF7"/>
          </a:solidFill>
          <a:ln w="6350">
            <a:solidFill>
              <a:srgbClr val="DDD8CC"/>
            </a:solidFill>
            <a:prstDash val="solid"/>
          </a:ln>
        </p:spPr>
      </p:sp>
      <p:sp>
        <p:nvSpPr>
          <p:cNvPr id="28" name="Text 21"/>
          <p:cNvSpPr/>
          <p:nvPr/>
        </p:nvSpPr>
        <p:spPr>
          <a:xfrm>
            <a:off x="996950" y="4047282"/>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Un especialista por etapa</a:t>
            </a:r>
            <a:endParaRPr lang="en-US" sz="1400" dirty="0"/>
          </a:p>
        </p:txBody>
      </p:sp>
      <p:sp>
        <p:nvSpPr>
          <p:cNvPr id="29" name="Text 22"/>
          <p:cNvSpPr/>
          <p:nvPr/>
        </p:nvSpPr>
        <p:spPr>
          <a:xfrm>
            <a:off x="996950" y="432921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Un orquestador coordina; cada agente hace solo su parte.</a:t>
            </a:r>
            <a:endParaRPr lang="en-US" sz="1200" dirty="0"/>
          </a:p>
        </p:txBody>
      </p:sp>
      <p:sp>
        <p:nvSpPr>
          <p:cNvPr id="30" name="Shape 23"/>
          <p:cNvSpPr/>
          <p:nvPr/>
        </p:nvSpPr>
        <p:spPr>
          <a:xfrm>
            <a:off x="4388892" y="3891707"/>
            <a:ext cx="3414216" cy="1019721"/>
          </a:xfrm>
          <a:prstGeom prst="roundRect">
            <a:avLst>
              <a:gd name="adj" fmla="val 9652"/>
            </a:avLst>
          </a:prstGeom>
          <a:solidFill>
            <a:srgbClr val="FCFBF7"/>
          </a:solidFill>
          <a:ln w="6350">
            <a:solidFill>
              <a:srgbClr val="DDD8CC"/>
            </a:solidFill>
            <a:prstDash val="solid"/>
          </a:ln>
        </p:spPr>
      </p:sp>
      <p:sp>
        <p:nvSpPr>
          <p:cNvPr id="31" name="Text 24"/>
          <p:cNvSpPr/>
          <p:nvPr/>
        </p:nvSpPr>
        <p:spPr>
          <a:xfrm>
            <a:off x="4569867" y="4047282"/>
            <a:ext cx="3143834"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Nadie evalúa su propio trabajo</a:t>
            </a:r>
            <a:endParaRPr lang="en-US" sz="1400" dirty="0"/>
          </a:p>
        </p:txBody>
      </p:sp>
      <p:sp>
        <p:nvSpPr>
          <p:cNvPr id="32" name="Text 25"/>
          <p:cNvSpPr/>
          <p:nvPr/>
        </p:nvSpPr>
        <p:spPr>
          <a:xfrm>
            <a:off x="4569867" y="4329212"/>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Quien prueba no implementa; quien verifica no construye.</a:t>
            </a:r>
            <a:endParaRPr lang="en-US" sz="1200" dirty="0"/>
          </a:p>
        </p:txBody>
      </p:sp>
      <p:sp>
        <p:nvSpPr>
          <p:cNvPr id="33" name="Shape 26"/>
          <p:cNvSpPr/>
          <p:nvPr/>
        </p:nvSpPr>
        <p:spPr>
          <a:xfrm>
            <a:off x="7961858" y="3891707"/>
            <a:ext cx="3414167" cy="1019721"/>
          </a:xfrm>
          <a:prstGeom prst="roundRect">
            <a:avLst>
              <a:gd name="adj" fmla="val 9652"/>
            </a:avLst>
          </a:prstGeom>
          <a:solidFill>
            <a:srgbClr val="FCFBF7"/>
          </a:solidFill>
          <a:ln w="6350">
            <a:solidFill>
              <a:srgbClr val="DDD8CC"/>
            </a:solidFill>
            <a:prstDash val="solid"/>
          </a:ln>
        </p:spPr>
      </p:sp>
      <p:sp>
        <p:nvSpPr>
          <p:cNvPr id="34" name="Text 27"/>
          <p:cNvSpPr/>
          <p:nvPr/>
        </p:nvSpPr>
        <p:spPr>
          <a:xfrm>
            <a:off x="8142833" y="4047282"/>
            <a:ext cx="3143783"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Control en cinco capas</a:t>
            </a:r>
            <a:endParaRPr lang="en-US" sz="1400" dirty="0"/>
          </a:p>
        </p:txBody>
      </p:sp>
      <p:sp>
        <p:nvSpPr>
          <p:cNvPr id="35" name="Text 28"/>
          <p:cNvSpPr/>
          <p:nvPr/>
        </p:nvSpPr>
        <p:spPr>
          <a:xfrm>
            <a:off x="8142833" y="432921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Permisos por archivo, aprobaciones y verificación con evidencia.</a:t>
            </a:r>
            <a:endParaRPr lang="en-US" sz="1200" dirty="0"/>
          </a:p>
        </p:txBody>
      </p:sp>
      <p:sp>
        <p:nvSpPr>
          <p:cNvPr id="36" name="Text 29"/>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37"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COMPARATIVA</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Tres etapas, siete dimensiones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2661444"/>
        </p:xfrm>
        <a:graphic>
          <a:graphicData uri="http://schemas.openxmlformats.org/drawingml/2006/table">
            <a:tbl>
              <a:tblPr/>
              <a:tblGrid>
                <a:gridCol w="2005203"/>
                <a:gridCol w="2849499"/>
                <a:gridCol w="2849499"/>
                <a:gridCol w="2849499"/>
              </a:tblGrid>
              <a:tr h="332680">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Dimensión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D9A55A"/>
                          </a:solidFill>
                          <a:latin typeface="IBM Plex Sans" pitchFamily="34" charset="0"/>
                          <a:ea typeface="IBM Plex Sans" pitchFamily="34" charset="-122"/>
                          <a:cs typeface="IBM Plex Sans" pitchFamily="34" charset="-120"/>
                        </a:rPr>
                        <a:t>Etapa 1 · Vibe coding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C5CFDA"/>
                          </a:solidFill>
                          <a:latin typeface="IBM Plex Sans" pitchFamily="34" charset="0"/>
                          <a:ea typeface="IBM Plex Sans" pitchFamily="34" charset="-122"/>
                          <a:cs typeface="IBM Plex Sans" pitchFamily="34" charset="-120"/>
                        </a:rPr>
                        <a:t>Etapa 2 · OpenSpec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680"/>
                        </a:lnSpc>
                        <a:buNone/>
                      </a:pPr>
                      <a:r>
                        <a:rPr lang="en-US" sz="1200" b="1" dirty="0">
                          <a:solidFill>
                            <a:srgbClr val="8DB8E0"/>
                          </a:solidFill>
                          <a:latin typeface="IBM Plex Sans" pitchFamily="34" charset="0"/>
                          <a:ea typeface="IBM Plex Sans" pitchFamily="34" charset="-122"/>
                          <a:cs typeface="IBM Plex Sans" pitchFamily="34" charset="-120"/>
                        </a:rPr>
                        <a:t>Etapa 3 · Estándar propio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Especificación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Ninguna: pedido libre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Delta specs de OpenSpec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Spec propia con requisitos verificables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Orquestación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Cada desarrollador, a su manera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El desarrollador, paso a paso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Orquestador con 3 aprobaciones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Pruebas (TDD)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Opcional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Exigido por instrucción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Impuesto por roles y controles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Verificación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 criterio de cada uno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Heurística + evidencia ejecutada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Independiente, requisito por requisito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Trazabilidad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Dispersa en chats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Cambio referenciado en commits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Historia → requisito → tarea →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Dependencias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Chats web y herramientas sueltas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OpenSpec CLI + Node.js 20.19+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Solo GitHub Copilot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32680">
                <a:tc>
                  <a:txBody>
                    <a:bodyPr/>
                    <a:lstStyle/>
                    <a:p>
                      <a:pPr indent="0" marL="0">
                        <a:lnSpc>
                          <a:spcPts val="1680"/>
                        </a:lnSpc>
                        <a:buNone/>
                      </a:pPr>
                      <a:r>
                        <a:rPr lang="en-US" sz="1200" dirty="0">
                          <a:solidFill>
                            <a:srgbClr val="14233A"/>
                          </a:solidFill>
                          <a:latin typeface="IBM Plex Sans" pitchFamily="34" charset="0"/>
                          <a:ea typeface="IBM Plex Sans" pitchFamily="34" charset="-122"/>
                          <a:cs typeface="IBM Plex Sans" pitchFamily="34" charset="-120"/>
                        </a:rPr>
                        <a:t>Gobierno del proceso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Bajo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Compartido con la herramienta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F4A73"/>
                          </a:solidFill>
                          <a:latin typeface="IBM Plex Sans" pitchFamily="34" charset="0"/>
                          <a:ea typeface="IBM Plex Sans" pitchFamily="34" charset="-122"/>
                          <a:cs typeface="IBM Plex Sans" pitchFamily="34" charset="-120"/>
                        </a:rPr>
                        <a:t>Completo, en manos del equipo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6"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C5A12"/>
                </a:solidFill>
                <a:latin typeface="IBM Plex Sans" pitchFamily="34" charset="0"/>
                <a:ea typeface="IBM Plex Sans" pitchFamily="34" charset="-122"/>
                <a:cs typeface="IBM Plex Sans" pitchFamily="34" charset="-120"/>
              </a:rPr>
              <a:t>RIESGOS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Riesgos identificados y mitigaciones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2316063"/>
        </p:xfrm>
        <a:graphic>
          <a:graphicData uri="http://schemas.openxmlformats.org/drawingml/2006/table">
            <a:tbl>
              <a:tblPr/>
              <a:tblGrid>
                <a:gridCol w="4749165"/>
                <a:gridCol w="5804535"/>
              </a:tblGrid>
              <a:tr h="386011">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Riesgo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Mitigación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2031"/>
                      </a:solidFill>
                      <a:prstDash val="solid"/>
                      <a:round/>
                      <a:headEnd type="none" w="med" len="med"/>
                      <a:tailEnd type="none" w="med" len="med"/>
                    </a:lnL>
                    <a:lnR w="12700" cap="flat" cmpd="sng" algn="ctr">
                      <a:solidFill>
                        <a:srgbClr val="14203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2031"/>
                      </a:solidFill>
                      <a:prstDash val="solid"/>
                      <a:round/>
                      <a:headEnd type="none" w="med" len="med"/>
                      <a:tailEnd type="none" w="med" len="med"/>
                    </a:lnB>
                    <a:solidFill>
                      <a:srgbClr val="14233A"/>
                    </a:solidFill>
                  </a:tcPr>
                </a:tc>
              </a:tr>
              <a:tr h="386011">
                <a:tc>
                  <a:txBody>
                    <a:bodyPr/>
                    <a:lstStyle/>
                    <a:p>
                      <a:pPr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Curva de aprendizaje y resistencia al flujo formal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Piloto acotado, guía de uso y comandos que conducen cada etapa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4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6011">
                <a:tc>
                  <a:txBody>
                    <a:bodyPr/>
                    <a:lstStyle/>
                    <a:p>
                      <a:pPr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Funciones de Copilot aún en vista previa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Control en cinco capas: si una falla, las demás siguen activas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86011">
                <a:tc>
                  <a:txBody>
                    <a:bodyPr/>
                    <a:lstStyle/>
                    <a:p>
                      <a:pPr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Mayor consumo de modelos por usar más agentes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Modelo asignado por etapa, validado con casos reales del repositorio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86011">
                <a:tc>
                  <a:txBody>
                    <a:bodyPr/>
                    <a:lstStyle/>
                    <a:p>
                      <a:pPr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Datos de mejora autoinformados y muestra pequeña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c>
                  <a:txBody>
                    <a:bodyPr/>
                    <a:lstStyle/>
                    <a:p>
                      <a:pPr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Medir el piloto con la bitácora y criterios acordados de antemano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6"/>
                      </a:solidFill>
                      <a:prstDash val="solid"/>
                      <a:round/>
                      <a:headEnd type="none" w="med" len="med"/>
                      <a:tailEnd type="none" w="med" len="med"/>
                    </a:lnL>
                    <a:lnR w="12700" cap="flat" cmpd="sng" algn="ctr">
                      <a:solidFill>
                        <a:srgbClr val="BFBC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FBCB6"/>
                      </a:solidFill>
                      <a:prstDash val="solid"/>
                      <a:round/>
                      <a:headEnd type="none" w="med" len="med"/>
                      <a:tailEnd type="none" w="med" len="med"/>
                    </a:lnB>
                    <a:solidFill>
                      <a:srgbClr val="EFECE4"/>
                    </a:solidFill>
                  </a:tcPr>
                </a:tc>
              </a:tr>
              <a:tr h="386011">
                <a:tc>
                  <a:txBody>
                    <a:bodyPr/>
                    <a:lstStyle/>
                    <a:p>
                      <a:pPr indent="0" marL="0">
                        <a:lnSpc>
                          <a:spcPts val="1960"/>
                        </a:lnSpc>
                        <a:buNone/>
                      </a:pPr>
                      <a:r>
                        <a:rPr lang="en-US" sz="1400" dirty="0">
                          <a:solidFill>
                            <a:srgbClr val="14233A"/>
                          </a:solidFill>
                          <a:latin typeface="IBM Plex Sans" pitchFamily="34" charset="0"/>
                          <a:ea typeface="IBM Plex Sans" pitchFamily="34" charset="-122"/>
                          <a:cs typeface="IBM Plex Sans" pitchFamily="34" charset="-120"/>
                        </a:rPr>
                        <a:t>Políticas de seguridad que afectan la ejecución de tests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960"/>
                        </a:lnSpc>
                        <a:buNone/>
                      </a:pPr>
                      <a:r>
                        <a:rPr lang="en-US" sz="1400" dirty="0">
                          <a:solidFill>
                            <a:srgbClr val="4A5363"/>
                          </a:solidFill>
                          <a:latin typeface="IBM Plex Sans" pitchFamily="34" charset="0"/>
                          <a:ea typeface="IBM Plex Sans" pitchFamily="34" charset="-122"/>
                          <a:cs typeface="IBM Plex Sans" pitchFamily="34" charset="-120"/>
                        </a:rPr>
                        <a:t>Revisarlo con el área de seguridad antes del piloto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FBCB6"/>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6"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B5F8E"/>
                </a:solidFill>
                <a:latin typeface="IBM Plex Sans" pitchFamily="34" charset="0"/>
                <a:ea typeface="IBM Plex Sans" pitchFamily="34" charset="-122"/>
                <a:cs typeface="IBM Plex Sans" pitchFamily="34" charset="-120"/>
              </a:rPr>
              <a:t>PROPUESTA</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33A"/>
                </a:solidFill>
                <a:latin typeface="Source Serif 4" pitchFamily="18" charset="0"/>
                <a:ea typeface="Source Serif 4" pitchFamily="18" charset="-122"/>
                <a:cs typeface="Source Serif 4" pitchFamily="18" charset="-120"/>
              </a:rPr>
              <a:t>Validar antes de adoptar como norma</a:t>
            </a:r>
            <a:endParaRPr lang="en-US" sz="3200" dirty="0"/>
          </a:p>
        </p:txBody>
      </p:sp>
      <p:sp>
        <p:nvSpPr>
          <p:cNvPr id="4" name="Shape 2"/>
          <p:cNvSpPr/>
          <p:nvPr/>
        </p:nvSpPr>
        <p:spPr>
          <a:xfrm>
            <a:off x="812800" y="1903016"/>
            <a:ext cx="6197600" cy="0"/>
          </a:xfrm>
          <a:prstGeom prst="line">
            <a:avLst/>
          </a:prstGeom>
          <a:noFill/>
          <a:ln w="6350">
            <a:solidFill>
              <a:srgbClr val="DDD8CC"/>
            </a:solidFill>
            <a:prstDash val="solid"/>
          </a:ln>
        </p:spPr>
      </p:sp>
      <p:sp>
        <p:nvSpPr>
          <p:cNvPr id="5" name="Text 3"/>
          <p:cNvSpPr/>
          <p:nvPr/>
        </p:nvSpPr>
        <p:spPr>
          <a:xfrm>
            <a:off x="812800" y="2033191"/>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Source Serif 4" pitchFamily="18" charset="0"/>
                <a:ea typeface="Source Serif 4" pitchFamily="18" charset="-122"/>
                <a:cs typeface="Source Serif 4" pitchFamily="18" charset="-120"/>
              </a:rPr>
              <a:t>1</a:t>
            </a:r>
            <a:endParaRPr lang="en-US" sz="1800" dirty="0"/>
          </a:p>
        </p:txBody>
      </p:sp>
      <p:sp>
        <p:nvSpPr>
          <p:cNvPr id="6" name="Text 4"/>
          <p:cNvSpPr/>
          <p:nvPr/>
        </p:nvSpPr>
        <p:spPr>
          <a:xfrm>
            <a:off x="1295400" y="2033191"/>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Piloto acotado</a:t>
            </a:r>
            <a:endParaRPr lang="en-US" sz="1400" dirty="0"/>
          </a:p>
        </p:txBody>
      </p:sp>
      <p:sp>
        <p:nvSpPr>
          <p:cNvPr id="7" name="Text 5"/>
          <p:cNvSpPr/>
          <p:nvPr/>
        </p:nvSpPr>
        <p:spPr>
          <a:xfrm>
            <a:off x="1295400" y="2302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Una historia de usuario real del frontend Angular, con el estándar completo.</a:t>
            </a:r>
            <a:endParaRPr lang="en-US" sz="1200" dirty="0"/>
          </a:p>
        </p:txBody>
      </p:sp>
      <p:sp>
        <p:nvSpPr>
          <p:cNvPr id="8" name="Shape 6"/>
          <p:cNvSpPr/>
          <p:nvPr/>
        </p:nvSpPr>
        <p:spPr>
          <a:xfrm>
            <a:off x="812800" y="2696716"/>
            <a:ext cx="6197600" cy="0"/>
          </a:xfrm>
          <a:prstGeom prst="line">
            <a:avLst/>
          </a:prstGeom>
          <a:noFill/>
          <a:ln w="6350">
            <a:solidFill>
              <a:srgbClr val="DDD8CC"/>
            </a:solidFill>
            <a:prstDash val="solid"/>
          </a:ln>
        </p:spPr>
      </p:sp>
      <p:sp>
        <p:nvSpPr>
          <p:cNvPr id="9" name="Text 7"/>
          <p:cNvSpPr/>
          <p:nvPr/>
        </p:nvSpPr>
        <p:spPr>
          <a:xfrm>
            <a:off x="812800" y="2826891"/>
            <a:ext cx="355600" cy="721271"/>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Source Serif 4" pitchFamily="18" charset="0"/>
                <a:ea typeface="Source Serif 4" pitchFamily="18" charset="-122"/>
                <a:cs typeface="Source Serif 4" pitchFamily="18" charset="-120"/>
              </a:rPr>
              <a:t>2</a:t>
            </a:r>
            <a:endParaRPr lang="en-US" sz="1800" dirty="0"/>
          </a:p>
        </p:txBody>
      </p:sp>
      <p:sp>
        <p:nvSpPr>
          <p:cNvPr id="10" name="Text 8"/>
          <p:cNvSpPr/>
          <p:nvPr/>
        </p:nvSpPr>
        <p:spPr>
          <a:xfrm>
            <a:off x="1295400" y="2826891"/>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Medición</a:t>
            </a:r>
            <a:endParaRPr lang="en-US" sz="1400" dirty="0"/>
          </a:p>
        </p:txBody>
      </p:sp>
      <p:sp>
        <p:nvSpPr>
          <p:cNvPr id="11" name="Text 9"/>
          <p:cNvSpPr/>
          <p:nvPr/>
        </p:nvSpPr>
        <p:spPr>
          <a:xfrm>
            <a:off x="1295400" y="3096121"/>
            <a:ext cx="58864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Registrar éxito, retrabajo, confianza y defectos en la bitácora, y compararlos con la línea base.</a:t>
            </a:r>
            <a:endParaRPr lang="en-US" sz="1200" dirty="0"/>
          </a:p>
        </p:txBody>
      </p:sp>
      <p:sp>
        <p:nvSpPr>
          <p:cNvPr id="12" name="Shape 10"/>
          <p:cNvSpPr/>
          <p:nvPr/>
        </p:nvSpPr>
        <p:spPr>
          <a:xfrm>
            <a:off x="812800" y="3703737"/>
            <a:ext cx="6197600" cy="0"/>
          </a:xfrm>
          <a:prstGeom prst="line">
            <a:avLst/>
          </a:prstGeom>
          <a:noFill/>
          <a:ln w="6350">
            <a:solidFill>
              <a:srgbClr val="DDD8CC"/>
            </a:solidFill>
            <a:prstDash val="solid"/>
          </a:ln>
        </p:spPr>
      </p:sp>
      <p:sp>
        <p:nvSpPr>
          <p:cNvPr id="13" name="Text 11"/>
          <p:cNvSpPr/>
          <p:nvPr/>
        </p:nvSpPr>
        <p:spPr>
          <a:xfrm>
            <a:off x="812800" y="3833912"/>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Source Serif 4" pitchFamily="18" charset="0"/>
                <a:ea typeface="Source Serif 4" pitchFamily="18" charset="-122"/>
                <a:cs typeface="Source Serif 4" pitchFamily="18" charset="-120"/>
              </a:rPr>
              <a:t>3</a:t>
            </a:r>
            <a:endParaRPr lang="en-US" sz="1800" dirty="0"/>
          </a:p>
        </p:txBody>
      </p:sp>
      <p:sp>
        <p:nvSpPr>
          <p:cNvPr id="14" name="Text 12"/>
          <p:cNvSpPr/>
          <p:nvPr/>
        </p:nvSpPr>
        <p:spPr>
          <a:xfrm>
            <a:off x="1295400" y="3833912"/>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Extensión al backend</a:t>
            </a:r>
            <a:endParaRPr lang="en-US" sz="1400" dirty="0"/>
          </a:p>
        </p:txBody>
      </p:sp>
      <p:sp>
        <p:nvSpPr>
          <p:cNvPr id="15" name="Text 13"/>
          <p:cNvSpPr/>
          <p:nvPr/>
        </p:nvSpPr>
        <p:spPr>
          <a:xfrm>
            <a:off x="1295400" y="410314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Llevar el estándar a .NET una vez confirmado su stack de pruebas.</a:t>
            </a:r>
            <a:endParaRPr lang="en-US" sz="1200" dirty="0"/>
          </a:p>
        </p:txBody>
      </p:sp>
      <p:sp>
        <p:nvSpPr>
          <p:cNvPr id="16" name="Shape 14"/>
          <p:cNvSpPr/>
          <p:nvPr/>
        </p:nvSpPr>
        <p:spPr>
          <a:xfrm>
            <a:off x="812800" y="4497437"/>
            <a:ext cx="6197600" cy="0"/>
          </a:xfrm>
          <a:prstGeom prst="line">
            <a:avLst/>
          </a:prstGeom>
          <a:noFill/>
          <a:ln w="6350">
            <a:solidFill>
              <a:srgbClr val="DDD8CC"/>
            </a:solidFill>
            <a:prstDash val="solid"/>
          </a:ln>
        </p:spPr>
      </p:sp>
      <p:sp>
        <p:nvSpPr>
          <p:cNvPr id="17" name="Text 15"/>
          <p:cNvSpPr/>
          <p:nvPr/>
        </p:nvSpPr>
        <p:spPr>
          <a:xfrm>
            <a:off x="812800" y="4627612"/>
            <a:ext cx="355600" cy="5079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2B5F8E"/>
                </a:solidFill>
                <a:latin typeface="Source Serif 4" pitchFamily="18" charset="0"/>
                <a:ea typeface="Source Serif 4" pitchFamily="18" charset="-122"/>
                <a:cs typeface="Source Serif 4" pitchFamily="18" charset="-120"/>
              </a:rPr>
              <a:t>4</a:t>
            </a:r>
            <a:endParaRPr lang="en-US" sz="1800" dirty="0"/>
          </a:p>
        </p:txBody>
      </p:sp>
      <p:sp>
        <p:nvSpPr>
          <p:cNvPr id="18" name="Text 16"/>
          <p:cNvSpPr/>
          <p:nvPr/>
        </p:nvSpPr>
        <p:spPr>
          <a:xfrm>
            <a:off x="1295400" y="4627612"/>
            <a:ext cx="58864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33A"/>
                </a:solidFill>
                <a:latin typeface="IBM Plex Sans" pitchFamily="34" charset="0"/>
                <a:ea typeface="IBM Plex Sans" pitchFamily="34" charset="-122"/>
                <a:cs typeface="IBM Plex Sans" pitchFamily="34" charset="-120"/>
              </a:rPr>
              <a:t>Gobierno continuo</a:t>
            </a:r>
            <a:endParaRPr lang="en-US" sz="1400" dirty="0"/>
          </a:p>
        </p:txBody>
      </p:sp>
      <p:sp>
        <p:nvSpPr>
          <p:cNvPr id="19" name="Text 17"/>
          <p:cNvSpPr/>
          <p:nvPr/>
        </p:nvSpPr>
        <p:spPr>
          <a:xfrm>
            <a:off x="1295400" y="489684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Revisión trimestral del estándar a partir de lo registrado en la bitácora.</a:t>
            </a:r>
            <a:endParaRPr lang="en-US" sz="1200" dirty="0"/>
          </a:p>
        </p:txBody>
      </p:sp>
      <p:sp>
        <p:nvSpPr>
          <p:cNvPr id="20" name="Shape 18"/>
          <p:cNvSpPr/>
          <p:nvPr/>
        </p:nvSpPr>
        <p:spPr>
          <a:xfrm>
            <a:off x="7315200" y="1899841"/>
            <a:ext cx="4064000" cy="3210322"/>
          </a:xfrm>
          <a:prstGeom prst="roundRect">
            <a:avLst>
              <a:gd name="adj" fmla="val 3165"/>
            </a:avLst>
          </a:prstGeom>
          <a:solidFill>
            <a:srgbClr val="14233A"/>
          </a:solidFill>
          <a:ln/>
        </p:spPr>
      </p:sp>
      <p:sp>
        <p:nvSpPr>
          <p:cNvPr id="21" name="Text 19"/>
          <p:cNvSpPr/>
          <p:nvPr/>
        </p:nvSpPr>
        <p:spPr>
          <a:xfrm>
            <a:off x="7569200" y="21538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9A55A"/>
                </a:solidFill>
                <a:latin typeface="IBM Plex Sans" pitchFamily="34" charset="0"/>
                <a:ea typeface="IBM Plex Sans" pitchFamily="34" charset="-122"/>
                <a:cs typeface="IBM Plex Sans" pitchFamily="34" charset="-120"/>
              </a:rPr>
              <a:t>LO QUE SOLICITAMOS</a:t>
            </a:r>
            <a:endParaRPr lang="en-US" sz="1200" dirty="0"/>
          </a:p>
        </p:txBody>
      </p:sp>
      <p:sp>
        <p:nvSpPr>
          <p:cNvPr id="22" name="Text 20"/>
          <p:cNvSpPr/>
          <p:nvPr/>
        </p:nvSpPr>
        <p:spPr>
          <a:xfrm>
            <a:off x="7569200" y="2544961"/>
            <a:ext cx="3662680"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7F6F2"/>
                </a:solidFill>
                <a:latin typeface="Source Serif 4" pitchFamily="18" charset="0"/>
                <a:ea typeface="Source Serif 4" pitchFamily="18" charset="-122"/>
                <a:cs typeface="Source Serif 4" pitchFamily="18" charset="-120"/>
              </a:rPr>
              <a:t>Tres decisiones para avanzar</a:t>
            </a:r>
            <a:endParaRPr lang="en-US" sz="1800" dirty="0"/>
          </a:p>
        </p:txBody>
      </p:sp>
      <p:sp>
        <p:nvSpPr>
          <p:cNvPr id="23" name="Text 21"/>
          <p:cNvSpPr/>
          <p:nvPr/>
        </p:nvSpPr>
        <p:spPr>
          <a:xfrm>
            <a:off x="7647432" y="3008511"/>
            <a:ext cx="3576828" cy="151874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CFDA"/>
                </a:solidFill>
                <a:latin typeface="IBM Plex Sans" pitchFamily="34" charset="0"/>
                <a:ea typeface="IBM Plex Sans" pitchFamily="34" charset="-122"/>
                <a:cs typeface="IBM Plex Sans" pitchFamily="34" charset="-120"/>
              </a:rPr>
              <a:t>Aprobar el piloto en el frontend</a:t>
            </a:r>
            <a:endParaRPr lang="en-US" sz="1400" dirty="0"/>
          </a:p>
          <a:p>
            <a:pPr algn="l" marL="175768" indent="-175768">
              <a:lnSpc>
                <a:spcPts val="1960"/>
              </a:lnSpc>
              <a:buSzPct val="100000"/>
              <a:buChar char="•"/>
            </a:pPr>
            <a:r>
              <a:rPr lang="en-US" sz="1400" dirty="0">
                <a:solidFill>
                  <a:srgbClr val="C5CFDA"/>
                </a:solidFill>
                <a:latin typeface="IBM Plex Sans" pitchFamily="34" charset="0"/>
                <a:ea typeface="IBM Plex Sans" pitchFamily="34" charset="-122"/>
                <a:cs typeface="IBM Plex Sans" pitchFamily="34" charset="-120"/>
              </a:rPr>
              <a:t>Reservar capacidad del equipo durante el piloto</a:t>
            </a:r>
            <a:endParaRPr lang="en-US" sz="1400" dirty="0"/>
          </a:p>
          <a:p>
            <a:pPr algn="l" marL="175768" indent="-175768">
              <a:lnSpc>
                <a:spcPts val="1960"/>
              </a:lnSpc>
              <a:buSzPct val="100000"/>
              <a:buChar char="•"/>
            </a:pPr>
            <a:r>
              <a:rPr lang="en-US" sz="1400" dirty="0">
                <a:solidFill>
                  <a:srgbClr val="C5CFDA"/>
                </a:solidFill>
                <a:latin typeface="IBM Plex Sans" pitchFamily="34" charset="0"/>
                <a:ea typeface="IBM Plex Sans" pitchFamily="34" charset="-122"/>
                <a:cs typeface="IBM Plex Sans" pitchFamily="34" charset="-120"/>
              </a:rPr>
              <a:t>Evaluar los resultados y decidir si el estándar se adopta como norma de la célula</a:t>
            </a:r>
            <a:endParaRPr lang="en-US" sz="1400" dirty="0"/>
          </a:p>
        </p:txBody>
      </p:sp>
      <p:sp>
        <p:nvSpPr>
          <p:cNvPr id="24" name="Text 22"/>
          <p:cNvSpPr/>
          <p:nvPr/>
        </p:nvSpPr>
        <p:spPr>
          <a:xfrm>
            <a:off x="812800" y="6238280"/>
            <a:ext cx="49906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Evolución del desarrollo asistido por IA · Equipo Ecosistemas</a:t>
            </a:r>
            <a:endParaRPr lang="en-US" sz="1200" dirty="0"/>
          </a:p>
        </p:txBody>
      </p:sp>
      <p:sp>
        <p:nvSpPr>
          <p:cNvPr id="25" name="Text 2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76"/>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DB8E0"/>
                </a:solidFill>
                <a:latin typeface="IBM Plex Sans" pitchFamily="34" charset="0"/>
                <a:ea typeface="IBM Plex Sans" pitchFamily="34" charset="-122"/>
                <a:cs typeface="IBM Plex Sans" pitchFamily="34" charset="-120"/>
              </a:rPr>
              <a:t>CIERRE</a:t>
            </a:r>
            <a:endParaRPr lang="en-US" sz="1400" dirty="0"/>
          </a:p>
        </p:txBody>
      </p:sp>
      <p:sp>
        <p:nvSpPr>
          <p:cNvPr id="3" name="Text 1"/>
          <p:cNvSpPr/>
          <p:nvPr>
            <p:ph type="title"/>
          </p:nvPr>
        </p:nvSpPr>
        <p:spPr>
          <a:xfrm>
            <a:off x="812800" y="244807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6F2"/>
                </a:solidFill>
                <a:latin typeface="Source Serif 4" pitchFamily="18" charset="0"/>
                <a:ea typeface="Source Serif 4" pitchFamily="18" charset="-122"/>
                <a:cs typeface="Source Serif 4" pitchFamily="18" charset="-120"/>
              </a:rPr>
              <a:t>La IA ejecuta; la responsabilidad sigue siendo del equipo.</a:t>
            </a:r>
            <a:endParaRPr lang="en-US" sz="4800" dirty="0"/>
          </a:p>
        </p:txBody>
      </p:sp>
      <p:sp>
        <p:nvSpPr>
          <p:cNvPr id="4" name="Text 2"/>
          <p:cNvSpPr/>
          <p:nvPr/>
        </p:nvSpPr>
        <p:spPr>
          <a:xfrm>
            <a:off x="812800" y="4018806"/>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A"/>
                </a:solidFill>
                <a:latin typeface="IBM Plex Sans" pitchFamily="34" charset="0"/>
                <a:ea typeface="IBM Plex Sans" pitchFamily="34" charset="-122"/>
                <a:cs typeface="IBM Plex Sans" pitchFamily="34" charset="-120"/>
              </a:rPr>
              <a:t>Método propio, control humano y evidencia en cada entrega.</a:t>
            </a:r>
            <a:endParaRPr lang="en-US" sz="1800" dirty="0"/>
          </a:p>
        </p:txBody>
      </p:sp>
      <p:sp>
        <p:nvSpPr>
          <p:cNvPr id="5" name="Text 3"/>
          <p:cNvSpPr/>
          <p:nvPr/>
        </p:nvSpPr>
        <p:spPr>
          <a:xfrm>
            <a:off x="812800" y="5796310"/>
            <a:ext cx="4703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FDA"/>
                </a:solidFill>
                <a:latin typeface="IBM Plex Sans" pitchFamily="34" charset="0"/>
                <a:ea typeface="IBM Plex Sans" pitchFamily="34" charset="-122"/>
                <a:cs typeface="IBM Plex Sans" pitchFamily="34" charset="-120"/>
              </a:rPr>
              <a:t>Sergio Galaz · Líder Técnico · Equipo Ecosistemas</a:t>
            </a:r>
            <a:endParaRPr lang="en-US" sz="1400" dirty="0"/>
          </a:p>
        </p:txBody>
      </p:sp>
      <p:sp>
        <p:nvSpPr>
          <p:cNvPr id="6" name="Text 4"/>
          <p:cNvSpPr/>
          <p:nvPr/>
        </p:nvSpPr>
        <p:spPr>
          <a:xfrm>
            <a:off x="8898176" y="5725170"/>
            <a:ext cx="2481024" cy="345430"/>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D9A55A"/>
                </a:solidFill>
                <a:latin typeface="IBM Plex Sans" pitchFamily="34" charset="0"/>
                <a:ea typeface="IBM Plex Sans" pitchFamily="34" charset="-122"/>
                <a:cs typeface="IBM Plex Sans" pitchFamily="34" charset="-120"/>
              </a:rPr>
              <a:t>Gracias · Preguntas</a:t>
            </a:r>
            <a:endParaRPr lang="en-US" sz="1800" dirty="0"/>
          </a:p>
        </p:txBody>
      </p:sp>
    </p:spTree>
  </p:cSld>
  <p:clrMapOvr>
    <a:masterClrMapping/>
  </p:clrMapOvr>
</p:sld>
</file>

<file path=ppt/theme/theme1.xml><?xml version="1.0" encoding="utf-8"?>
<a:theme xmlns:a="http://schemas.openxmlformats.org/drawingml/2006/main" name="Evolución del desarrollo asistido por IA">
  <a:themeElements>
    <a:clrScheme name="Evolución del desarrollo asistido por IA">
      <a:dk1>
        <a:srgbClr val="14233A"/>
      </a:dk1>
      <a:lt1>
        <a:srgbClr val="F7F6F2"/>
      </a:lt1>
      <a:dk2>
        <a:srgbClr val="4D5868"/>
      </a:dk2>
      <a:lt2>
        <a:srgbClr val="E0E1E0"/>
      </a:lt2>
      <a:accent1>
        <a:srgbClr val="2B5F8E"/>
      </a:accent1>
      <a:accent2>
        <a:srgbClr val="8C5A12"/>
      </a:accent2>
      <a:accent3>
        <a:srgbClr val="D9A55A"/>
      </a:accent3>
      <a:accent4>
        <a:srgbClr val="8DB8E0"/>
      </a:accent4>
      <a:accent5>
        <a:srgbClr val="24527D"/>
      </a:accent5>
      <a:accent6>
        <a:srgbClr val="646B76"/>
      </a:accent6>
      <a:hlink>
        <a:srgbClr val="0563C1"/>
      </a:hlink>
      <a:folHlink>
        <a:srgbClr val="954F72"/>
      </a:folHlink>
    </a:clrScheme>
    <a:fontScheme name="Evolución del desarrollo asistido por IA">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Evolución del desarrollo asistido por IA</dc:title>
  <dc:subject/>
  <dc:creator/>
  <cp:lastModifiedBy/>
  <cp:revision>1</cp:revision>
  <dcterms:created xsi:type="dcterms:W3CDTF">2026-10-23T13:05:13Z</dcterms:created>
  <dcterms:modified xsi:type="dcterms:W3CDTF">2026-10-23T13:05:13Z</dcterms:modified>
</cp:coreProperties>
</file>