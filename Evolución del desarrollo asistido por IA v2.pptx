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informe resume cómo ha evolucionado el uso de la inteligencia artificial para desarrollar en la célula: desde una etapa de vibe coding sin método, pasando por la adopción de Spec-Driven Development con OpenSpec, hasta el estándar propio que estamos implementando ahora. Incluye el estudio que respaldó la decisión, las dificultades que enfrentamos y una propuesta concreta para validar el estándar.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mensajes para quedarse; cada bloque aparece con un clic. Uno: esto no fue un cambio de un día para otro. Entre abril y octubre pasamos del uso individual de la IA, sin método, al Modelo 1.0 en agosto, basado en SDD con OpenSpec, y al Modelo 2.0 en octubre, nuestro estándar propio. Dos: la elección de SDD salió de un estudio comparativo documentado, y es el mismo enfoque que hoy impulsan GitHub, Amazon y Google. Tres: la mejora se ve en los datos del equipo: las tareas exitosas pasaron de 62,5 a 83,8 por ciento, es decir, 21,3 puntos porcentuales más. Cuatro: el Modelo 2.0 pasa de 3 a 11 agentes especializados, con aprobaciones humanas y sin depender de herramientas externas. La propuesta es validarlo con pilotos acotados y decidir su adopción con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sección: el contexto del sector y un glosario breve con los términos que usaremos durante la presentación. Duración sugerida: dos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datos del sector, cada uno con su fuente primaria. Uno: según el informe DORA 2025 de Google, con cerca de 5.000 profesionales encuestados, el 90 por ciento ya usa IA en su trabajo. Dos: según la encuesta State of Code de Sonar, de enero de 2026, con más de 1.100 desarrolladores, el 42 por ciento del código que se integra ya es generado o asistido por IA. Tres: en esa misma encuesta, el 96 por ciento no confía plenamente en ese código y solo el 48 por ciento lo verifica siempre antes de integrarlo. El curso de desarrollo con IA resume la tendencia para 2026 en cifras similares: 90 por ciento de uso y 45 por ciento del código nuevo escrito por IA. Conclusión: usar IA ya no diferencia a nadie; lo que diferencia es dirigirla con método y control. Fuentes: cloud.google.com/blog (anuncio del informe DORA 2025, 23 de septiembre de 2025) y sonarsource.com/blog (State of Code Developer Survey, 8 de enero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glosario breve para que todos partamos con el mismo vocabulario. SDD significa desarrollo guiado por especificaciones: antes de programar se define qué debe hacer el sistema. TDD significa desarrollo guiado por pruebas: primero se escribe la prueba y después el código que la cumple. Una historia de usuario describe una necesidad del negocio. Una spec es el documento con los requisitos verificables. Vibe coding es pedirle código a la IA sin especificación. Un agente es una IA que trabaja directamente en el repositorio; el orquestador coordina y los subagentes se especializan por etapa. Una skill es conocimiento que el agente carga solo cuando lo necesita. Los tokens miden cuánto texto procesa el modelo y los créditos son la cuota de uso de Copilot. La ventana de contexto es la memoria de trabajo de una sesión. Un hook es un control automático. Y OpenSpec es el framework externo que usamos en el Modelo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sección: cómo evolucionamos mes a mes desde abril, quiénes participaron y cómo era la etapa inicial de vibe coding. Duración sugerida: cuatro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trabajo no empezó en agosto: empezó en abril. Primer clic, la etapa 1. En abril aparecen los primeros usos de agentes de Copilot para refactorizar componentes Angular. En mayo se redactan historias de usuario con Copilot, y un desarrollo con chat web toma una semana con resultados imprecisos. En junio, una funcionalidad de tamaño XL se resuelve en cuatro días con vibe coding, con varias iteraciones, y el propio equipo deja registrado que necesita un método común. En julio comienza el estudio que llevaría al Modelo 1.0, y ya hay conversaciones y reuniones del equipo sobre una guía común. Segundo clic, el Modelo 1.0: del 3 al 14 de agosto se hace la comparación formal de frameworks, el 18 queda el Modelo 1.0 y el 28 resolvemos el bloqueo de entorno con Zero-CLI; en septiembre el modelo se usa en el día a día y el 8 se publica la retrospectiva oficial. Tercer clic, el Modelo 2.0: en octubre aparecen bloqueos de cuentas al correr pruebas y, al quedar prohibido OpenSpec, el 23 de octubre se consolida el estándar propio. Fuentes: bitácora de estrategia y bitácora de adopción de IA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Distintos integrantes de la célula registraron su experiencia en la bitácora de adopción de IA a lo largo de estos meses. Sergio Galaz, como líder técnico de Ecosistemas, condujo el estudio y diseñó los Modelos 1.0 y 2.0. Jerson Pacheco coordinó y participó en el primer estándar y en la retrospectiva oficial. Moises Lagos fue quien más usó la IA en tareas reales de backend y frontend, y su registro muestra con claridad el paso del vibe coding a SDD. Dennisse Cannobbio hizo la investigación inicial sobre SDD y probó el flujo de verificación. Luis Martinez aplicó la IA a análisis y optimizaciones de backend. Y Manuel Zamorano, líder técnico de App Móvil, la usó para pruebas de API. El organigrama y la gobernanza de los activos del ecosistema se presentan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etapa 1 fue de uso individual: cada persona con su herramienta y sus prompts. Tres problemas, uno por clic. Pedidos sin especificación: se pedía código directo al chat web o al agente, a prueba y error. Decisiones dispersas: lo acordado quedaba en chats personales que nadie más podía consultar. Resultados imprecisos: varias iteraciones, partes terminadas a mano y la cuota de tokens agotada. El registro del 19 de mayo lo resume con las palabras del propio equipo, y en junio y agosto el equipo dejó escrito que necesitaba una metodología para reducir el vibe coding. El diagnóstico: la IA no falla por falta de capacidad, sino porque le pedimos cosas subespecificadas.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Tercera sección: qué es SDD explicado en simple, las alternativas que comparamos, los criterios de decisión y quién más en la industria trabaja así. Duración sugerida: seis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estudio partió con una pregunta concreta, que salió de los problemas de la etapa 1: cómo usar la IA en la célula sobre historias de usuario ya definidas antes del sprint, con calidad verificable. Antes de mirar herramientas, fijamos seis requisitos, que fueron el filtro de todo lo que evaluamos. Uno: atacar la causa raíz, que es la subespecificación. Dos: servir a toda la célula y no solo a quien lo usa. Tres: funcionar sobre el código que ya tenemos, sin reescribirlo. Cuatro: encajar con nuestra forma de trabajar en Scrum. Cinco: dejar trazabilidad versionada en Git, junto al código. Seis: funcionar con GitHub Copilot, que es nuestra herramienta, y controlar el consumo de tokens. Con estos seis requisitos revisamos primero el mapa de enfoques, después la estrategia y por último los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los seis requisitos en la mano, primero miramos el mapa completo: las filosofías agénticas que compiten en el mercado. GSD, Get Shit Done, da autonomía media y elimina la ceremonia, pero prioriza la velocidad sobre la trazabilidad; sirve a una persona o a equipos muy pequeños. BMAD-METHOD arma un equipo de agentes con roles como PM, UX, arquitecto y DevOps; está pensado para equipos grandes y, para una célula, resulta pesado, con una curva de aprendizaje de días. Archon, de Cole Medin, ejecuta flujos deterministas definidos en YAML; es muy bueno para tareas repetibles como revisar PR o refactors masivos, pero no cubre el ciclo de una historia de usuario. El loop Rita Vrataski toma de forma autónoma issues aprobados en Linear; sirve para mantenimiento, pero no tiene aprobaciones por etapa. Y el Ralph loop es un bucle infinito que reinicia el contexto en cada vuelta: su costo en tokens es extremo y solo tiene sentido en exploración sobre proyectos nuevos. Ninguno resolvía nuestro problema: trabajar en célula, sobre código existente, con trazabilidad y control humano. Por eso el estudio se enfocó en SDD. Fuente: investigación del equipo sobre arquitectura agéntica.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Descartados esos enfoques, la respuesta al problema de fondo fue SDD con TDD. En palabras simples. Primero, las definiciones. SDD, desarrollo guiado por especificaciones, es acordar antes de programar qué debe hacer el sistema y cómo sabremos que está bien; es como construir con planos aprobados. TDD, desarrollo guiado por pruebas, es escribir primero la prueba que define cuándo algo está terminado, luego el código mínimo que la supera y al final mejorarlo sin romperla; es como fijar la inspección antes de construir. Sobre su origen: TDD tiene más de 20 años; Kent Beck lo formalizó con Extreme Programming a fines de los noventa y en su libro Test-Driven Development: By Example, de 2002. SDD tampoco es nuevo: el desarrollo guiado por especificaciones fue propuesto en 2004 por Ostroff, Makalsky y Paige en la conferencia de Extreme Programming, combinando TDD con el diseño por contrato de Bertrand Meyer, de los años ochenta. Durante años fue una práctica de nicho, porque escribir especificaciones formales era costoso; con la IA eso cambió, porque la especificación pasa a ser la mejor instrucción que se le puede dar a un agente, y en 2025 SDD resurgió con fuerza. Ese año se acuñó el término vibe coding, programar pidiéndole a la IA sin un plan, y rápidamente quedaron a la vista sus límites: la IA rellena con suposiciones lo que no le dijimos. La respuesta de la industria fue darle un acuerdo escrito: Amazon lanzó Kiro en julio de 2025, GitHub publicó Spec Kit en septiembre y Thoughtworks incluyó SDD en su Technology Radar en noviembre. Luego, cómo cambia el flujo. Sin método, el flujo es idea, código y, si queda tiempo, pruebas: la IA rellena con suposiciones todo lo que no le dijimos. Con SDD y TDD cambia el orden: primero la especificación, luego las pruebas, después el código y al final una verificación contra lo especificado. Juntos, hacen que la IA trabaje sobre un acuerdo verificable y no sobre suposiciones.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Descartados los enfoques que no encajaban con una célula, quedaron cuatro finalistas, todos orientados a especificar antes de programar. El 3 de agosto se investigaron a alto nivel SDD y sus frameworks; el 11 se comparó el prompting libre con métodos formales, y el 14 se hizo la evaluación comparativa formal, registrada en la bitácora de estrategia. Spec-Kit, de GitHub, es muy completo, con constitución, plan y tareas, pero está pensado para partir de cero: en código existente exige un gran esfuerzo inicial y alto acoplamiento. Superpowers, de Jesse Vincent, es excelente para TDD riguroso y trabaja con planes y subagentes, pero está pensado para la sesión de un desarrollador y aplica siempre su ciclo completo: algo tan simple como cambiar el borde de un botón podía terminar modificando muchos archivos. Además está diseñado para Claude Code y no para Copilot. Aun así, tomamos de él el TDD estricto, la depuración sistemática y verificar antes de dar algo por terminado. Spec Pulse propone specs primero con un CLI y plantillas, pero su integración está pensada para Claude Code y Gemini CLI, no para GitHub Copilot, que es nuestra herramienta. OpenSpec, de Fission AI, se eligió porque trabaja sobre código existente con specs delta, que solo describen lo que cambia, y funciona con Copilot; su dependencia del CLI y de Node.js 20.19 o superior apareció después, al adoptarlo en las laptops.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es una apuesta aislada: las principales empresas del sector están empujando el mismo enfoque. GitHub, de Microsoft, publicó en septiembre de 2025 Spec Kit, un kit open source de SDD que funciona con GitHub Copilot. Amazon Web Services lanzó en julio de 2025 Kiro, un entorno de desarrollo guiado por specs que escribe los requisitos en notación EARS, la misma que usa nuestro Modelo 2.0. Google presentó en diciembre de 2025 Conductor para Gemini CLI, que guarda specs y planes en Markdown junto al código. Thoughtworks incluyó SDD en su Technology Radar de noviembre de 2025, en el anillo de evaluación; conviene decir que también advierte que los flujos pueden ser elaborados y difíciles de revisar, algo que nuestro modelo aborda con revisores y aprobaciones. Y Anthropic documentó en junio de 2025 que su patrón de orquestador con subagentes superó en 90,2 por ciento a un solo agente en su evaluación interna de investigación, aunque con unas 15 veces más tokens que un chat. Fuentes: github.blog (2 de septiembre de 2025), devclass.com (15 de julio de 2025), developers.googleblog.com (17 de diciembre de 2025), thoughtworks.com/radar (5 de noviembre de 2025) y anthropic.com/engineering (13 de junio de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completo del estudio, como un embudo. Partimos del problema: el vibe coding, donde la IA improvisa porque le pedimos cosas subespecificadas. Revisamos el mapa de enfoques agénticos del mercado, y ninguno de los cinco cumplía los requisitos de una célula. Elegimos la estrategia: SDD con TDD, que ataca la causa raíz porque obliga a especificar y probar antes de programar. Comparamos cuatro frameworks de SDD y quedó OpenSpec, por trabajar de forma incremental sobre código existente y funcionar con Copilot. Sobre OpenSpec construimos tres agentes propios donde la herramienta no llegaba, y el 18 de agosto quedó el Modelo 1.0. En cada paso usamos los mismos seis requisitos como filtro, y la industria, como vimos, va en la misma dirección.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Cuarta sección: el Modelo 1.0, nuestra primera versión del estándar, basada en SDD con OpenSpec. Veremos qué construimos, qué cambió en la práctica, los datos del equipo, una comparación concreta con el vibe coding y las dificultades que enfrentamos. Duración sugerida: siete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1.0 se construyó en unas tres semanas de trabajo intenso, y cada paso quedó fechado en la bitácora. El 18 de agosto, el primer estándar con OpenSpec y el flujo de trabajo en Git. El 21, el diseño de controles automáticos, tomando ideas de gentle-ai sin adoptarlo. El 25, la persistencia de decisiones en archivos del repositorio para que la IA no olvidara lo acordado en sesiones largas. Entre el 25 y el 27, tres agentes propios donde OpenSpec no llegaba: arquitectura, TDD estricto y revisión de código. El 27, la corrección del contrato entre frontend y backend. Del 28 al 31, la estrategia Zero-CLI ante el bloqueo de Node.js. El 2 de septiembre, las directivas de Angular 20; el 4, el agente de arquitectura blindado; y el 8, la retrospectiva oficial.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trabajaba con el Modelo 1.0, como flujo real, de izquierda a derecha y luego de vuelta en la segunda fila. Parte con la historia de usuario. Cada caja es un comando de OpenSpec o uno de nuestros tres agentes, y la franja ocre indica que la persona tenía que lanzarlo a mano: explore para explorar, propose para la especificación y las tareas, el agente architecture para el diseño, tdd-apply para las pruebas y el código, code-review para la revisión, la skill strict-verify para verificar y archive para cerrar. Después de cada paso hay un rombo: la persona revisa el resultado y, si no está bien, corrige y vuelve a lanzar ese paso, que es la flecha punteada. En total, la persona lanza siete comandos y revisa seis veces: es ella la que mueve el flujo de principio a fin. Además, un mismo agente, tdd-apply, escribía pruebas y código, y todo dependía de OpenSpec y Node.js.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cambios prácticos del flujo, uno por clic. Primero, los contratos antes del código: el contrato entre frontend y backend se define y versiona antes de programar; así detectamos y corregimos el 27 de agosto un contrato de respuesta mal documentado. Segundo, historias grandes en cambios pequeños: cada historia se divide en cambios que se verifican por separado; la HU04-1, por ejemplo, se dividió en seis. Tercero, especificaciones detalladas: mientras más precisa la spec, menos iteraciones con la IA y menos créditos consumidos. La cita del equipo, del 26 de agosto, lo dice con sus propias palabras. Además, ganamos código Angular consistente, TDD con evidencia ejecutada y commits trazables por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salen de la bitácora de adopción de IA, donde cada integrante registra sus usos. Comparamos solo tareas de desarrollo y análisis: 16 antes del Modelo 1.0 y 37 después. El indicador principal: las tareas con resultado exitoso pasaron de 62,5 a 83,8 por ciento, es decir, de 10 de 16 a 31 de 37; son 21,3 puntos porcentuales más, una mejora relativa de alrededor de un tercio. En la tabla, dos indicadores de apoyo: las tareas en las que se reportó un riesgo de calidad o precisión bajaron de 37,5 a 16,2 por ciento, y las tareas que inician con análisis y especificación antes de programar subieron de 18,8 a 40,5 por ciento, que es justamente el cambio de hábito que buscábamos. Además, las tareas que tomaban dos días o más pasaron de cuatro de dieciséis a ninguna, y el tiempo promedio declarado por tarea bajó de unas siete horas a poco más de una hora. Estos indicadores comparan el trabajo diario antes y después del Modelo 1.0; la bitácora es una muestra del trabajo y no el registro completo de estos siete meses. La confianza declarada no se muestra porque el equipo la está revisando. Hay que leerlo con prudencia: son datos autoinformados y la muestra es pequeña, así que es un indicador preliminar que los pilotos deben confirmar.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comparación con datos concretos de la bitácora, entre las 16 tareas de desarrollo y análisis hechas con vibe coding y las 37 hechas con el Modelo 1.0. Tamaño: con vibe coding, 4 de 16 tareas duraban dos días o más, y una llegó a una semana; con el Modelo 1.0 ninguna superó una jornada, porque las historias se dividen en cambios pequeños. Por ejemplo, en junio una funcionalidad XL tomó cuatro días con varias iteraciones; en agosto, la HU04-1 se dividió en seis cambios verificables. Tiempo: el promedio por tarea registrada bajó de unas 7 horas a 1 hora y cuarto; ojo, esto refleja tareas más pequeñas, no la misma tarea hecha más rápido. Éxito: de 62,5 a 83,8 por ciento. Créditos: en la etapa 1 no se medían en 9 de 16 tareas, porque se usaba el chat web; con el Modelo 1.0 se registran en 36 de 37. Todavía no hay una línea base comparable de consumo, y por eso los pilotos deben medirlo.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dificultades, en orden cronológico y con su fecha en las bitácoras. El 19 de mayo, el chat web daba resultados imprecisos y agotaba la cuota de tokens; la respuesta fue trabajar dentro del IDE con agentes. El 14 de agosto apareció la resistencia a un flujo más formal, que abordamos con adopción incremental. El 21 de agosto confirmamos que las instrucciones en texto solo se cumplían cerca de un 80 por ciento, y diseñamos controles automáticos. El 25 de agosto, en sesiones largas la IA olvidaba decisiones: cuando hablamos de sesiones largas nos referimos al consumo de tokens, que supera la ventana de contexto o la cuota de la sesión; el umbral técnico exacto está por confirmar. Lo resolvimos guardando las decisiones en el repositorio. El 28 de agosto, Node.js bloqueado en las laptops, resuelto con Zero-CLI. El 7 de septiembre, especificaciones generadas demasiado vagas que obligaban a revisar cada artefacto a mano; el Modelo 2.0 lo aborda con un revisor de specs y tres aprobaciones en puntos clave. El 9 de septiembre, una revisión consumió toda la cuota de la sesión; ahora se usa una sesión por tarea. El 15 de octubre, las nuevas políticas de seguridad bloquean cuentas al correr pruebas del frontend, todavía en análisis. Y en octubre, la prohibición de OpenSpec, que dio origen al Modelo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lección central de la segunda etapa. Cuando las laptops con Node.js antiguo nos impidieron instalar la herramienta, el equipo escribió en la bitácora que el proceso de especificaciones y planes era más importante que el ejecutable. Esa intuición se confirmó en octubre: al quedar prohibido OpenSpec, no perdimos nada esencial, porque la metodología, los artefactos y el aprendizaje ya eran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Quinta sección: el Modelo 2.0, nuestro estándar propio. Veremos por qué lo construimos, cómo es, qué agente actúa en cada etapa, cómo se compara con las etapas anteriores y qué beneficios esperamos. Duración sugerida: seis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detonante del Modelo 2.0 fue que, desde octubre, ya no se puede usar OpenSpec ni herramientas parecidas, debido a las restricciones y bloqueos de herramientas en los equipos de la organización. Pero el Modelo 1.0 ya tenía límites: dependía de un CLI externo y de Node.js 20.19 o superior en cada laptop, exigía revisar a mano cada artefacto, el desarrollador encadenaba cada paso y el TDD dependía de que el agente lo respetara. La decisión fue construir el estándar solo con lo que GitHub Copilot ya trae, versionado en el repositorio y conservando todo lo aprendido. Un detalle: en agosto descartamos un orquestador propio porque OpenSpec ya cubría el ciclo; sin OpenSpec, ese diseño se retomó y se completó.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primero que hay que decir del Modelo 2.0 es que no se armó en una semana: es el resultado de siete meses de trabajo, de abril a octubre, con sesiones de laboratorio, evaluación de herramientas, trabajo con la célula, medición y feedback. Y no es solo un cambio de agentes: es un kit completo, construido por el equipo y versionado como cualquier software, hoy en su versión 1.3. En cifras: 11 agentes de flujo más 2 jueces, 17 skills con el conocimiento de cada etapa, 17 comandos que conducen el trabajo, 3 aprobaciones humanas por funcionalidad y cero herramientas externas que instalar. En capacidades: un orquestador que coordina a 10 especialistas, uno por etapa. Especificaciones con requisitos en notación EARS y una etapa de clarificación antes de la primera aprobación. TDD con roles separados: un agente escribe las pruebas y otro el código, que no puede tocarlas. Juicio dual: dos jueces de modelos de familias distintas revisan a ciegas los cambios de mayor riesgo. Seguridad integrada en cada etapa, con 11 controles base tomados de OWASP, CWE y NIST, que informan y dejan la decisión al desarrollador, sin bloquear. Guardarraíles automáticos que limitan qué puede editar o ejecutar cada agente. Memoria del proyecto: una constitución con los principios y las decisiones que persisten entre sesiones. Y perfiles para Angular 20 y .NET 10, con una regla de diseño simple contra la sobreingeniería. Todo vive en el repositorio y usa solo lo que GitHub Copilot ya trae. En la siguiente lámina vemos cómo fluye 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mismo tipo de diagrama para el Modelo 2.0. La persona entrega la historia de usuario y, desde ahí, el orquestador, sdd-orchestrator, encadena a los especialistas; todo lo que está dentro del recuadro azul ocurre sin que la persona tenga que lanzarlo. El explorador analiza el código, el redactor escribe la especificación en EARS y el revisor la audita; si encuentra problemas, vuelve al redactor de forma automática, la flecha punteada. Recién ahí aparece el primer rombo oscuro: el Gate 1, donde la persona aprueba la especificación. Luego el arquitecto diseña, el planificador divide en tareas y la persona aprueba en el Gate 2. En la segunda fila, para cada tarea, un agente escribe las pruebas en rojo y otro escribe el código que las pasa, sin poder tocarlas; ese ciclo se repite por tarea. Después vienen la revisión de código, o el juicio dual en cambios de riesgo, y la verificación requisito por requisito; si falta algo, vuelve automáticamente a corregir. El archivista cierra y la persona aprueba en el Gate 3. Comparado con el Modelo 1.0: de siete comandos lanzados a mano y seis revisiones, a una entrega y tres aprobaciones.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muestra qué agente interviene en cada etapa del ciclo y cómo pasamos de 3 a 11 agentes. En el Modelo 1.0 había tres agentes propios, architecture, tdd-apply y code-review, que se ven en tono más oscuro; el resto lo hacían los comandos de OpenSpec, una skill de verificación o el propio desarrollador, que además encadenaba los pasos a mano. En el Modelo 2.0 cada etapa tiene su especialista: el orquestador coordina; el explorador analiza el código; el redactor escribe la especificación y el revisor la audita antes de la primera aprobación; el arquitecto diseña y el planificador divide en tareas antes de la segunda aprobación; un agente escribe las pruebas primero y otro distinto implementa el código, sin poder tocar las pruebas; un revisor de código y un verificador independiente evalúan el resultado; y el archivista cierra con trazabilidad antes de la tercera aprobación. La regla de fondo: quien construye nunca evalúa su propio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comparativa resume la evolución en siete dimensiones. La especificación pasó de inexistente a las delta specs de OpenSpec y hoy a una especificación propia con requisitos en notación EARS. La orquestación pasó de cada uno a su manera, a un flujo que el desarrollador encadenaba paso a paso, y hoy a un orquestador con tres aprobaciones humanas. Las pruebas pasaron de opcionales a exigidas por instrucción y hoy impuestas por la separación de roles y los controles automáticos. La verificación es independiente y requisito por requisito. La trazabilidad va desde la historia de usuario hasta el test. La única dependencia es GitHub Copilot. Y el gobierno del proceso queda completamente en manos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que queremos validar: con un especialista por etapa y controles automáticos, la célula entregará más rápido, con menos retrabajo y menos créditos, y con resultados más fiables. La desglosamos en cuatro beneficios esperados, cada uno con su forma de medirlo. Calidad del código: cada requisito tiene su prueba y una verificación independiente; lo mediremos con defectos encontrados en QA y retrabajo por historia. Velocidad: especificaciones claras y tareas de 20 a 30 minutos reducen las iteraciones; lo mediremos con tiempo por historia y número de iteraciones. Consumo de tokens: cada agente trabaja con un contexto acotado y en sesiones cortas; lo mediremos con créditos por historia. Confianza: la evidencia ejecutada y la trazabilidad de requisito a prueba; la mediremos con el porcentaje de requisitos verificados con evidencia. Un punto a vigilar con honestidad: Anthropic reporta que los sistemas multiagente pueden consumir unas 15 veces más tokens que un chat; por eso el consumo es una de las métricas del piloto y no un supuesto.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Última sección: hacia dónde vamos. Veremos las oportunidades de la IA en todo el ciclo de vida de una iniciativa, los riesgos identificados con sus mitigaciones y la propuesta concreta a jefatura. Duración sugerida: cuatro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hablamos de desarrollo, pero una iniciativa empieza mucho antes. Este es su ciclo de vida completo, etapa por etapa. Hipótesis: hoy no usamos IA; es una oportunidad para contrastar supuestos y explorar alternativas. Caso de negocio: ya hay usos puntuales, como la ficha de iniciativa y el pitch que se prepararon con Copilot en septiembre. Maquetas: es una oportunidad; el equipo ya propuso conectar los diseños con la IA para mejorar los resultados en el frontend. Historias de usuario: también hay usos puntuales, como las historias redactadas con Copilot en mayo, y son la base de la especificación del Modelo 2.0. Experiencia de usuario: oportunidad para validar flujos con prototipos antes de construir. Y desarrollo: es donde hoy aplicamos el Modelo 2.0. La oportunidad es llevar el mismo método, especificar, validar y medir, a las etapas previas al desarrollo.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riesgos a tener presentes. La curva de aprendizaje y la resistencia a un flujo más formal, que ya vimos con el Modelo 1.0; la mitigamos con pilotos acotados, una guía y comandos que conducen cada etapa. Algunas funciones de Copilot que usamos están en vista previa; por eso el control está en cinco capas y no depende de una sola. Más agentes implican más consumo de tokens; asignaremos el modelo por etapa y mediremos los créditos por historia, validando con casos reales y no con comparativas de terceros. Los datos de mejora son autoinformados y la muestra es pequeña; los pilotos deben medirse con criterios acordados de antemano. Y las nuevas políticas de seguridad están bloqueando cuentas al ejecutar pruebas del frontend desde el 15 de octubre, algo que conviene revisar con el área de seguridad antes de los pilotos.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propuesta sigue el camino que ya definimos en la bitácora: pilotos de bajo riesgo, escalamiento y gobierno. Primero, pilotos acotados con casos pequeños y de bajo riesgo, usando el Modelo 2.0 completo: el primero es el backoffice de Clínica Virtual, el próximo será el backoffice de banners, y luego se sumarán más proyectos de la célula. Segundo, medirlos con la misma bitácora del equipo: tasa de éxito, retrabajo, tiempo, créditos y defectos, comparados con la línea base que ya tenemos. Tercero, extender el modelo a más repositorios de la célula según los resultados. Cuarto, revisar el estándar cada trimestre. A jefatura le solicitamos tres decisiones: aprobar los pilotos, reservar capacidad del equipo mientras duran y, con los resultados en la mano, decidir si el Modelo 2.0 se adopta como norma de la célula.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en estos meses pasamos de usar la IA sin método a un estándar propio donde la IA ejecuta, pero las decisiones y la responsabilidad siguen en el equipo. Las tres aprobaciones humanas, la separación de roles y la verificación con evidencia existen para eso. Como dice el curso que guió el estudio, la potencia sin control no sirve de nada.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33A"/>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423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33A"/>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4233A"/>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2.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8DB8E0"/>
                </a:solidFill>
                <a:latin typeface="Arial" pitchFamily="34" charset="0"/>
                <a:ea typeface="Arial" pitchFamily="34" charset="-122"/>
                <a:cs typeface="Arial" pitchFamily="34" charset="-120"/>
              </a:rPr>
              <a:t>INFORME PARA JEFATURA · OCTUBRE 2026</a:t>
            </a:r>
            <a:endParaRPr lang="en-US" sz="1400" dirty="0"/>
          </a:p>
        </p:txBody>
      </p:sp>
      <p:sp>
        <p:nvSpPr>
          <p:cNvPr id="3" name="Text 1"/>
          <p:cNvSpPr/>
          <p:nvPr>
            <p:ph type="title"/>
          </p:nvPr>
        </p:nvSpPr>
        <p:spPr>
          <a:xfrm>
            <a:off x="812800" y="2323604"/>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Georgia" pitchFamily="18" charset="0"/>
                <a:ea typeface="Georgia" pitchFamily="18" charset="-122"/>
                <a:cs typeface="Georgia" pitchFamily="18" charset="-120"/>
              </a:rPr>
              <a:t>Evolución del desarrollo asistido por IA en la célula</a:t>
            </a:r>
            <a:endParaRPr lang="en-US" sz="4800" dirty="0"/>
          </a:p>
        </p:txBody>
      </p:sp>
      <p:sp>
        <p:nvSpPr>
          <p:cNvPr id="4" name="Text 2"/>
          <p:cNvSpPr/>
          <p:nvPr/>
        </p:nvSpPr>
        <p:spPr>
          <a:xfrm>
            <a:off x="812800" y="3894336"/>
            <a:ext cx="10883392"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A"/>
                </a:solidFill>
                <a:latin typeface="Arial" pitchFamily="34" charset="0"/>
                <a:ea typeface="Arial" pitchFamily="34" charset="-122"/>
                <a:cs typeface="Arial" pitchFamily="34" charset="-120"/>
              </a:rPr>
              <a:t>De la improvisación (vibe coding) al Modelo 2.0, un estándar propio de Spec-Driven Development con TDD.</a:t>
            </a:r>
            <a:endParaRPr lang="en-US" sz="1800" dirty="0"/>
          </a:p>
        </p:txBody>
      </p:sp>
      <p:sp>
        <p:nvSpPr>
          <p:cNvPr id="5" name="Text 3"/>
          <p:cNvSpPr/>
          <p:nvPr/>
        </p:nvSpPr>
        <p:spPr>
          <a:xfrm>
            <a:off x="812800" y="5796310"/>
            <a:ext cx="483447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FDA"/>
                </a:solidFill>
                <a:latin typeface="Arial" pitchFamily="34" charset="0"/>
                <a:ea typeface="Arial" pitchFamily="34" charset="-122"/>
                <a:cs typeface="Arial" pitchFamily="34" charset="-120"/>
              </a:rPr>
              <a:t>Sergio Galaz · Líder Técnico · Equipo Ecosistemas</a:t>
            </a:r>
            <a:endParaRPr lang="en-US" sz="1400" dirty="0"/>
          </a:p>
        </p:txBody>
      </p:sp>
      <p:sp>
        <p:nvSpPr>
          <p:cNvPr id="6" name="Text 4"/>
          <p:cNvSpPr/>
          <p:nvPr/>
        </p:nvSpPr>
        <p:spPr>
          <a:xfrm>
            <a:off x="9469557" y="5796310"/>
            <a:ext cx="1909643"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D9A55A"/>
                </a:solidFill>
                <a:latin typeface="Arial" pitchFamily="34" charset="0"/>
                <a:ea typeface="Arial" pitchFamily="34" charset="-122"/>
                <a:cs typeface="Arial" pitchFamily="34" charset="-120"/>
              </a:rPr>
              <a:t>Abril – octubre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RESUMEN EJECUTIVO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Cuatro mensajes clave</a:t>
            </a:r>
            <a:endParaRPr lang="en-US" sz="3200" dirty="0"/>
          </a:p>
        </p:txBody>
      </p:sp>
      <p:sp>
        <p:nvSpPr>
          <p:cNvPr id="4" name="Shape 2"/>
          <p:cNvSpPr/>
          <p:nvPr/>
        </p:nvSpPr>
        <p:spPr>
          <a:xfrm>
            <a:off x="815975" y="1908175"/>
            <a:ext cx="5175250" cy="1162050"/>
          </a:xfrm>
          <a:prstGeom prst="roundRect">
            <a:avLst>
              <a:gd name="adj" fmla="val 8470"/>
            </a:avLst>
          </a:prstGeom>
          <a:solidFill>
            <a:srgbClr val="FCFBF7"/>
          </a:solidFill>
          <a:ln w="6350">
            <a:solidFill>
              <a:srgbClr val="DDD8CC"/>
            </a:solidFill>
            <a:prstDash val="solid"/>
          </a:ln>
        </p:spPr>
      </p:sp>
      <p:sp>
        <p:nvSpPr>
          <p:cNvPr id="5" name="Text 3"/>
          <p:cNvSpPr/>
          <p:nvPr/>
        </p:nvSpPr>
        <p:spPr>
          <a:xfrm>
            <a:off x="1022350" y="2089150"/>
            <a:ext cx="162768"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Georgia" pitchFamily="18" charset="0"/>
                <a:ea typeface="Georgia" pitchFamily="18" charset="-122"/>
                <a:cs typeface="Georgia" pitchFamily="18" charset="-120"/>
              </a:rPr>
              <a:t>1</a:t>
            </a:r>
            <a:endParaRPr lang="en-US" sz="1800" dirty="0"/>
          </a:p>
        </p:txBody>
      </p:sp>
      <p:sp>
        <p:nvSpPr>
          <p:cNvPr id="6" name="Text 4"/>
          <p:cNvSpPr/>
          <p:nvPr/>
        </p:nvSpPr>
        <p:spPr>
          <a:xfrm>
            <a:off x="1235918" y="2152650"/>
            <a:ext cx="2596991"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Siete meses de evolución</a:t>
            </a:r>
            <a:endParaRPr lang="en-US" sz="1400" dirty="0"/>
          </a:p>
        </p:txBody>
      </p:sp>
      <p:sp>
        <p:nvSpPr>
          <p:cNvPr id="7" name="Text 5"/>
          <p:cNvSpPr/>
          <p:nvPr/>
        </p:nvSpPr>
        <p:spPr>
          <a:xfrm>
            <a:off x="1022350" y="2459980"/>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De abril a octubre: del uso individual al Modelo 1.0 (agosto) y al Modelo 2.0 (octubre).</a:t>
            </a:r>
            <a:endParaRPr lang="en-US" sz="1200" dirty="0"/>
          </a:p>
        </p:txBody>
      </p:sp>
      <p:sp>
        <p:nvSpPr>
          <p:cNvPr id="8" name="Shape 6"/>
          <p:cNvSpPr/>
          <p:nvPr/>
        </p:nvSpPr>
        <p:spPr>
          <a:xfrm>
            <a:off x="6200775" y="1908175"/>
            <a:ext cx="5175250" cy="1162050"/>
          </a:xfrm>
          <a:prstGeom prst="roundRect">
            <a:avLst>
              <a:gd name="adj" fmla="val 8470"/>
            </a:avLst>
          </a:prstGeom>
          <a:solidFill>
            <a:srgbClr val="FCFBF7"/>
          </a:solidFill>
          <a:ln w="6350">
            <a:solidFill>
              <a:srgbClr val="DDD8CC"/>
            </a:solidFill>
            <a:prstDash val="solid"/>
          </a:ln>
        </p:spPr>
      </p:sp>
      <p:sp>
        <p:nvSpPr>
          <p:cNvPr id="9" name="Text 7"/>
          <p:cNvSpPr/>
          <p:nvPr/>
        </p:nvSpPr>
        <p:spPr>
          <a:xfrm>
            <a:off x="6407150" y="2089150"/>
            <a:ext cx="19402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Georgia" pitchFamily="18" charset="0"/>
                <a:ea typeface="Georgia" pitchFamily="18" charset="-122"/>
                <a:cs typeface="Georgia" pitchFamily="18" charset="-120"/>
              </a:rPr>
              <a:t>2</a:t>
            </a:r>
            <a:endParaRPr lang="en-US" sz="1800" dirty="0"/>
          </a:p>
        </p:txBody>
      </p:sp>
      <p:sp>
        <p:nvSpPr>
          <p:cNvPr id="10" name="Text 8"/>
          <p:cNvSpPr/>
          <p:nvPr/>
        </p:nvSpPr>
        <p:spPr>
          <a:xfrm>
            <a:off x="6651972" y="2152650"/>
            <a:ext cx="2845296"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Una decisión fundamentada</a:t>
            </a:r>
            <a:endParaRPr lang="en-US" sz="1400" dirty="0"/>
          </a:p>
        </p:txBody>
      </p:sp>
      <p:sp>
        <p:nvSpPr>
          <p:cNvPr id="11" name="Text 9"/>
          <p:cNvSpPr/>
          <p:nvPr/>
        </p:nvSpPr>
        <p:spPr>
          <a:xfrm>
            <a:off x="6407150" y="2459980"/>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SDD se eligió tras un estudio comparativo; GitHub, AWS y Google impulsan el mismo enfoque.</a:t>
            </a:r>
            <a:endParaRPr lang="en-US" sz="1200" dirty="0"/>
          </a:p>
        </p:txBody>
      </p:sp>
      <p:sp>
        <p:nvSpPr>
          <p:cNvPr id="12" name="Shape 10"/>
          <p:cNvSpPr/>
          <p:nvPr/>
        </p:nvSpPr>
        <p:spPr>
          <a:xfrm>
            <a:off x="815975" y="3228975"/>
            <a:ext cx="5175250" cy="1162050"/>
          </a:xfrm>
          <a:prstGeom prst="roundRect">
            <a:avLst>
              <a:gd name="adj" fmla="val 8470"/>
            </a:avLst>
          </a:prstGeom>
          <a:solidFill>
            <a:srgbClr val="FCFBF7"/>
          </a:solidFill>
          <a:ln w="6350">
            <a:solidFill>
              <a:srgbClr val="DDD8CC"/>
            </a:solidFill>
            <a:prstDash val="solid"/>
          </a:ln>
        </p:spPr>
      </p:sp>
      <p:sp>
        <p:nvSpPr>
          <p:cNvPr id="13" name="Text 11"/>
          <p:cNvSpPr/>
          <p:nvPr/>
        </p:nvSpPr>
        <p:spPr>
          <a:xfrm>
            <a:off x="1022350" y="3409950"/>
            <a:ext cx="193576"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Georgia" pitchFamily="18" charset="0"/>
                <a:ea typeface="Georgia" pitchFamily="18" charset="-122"/>
                <a:cs typeface="Georgia" pitchFamily="18" charset="-120"/>
              </a:rPr>
              <a:t>3</a:t>
            </a:r>
            <a:endParaRPr lang="en-US" sz="1800" dirty="0"/>
          </a:p>
        </p:txBody>
      </p:sp>
      <p:sp>
        <p:nvSpPr>
          <p:cNvPr id="14" name="Text 12"/>
          <p:cNvSpPr/>
          <p:nvPr/>
        </p:nvSpPr>
        <p:spPr>
          <a:xfrm>
            <a:off x="1266726" y="3473450"/>
            <a:ext cx="155323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Mejora medible</a:t>
            </a:r>
            <a:endParaRPr lang="en-US" sz="1400" dirty="0"/>
          </a:p>
        </p:txBody>
      </p:sp>
      <p:sp>
        <p:nvSpPr>
          <p:cNvPr id="15" name="Text 13"/>
          <p:cNvSpPr/>
          <p:nvPr/>
        </p:nvSpPr>
        <p:spPr>
          <a:xfrm>
            <a:off x="1022350" y="3780780"/>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Con el Modelo 1.0, las tareas exitosas pasaron de 62,5 % a 83,8 % (+21,3 puntos).</a:t>
            </a:r>
            <a:endParaRPr lang="en-US" sz="1200" dirty="0"/>
          </a:p>
        </p:txBody>
      </p:sp>
      <p:sp>
        <p:nvSpPr>
          <p:cNvPr id="16" name="Shape 14"/>
          <p:cNvSpPr/>
          <p:nvPr/>
        </p:nvSpPr>
        <p:spPr>
          <a:xfrm>
            <a:off x="6200775" y="3228975"/>
            <a:ext cx="5175250" cy="1162050"/>
          </a:xfrm>
          <a:prstGeom prst="roundRect">
            <a:avLst>
              <a:gd name="adj" fmla="val 8470"/>
            </a:avLst>
          </a:prstGeom>
          <a:solidFill>
            <a:srgbClr val="FCFBF7"/>
          </a:solidFill>
          <a:ln w="6350">
            <a:solidFill>
              <a:srgbClr val="DDD8CC"/>
            </a:solidFill>
            <a:prstDash val="solid"/>
          </a:ln>
        </p:spPr>
      </p:sp>
      <p:sp>
        <p:nvSpPr>
          <p:cNvPr id="17" name="Text 15"/>
          <p:cNvSpPr/>
          <p:nvPr/>
        </p:nvSpPr>
        <p:spPr>
          <a:xfrm>
            <a:off x="6407150" y="3409950"/>
            <a:ext cx="199281"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Georgia" pitchFamily="18" charset="0"/>
                <a:ea typeface="Georgia" pitchFamily="18" charset="-122"/>
                <a:cs typeface="Georgia" pitchFamily="18" charset="-120"/>
              </a:rPr>
              <a:t>4</a:t>
            </a:r>
            <a:endParaRPr lang="en-US" sz="1800" dirty="0"/>
          </a:p>
        </p:txBody>
      </p:sp>
      <p:sp>
        <p:nvSpPr>
          <p:cNvPr id="18" name="Text 16"/>
          <p:cNvSpPr/>
          <p:nvPr/>
        </p:nvSpPr>
        <p:spPr>
          <a:xfrm>
            <a:off x="6657231" y="3473450"/>
            <a:ext cx="284517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Modelo 2.0: estándar propio</a:t>
            </a:r>
            <a:endParaRPr lang="en-US" sz="1400" dirty="0"/>
          </a:p>
        </p:txBody>
      </p:sp>
      <p:sp>
        <p:nvSpPr>
          <p:cNvPr id="19" name="Text 17"/>
          <p:cNvSpPr/>
          <p:nvPr/>
        </p:nvSpPr>
        <p:spPr>
          <a:xfrm>
            <a:off x="6407150" y="3780780"/>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De 3 a 11 agentes especializados, con aprobaciones humanas y sin herramientas externas.</a:t>
            </a:r>
            <a:endParaRPr lang="en-US" sz="1200" dirty="0"/>
          </a:p>
        </p:txBody>
      </p:sp>
      <p:sp>
        <p:nvSpPr>
          <p:cNvPr id="20" name="Shape 18"/>
          <p:cNvSpPr/>
          <p:nvPr/>
        </p:nvSpPr>
        <p:spPr>
          <a:xfrm>
            <a:off x="812800" y="4648200"/>
            <a:ext cx="10566400" cy="812800"/>
          </a:xfrm>
          <a:prstGeom prst="roundRect">
            <a:avLst>
              <a:gd name="adj" fmla="val 12500"/>
            </a:avLst>
          </a:prstGeom>
          <a:solidFill>
            <a:srgbClr val="14233A"/>
          </a:solidFill>
          <a:ln/>
        </p:spPr>
      </p:sp>
      <p:sp>
        <p:nvSpPr>
          <p:cNvPr id="21" name="Text 19"/>
          <p:cNvSpPr/>
          <p:nvPr/>
        </p:nvSpPr>
        <p:spPr>
          <a:xfrm>
            <a:off x="1016000" y="4947940"/>
            <a:ext cx="1093788"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D9A55A"/>
                </a:solidFill>
                <a:latin typeface="Arial" pitchFamily="34" charset="0"/>
                <a:ea typeface="Arial" pitchFamily="34" charset="-122"/>
                <a:cs typeface="Arial" pitchFamily="34" charset="-120"/>
              </a:rPr>
              <a:t>PROPUESTA</a:t>
            </a:r>
            <a:endParaRPr lang="en-US" sz="1200" dirty="0"/>
          </a:p>
        </p:txBody>
      </p:sp>
      <p:sp>
        <p:nvSpPr>
          <p:cNvPr id="22" name="Text 20"/>
          <p:cNvSpPr/>
          <p:nvPr/>
        </p:nvSpPr>
        <p:spPr>
          <a:xfrm>
            <a:off x="2211388" y="4930130"/>
            <a:ext cx="923355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Validar el Modelo 2.0 con pilotos acotados y decidir su adopción según los resultados.</a:t>
            </a:r>
            <a:endParaRPr lang="en-US" sz="1400" dirty="0"/>
          </a:p>
        </p:txBody>
      </p:sp>
      <p:sp>
        <p:nvSpPr>
          <p:cNvPr id="23" name="Text 21"/>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24" name="Text 22"/>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7F6F2"/>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8DB8E0"/>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3A4B63"/>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3A4B63"/>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3A4B63"/>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3A4B63"/>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3A4B63"/>
          </a:solidFill>
          <a:ln/>
        </p:spPr>
      </p:sp>
      <p:sp>
        <p:nvSpPr>
          <p:cNvPr id="14" name="Text 12"/>
          <p:cNvSpPr/>
          <p:nvPr/>
        </p:nvSpPr>
        <p:spPr>
          <a:xfrm>
            <a:off x="812800" y="2431802"/>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A55A"/>
                </a:solidFill>
                <a:latin typeface="Georgia" pitchFamily="18" charset="0"/>
                <a:ea typeface="Georgia" pitchFamily="18" charset="-122"/>
                <a:cs typeface="Georgia" pitchFamily="18" charset="-120"/>
              </a:rPr>
              <a:t>01</a:t>
            </a:r>
            <a:endParaRPr lang="en-US" sz="4800" dirty="0"/>
          </a:p>
        </p:txBody>
      </p:sp>
      <p:sp>
        <p:nvSpPr>
          <p:cNvPr id="15" name="Text 13"/>
          <p:cNvSpPr/>
          <p:nvPr>
            <p:ph type="title"/>
          </p:nvPr>
        </p:nvSpPr>
        <p:spPr>
          <a:xfrm>
            <a:off x="812800" y="3244602"/>
            <a:ext cx="10883392" cy="68376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Georgia" pitchFamily="18" charset="0"/>
                <a:ea typeface="Georgia" pitchFamily="18" charset="-122"/>
                <a:cs typeface="Georgia" pitchFamily="18" charset="-120"/>
              </a:rPr>
              <a:t>Contexto</a:t>
            </a:r>
            <a:endParaRPr lang="en-US" sz="4800" dirty="0"/>
          </a:p>
        </p:txBody>
      </p:sp>
      <p:sp>
        <p:nvSpPr>
          <p:cNvPr id="16" name="Text 14"/>
          <p:cNvSpPr/>
          <p:nvPr/>
        </p:nvSpPr>
        <p:spPr>
          <a:xfrm>
            <a:off x="812800" y="4106168"/>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A"/>
                </a:solidFill>
                <a:latin typeface="Arial" pitchFamily="34" charset="0"/>
                <a:ea typeface="Arial" pitchFamily="34" charset="-122"/>
                <a:cs typeface="Arial" pitchFamily="34" charset="-120"/>
              </a:rPr>
              <a:t>Por qué dirigir la IA con método y control.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DDD8CC"/>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DDD8CC"/>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CONTEXTO DEL SECTOR</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Por qué este tema es estratégico</a:t>
            </a:r>
            <a:endParaRPr lang="en-US" sz="3200" dirty="0"/>
          </a:p>
        </p:txBody>
      </p:sp>
      <p:sp>
        <p:nvSpPr>
          <p:cNvPr id="16" name="Shape 14"/>
          <p:cNvSpPr/>
          <p:nvPr/>
        </p:nvSpPr>
        <p:spPr>
          <a:xfrm>
            <a:off x="822325" y="1905000"/>
            <a:ext cx="0" cy="2159000"/>
          </a:xfrm>
          <a:prstGeom prst="line">
            <a:avLst/>
          </a:prstGeom>
          <a:noFill/>
          <a:ln w="19050">
            <a:solidFill>
              <a:srgbClr val="DDD8CC"/>
            </a:solidFill>
            <a:prstDash val="solid"/>
          </a:ln>
        </p:spPr>
      </p:sp>
      <p:sp>
        <p:nvSpPr>
          <p:cNvPr id="17" name="Text 15"/>
          <p:cNvSpPr/>
          <p:nvPr/>
        </p:nvSpPr>
        <p:spPr>
          <a:xfrm>
            <a:off x="1009650" y="1905000"/>
            <a:ext cx="3211386"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B5F8E"/>
                </a:solidFill>
                <a:latin typeface="Georgia" pitchFamily="18" charset="0"/>
                <a:ea typeface="Georgia" pitchFamily="18" charset="-122"/>
                <a:cs typeface="Georgia" pitchFamily="18" charset="-120"/>
              </a:rPr>
              <a:t>90 %</a:t>
            </a:r>
            <a:endParaRPr lang="en-US" sz="4800" dirty="0"/>
          </a:p>
        </p:txBody>
      </p:sp>
      <p:sp>
        <p:nvSpPr>
          <p:cNvPr id="18" name="Text 16"/>
          <p:cNvSpPr/>
          <p:nvPr/>
        </p:nvSpPr>
        <p:spPr>
          <a:xfrm>
            <a:off x="1009650" y="2651720"/>
            <a:ext cx="321138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33A"/>
                </a:solidFill>
                <a:latin typeface="Arial" pitchFamily="34" charset="0"/>
                <a:ea typeface="Arial" pitchFamily="34" charset="-122"/>
                <a:cs typeface="Arial" pitchFamily="34" charset="-120"/>
              </a:rPr>
              <a:t>de los profesionales de tecnología usa IA en su trabajo</a:t>
            </a:r>
            <a:endParaRPr lang="en-US" sz="1400" dirty="0"/>
          </a:p>
        </p:txBody>
      </p:sp>
      <p:sp>
        <p:nvSpPr>
          <p:cNvPr id="19" name="Text 17"/>
          <p:cNvSpPr/>
          <p:nvPr/>
        </p:nvSpPr>
        <p:spPr>
          <a:xfrm>
            <a:off x="1009650" y="3225701"/>
            <a:ext cx="32113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DORA 2025 · Google · cerca de 5.000 encuestados</a:t>
            </a:r>
            <a:endParaRPr lang="en-US" sz="1200" dirty="0"/>
          </a:p>
        </p:txBody>
      </p:sp>
      <p:sp>
        <p:nvSpPr>
          <p:cNvPr id="20" name="Shape 18"/>
          <p:cNvSpPr/>
          <p:nvPr/>
        </p:nvSpPr>
        <p:spPr>
          <a:xfrm>
            <a:off x="4448175" y="1905000"/>
            <a:ext cx="0" cy="2159000"/>
          </a:xfrm>
          <a:prstGeom prst="line">
            <a:avLst/>
          </a:prstGeom>
          <a:noFill/>
          <a:ln w="19050">
            <a:solidFill>
              <a:srgbClr val="DDD8CC"/>
            </a:solidFill>
            <a:prstDash val="solid"/>
          </a:ln>
        </p:spPr>
      </p:sp>
      <p:sp>
        <p:nvSpPr>
          <p:cNvPr id="21" name="Text 19"/>
          <p:cNvSpPr/>
          <p:nvPr/>
        </p:nvSpPr>
        <p:spPr>
          <a:xfrm>
            <a:off x="4635500" y="1905000"/>
            <a:ext cx="3211386"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B5F8E"/>
                </a:solidFill>
                <a:latin typeface="Georgia" pitchFamily="18" charset="0"/>
                <a:ea typeface="Georgia" pitchFamily="18" charset="-122"/>
                <a:cs typeface="Georgia" pitchFamily="18" charset="-120"/>
              </a:rPr>
              <a:t>42 %</a:t>
            </a:r>
            <a:endParaRPr lang="en-US" sz="4800" dirty="0"/>
          </a:p>
        </p:txBody>
      </p:sp>
      <p:sp>
        <p:nvSpPr>
          <p:cNvPr id="22" name="Text 20"/>
          <p:cNvSpPr/>
          <p:nvPr/>
        </p:nvSpPr>
        <p:spPr>
          <a:xfrm>
            <a:off x="4635500" y="2651720"/>
            <a:ext cx="321138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33A"/>
                </a:solidFill>
                <a:latin typeface="Arial" pitchFamily="34" charset="0"/>
                <a:ea typeface="Arial" pitchFamily="34" charset="-122"/>
                <a:cs typeface="Arial" pitchFamily="34" charset="-120"/>
              </a:rPr>
              <a:t>del código que integran los desarrolladores es generado o asistido por IA</a:t>
            </a:r>
            <a:endParaRPr lang="en-US" sz="1400" dirty="0"/>
          </a:p>
        </p:txBody>
      </p:sp>
      <p:sp>
        <p:nvSpPr>
          <p:cNvPr id="23" name="Text 21"/>
          <p:cNvSpPr/>
          <p:nvPr/>
        </p:nvSpPr>
        <p:spPr>
          <a:xfrm>
            <a:off x="4635500" y="3474591"/>
            <a:ext cx="32113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Sonar · State of Code · enero 2026</a:t>
            </a:r>
            <a:endParaRPr lang="en-US" sz="1200" dirty="0"/>
          </a:p>
        </p:txBody>
      </p:sp>
      <p:sp>
        <p:nvSpPr>
          <p:cNvPr id="24" name="Shape 22"/>
          <p:cNvSpPr/>
          <p:nvPr/>
        </p:nvSpPr>
        <p:spPr>
          <a:xfrm>
            <a:off x="8074025" y="1905000"/>
            <a:ext cx="0" cy="2159000"/>
          </a:xfrm>
          <a:prstGeom prst="line">
            <a:avLst/>
          </a:prstGeom>
          <a:noFill/>
          <a:ln w="19050">
            <a:solidFill>
              <a:srgbClr val="DDD8CC"/>
            </a:solidFill>
            <a:prstDash val="solid"/>
          </a:ln>
        </p:spPr>
      </p:sp>
      <p:sp>
        <p:nvSpPr>
          <p:cNvPr id="25" name="Text 23"/>
          <p:cNvSpPr/>
          <p:nvPr/>
        </p:nvSpPr>
        <p:spPr>
          <a:xfrm>
            <a:off x="8261350" y="1905000"/>
            <a:ext cx="3211386"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8C5A12"/>
                </a:solidFill>
                <a:latin typeface="Georgia" pitchFamily="18" charset="0"/>
                <a:ea typeface="Georgia" pitchFamily="18" charset="-122"/>
                <a:cs typeface="Georgia" pitchFamily="18" charset="-120"/>
              </a:rPr>
              <a:t>96 %</a:t>
            </a:r>
            <a:endParaRPr lang="en-US" sz="4800" dirty="0"/>
          </a:p>
        </p:txBody>
      </p:sp>
      <p:sp>
        <p:nvSpPr>
          <p:cNvPr id="26" name="Text 24"/>
          <p:cNvSpPr/>
          <p:nvPr/>
        </p:nvSpPr>
        <p:spPr>
          <a:xfrm>
            <a:off x="8261350" y="2651720"/>
            <a:ext cx="321138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33A"/>
                </a:solidFill>
                <a:latin typeface="Arial" pitchFamily="34" charset="0"/>
                <a:ea typeface="Arial" pitchFamily="34" charset="-122"/>
                <a:cs typeface="Arial" pitchFamily="34" charset="-120"/>
              </a:rPr>
              <a:t>no confía plenamente en ese código; solo el 48 % lo verifica siempre</a:t>
            </a:r>
            <a:endParaRPr lang="en-US" sz="1400" dirty="0"/>
          </a:p>
        </p:txBody>
      </p:sp>
      <p:sp>
        <p:nvSpPr>
          <p:cNvPr id="27" name="Text 25"/>
          <p:cNvSpPr/>
          <p:nvPr/>
        </p:nvSpPr>
        <p:spPr>
          <a:xfrm>
            <a:off x="8261350" y="3225701"/>
            <a:ext cx="32113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Sonar · State of Code · enero 2026</a:t>
            </a:r>
            <a:endParaRPr lang="en-US" sz="1200" dirty="0"/>
          </a:p>
        </p:txBody>
      </p:sp>
      <p:sp>
        <p:nvSpPr>
          <p:cNvPr id="28" name="Text 26"/>
          <p:cNvSpPr/>
          <p:nvPr/>
        </p:nvSpPr>
        <p:spPr>
          <a:xfrm>
            <a:off x="812800" y="438150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33A"/>
                </a:solidFill>
                <a:latin typeface="Georgia" pitchFamily="18" charset="0"/>
                <a:ea typeface="Georgia" pitchFamily="18" charset="-122"/>
                <a:cs typeface="Georgia" pitchFamily="18" charset="-120"/>
              </a:rPr>
              <a:t>El reto ya no es adoptar la IA, sino dirigirla con método y control.</a:t>
            </a:r>
            <a:endParaRPr lang="en-US" sz="1800" dirty="0"/>
          </a:p>
        </p:txBody>
      </p:sp>
      <p:sp>
        <p:nvSpPr>
          <p:cNvPr id="29" name="Text 27"/>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30" name="Text 28"/>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DDD8CC"/>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DDD8CC"/>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GLOSARIO</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Los términos de esta presentación</a:t>
            </a:r>
            <a:endParaRPr lang="en-US" sz="3200" dirty="0"/>
          </a:p>
        </p:txBody>
      </p:sp>
      <p:sp>
        <p:nvSpPr>
          <p:cNvPr id="16" name="Shape 14"/>
          <p:cNvSpPr/>
          <p:nvPr/>
        </p:nvSpPr>
        <p:spPr>
          <a:xfrm>
            <a:off x="812800" y="1903016"/>
            <a:ext cx="3386634" cy="0"/>
          </a:xfrm>
          <a:prstGeom prst="line">
            <a:avLst/>
          </a:prstGeom>
          <a:noFill/>
          <a:ln w="6350">
            <a:solidFill>
              <a:srgbClr val="DDD8CC"/>
            </a:solidFill>
            <a:prstDash val="solid"/>
          </a:ln>
        </p:spPr>
      </p:sp>
      <p:sp>
        <p:nvSpPr>
          <p:cNvPr id="17" name="Text 15"/>
          <p:cNvSpPr/>
          <p:nvPr/>
        </p:nvSpPr>
        <p:spPr>
          <a:xfrm>
            <a:off x="812800" y="1982391"/>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SDD · Spec-Driven Development</a:t>
            </a:r>
            <a:endParaRPr lang="en-US" sz="1200" dirty="0"/>
          </a:p>
        </p:txBody>
      </p:sp>
      <p:sp>
        <p:nvSpPr>
          <p:cNvPr id="18" name="Text 16"/>
          <p:cNvSpPr/>
          <p:nvPr/>
        </p:nvSpPr>
        <p:spPr>
          <a:xfrm>
            <a:off x="812800" y="2221111"/>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Desarrollo guiado por especificaciones: primero se define qué hacer.</a:t>
            </a:r>
            <a:endParaRPr lang="en-US" sz="1200" dirty="0"/>
          </a:p>
        </p:txBody>
      </p:sp>
      <p:sp>
        <p:nvSpPr>
          <p:cNvPr id="19" name="Shape 17"/>
          <p:cNvSpPr/>
          <p:nvPr/>
        </p:nvSpPr>
        <p:spPr>
          <a:xfrm>
            <a:off x="4402634" y="1903016"/>
            <a:ext cx="3386683" cy="0"/>
          </a:xfrm>
          <a:prstGeom prst="line">
            <a:avLst/>
          </a:prstGeom>
          <a:noFill/>
          <a:ln w="6350">
            <a:solidFill>
              <a:srgbClr val="DDD8CC"/>
            </a:solidFill>
            <a:prstDash val="solid"/>
          </a:ln>
        </p:spPr>
      </p:sp>
      <p:sp>
        <p:nvSpPr>
          <p:cNvPr id="20" name="Text 18"/>
          <p:cNvSpPr/>
          <p:nvPr/>
        </p:nvSpPr>
        <p:spPr>
          <a:xfrm>
            <a:off x="4402634" y="1982391"/>
            <a:ext cx="3488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TDD · Test-Driven Development</a:t>
            </a:r>
            <a:endParaRPr lang="en-US" sz="1200" dirty="0"/>
          </a:p>
        </p:txBody>
      </p:sp>
      <p:sp>
        <p:nvSpPr>
          <p:cNvPr id="21" name="Text 19"/>
          <p:cNvSpPr/>
          <p:nvPr/>
        </p:nvSpPr>
        <p:spPr>
          <a:xfrm>
            <a:off x="4402634" y="2221111"/>
            <a:ext cx="34882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Desarrollo guiado por pruebas: primero la prueba, luego el código.</a:t>
            </a:r>
            <a:endParaRPr lang="en-US" sz="1200" dirty="0"/>
          </a:p>
        </p:txBody>
      </p:sp>
      <p:sp>
        <p:nvSpPr>
          <p:cNvPr id="22" name="Shape 20"/>
          <p:cNvSpPr/>
          <p:nvPr/>
        </p:nvSpPr>
        <p:spPr>
          <a:xfrm>
            <a:off x="7992517" y="1903016"/>
            <a:ext cx="3386634" cy="0"/>
          </a:xfrm>
          <a:prstGeom prst="line">
            <a:avLst/>
          </a:prstGeom>
          <a:noFill/>
          <a:ln w="6350">
            <a:solidFill>
              <a:srgbClr val="DDD8CC"/>
            </a:solidFill>
            <a:prstDash val="solid"/>
          </a:ln>
        </p:spPr>
      </p:sp>
      <p:sp>
        <p:nvSpPr>
          <p:cNvPr id="23" name="Text 21"/>
          <p:cNvSpPr/>
          <p:nvPr/>
        </p:nvSpPr>
        <p:spPr>
          <a:xfrm>
            <a:off x="7992517" y="1982391"/>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HU · Historia de usuario</a:t>
            </a:r>
            <a:endParaRPr lang="en-US" sz="1200" dirty="0"/>
          </a:p>
        </p:txBody>
      </p:sp>
      <p:sp>
        <p:nvSpPr>
          <p:cNvPr id="24" name="Text 22"/>
          <p:cNvSpPr/>
          <p:nvPr/>
        </p:nvSpPr>
        <p:spPr>
          <a:xfrm>
            <a:off x="7992517" y="2221111"/>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Necesidad del negocio descrita desde el punto de vista del usuario.</a:t>
            </a:r>
            <a:endParaRPr lang="en-US" sz="1200" dirty="0"/>
          </a:p>
        </p:txBody>
      </p:sp>
      <p:sp>
        <p:nvSpPr>
          <p:cNvPr id="25" name="Shape 23"/>
          <p:cNvSpPr/>
          <p:nvPr/>
        </p:nvSpPr>
        <p:spPr>
          <a:xfrm>
            <a:off x="812800" y="2803327"/>
            <a:ext cx="3386634" cy="0"/>
          </a:xfrm>
          <a:prstGeom prst="line">
            <a:avLst/>
          </a:prstGeom>
          <a:noFill/>
          <a:ln w="6350">
            <a:solidFill>
              <a:srgbClr val="DDD8CC"/>
            </a:solidFill>
            <a:prstDash val="solid"/>
          </a:ln>
        </p:spPr>
      </p:sp>
      <p:sp>
        <p:nvSpPr>
          <p:cNvPr id="26" name="Text 24"/>
          <p:cNvSpPr/>
          <p:nvPr/>
        </p:nvSpPr>
        <p:spPr>
          <a:xfrm>
            <a:off x="812800" y="2882702"/>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Spec · Especificación</a:t>
            </a:r>
            <a:endParaRPr lang="en-US" sz="1200" dirty="0"/>
          </a:p>
        </p:txBody>
      </p:sp>
      <p:sp>
        <p:nvSpPr>
          <p:cNvPr id="27" name="Text 25"/>
          <p:cNvSpPr/>
          <p:nvPr/>
        </p:nvSpPr>
        <p:spPr>
          <a:xfrm>
            <a:off x="812800" y="3121422"/>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Documento con requisitos y criterios de aceptación verificables.</a:t>
            </a:r>
            <a:endParaRPr lang="en-US" sz="1200" dirty="0"/>
          </a:p>
        </p:txBody>
      </p:sp>
      <p:sp>
        <p:nvSpPr>
          <p:cNvPr id="28" name="Shape 26"/>
          <p:cNvSpPr/>
          <p:nvPr/>
        </p:nvSpPr>
        <p:spPr>
          <a:xfrm>
            <a:off x="4402634" y="2803327"/>
            <a:ext cx="3386683" cy="0"/>
          </a:xfrm>
          <a:prstGeom prst="line">
            <a:avLst/>
          </a:prstGeom>
          <a:noFill/>
          <a:ln w="6350">
            <a:solidFill>
              <a:srgbClr val="DDD8CC"/>
            </a:solidFill>
            <a:prstDash val="solid"/>
          </a:ln>
        </p:spPr>
      </p:sp>
      <p:sp>
        <p:nvSpPr>
          <p:cNvPr id="29" name="Text 27"/>
          <p:cNvSpPr/>
          <p:nvPr/>
        </p:nvSpPr>
        <p:spPr>
          <a:xfrm>
            <a:off x="4402634" y="2882702"/>
            <a:ext cx="3488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Vibe coding</a:t>
            </a:r>
            <a:endParaRPr lang="en-US" sz="1200" dirty="0"/>
          </a:p>
        </p:txBody>
      </p:sp>
      <p:sp>
        <p:nvSpPr>
          <p:cNvPr id="30" name="Text 28"/>
          <p:cNvSpPr/>
          <p:nvPr/>
        </p:nvSpPr>
        <p:spPr>
          <a:xfrm>
            <a:off x="4402634" y="3121422"/>
            <a:ext cx="34882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Pedirle código a la IA sin especificación previa, a prueba y error.</a:t>
            </a:r>
            <a:endParaRPr lang="en-US" sz="1200" dirty="0"/>
          </a:p>
        </p:txBody>
      </p:sp>
      <p:sp>
        <p:nvSpPr>
          <p:cNvPr id="31" name="Shape 29"/>
          <p:cNvSpPr/>
          <p:nvPr/>
        </p:nvSpPr>
        <p:spPr>
          <a:xfrm>
            <a:off x="7992517" y="2803327"/>
            <a:ext cx="3386634" cy="0"/>
          </a:xfrm>
          <a:prstGeom prst="line">
            <a:avLst/>
          </a:prstGeom>
          <a:noFill/>
          <a:ln w="6350">
            <a:solidFill>
              <a:srgbClr val="DDD8CC"/>
            </a:solidFill>
            <a:prstDash val="solid"/>
          </a:ln>
        </p:spPr>
      </p:sp>
      <p:sp>
        <p:nvSpPr>
          <p:cNvPr id="32" name="Text 30"/>
          <p:cNvSpPr/>
          <p:nvPr/>
        </p:nvSpPr>
        <p:spPr>
          <a:xfrm>
            <a:off x="7992517" y="2882702"/>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Agente</a:t>
            </a:r>
            <a:endParaRPr lang="en-US" sz="1200" dirty="0"/>
          </a:p>
        </p:txBody>
      </p:sp>
      <p:sp>
        <p:nvSpPr>
          <p:cNvPr id="33" name="Text 31"/>
          <p:cNvSpPr/>
          <p:nvPr/>
        </p:nvSpPr>
        <p:spPr>
          <a:xfrm>
            <a:off x="7992517" y="3121422"/>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IA que trabaja en el repositorio con herramientas: lee, edita y ejecuta.</a:t>
            </a:r>
            <a:endParaRPr lang="en-US" sz="1200" dirty="0"/>
          </a:p>
        </p:txBody>
      </p:sp>
      <p:sp>
        <p:nvSpPr>
          <p:cNvPr id="34" name="Shape 32"/>
          <p:cNvSpPr/>
          <p:nvPr/>
        </p:nvSpPr>
        <p:spPr>
          <a:xfrm>
            <a:off x="812800" y="3703638"/>
            <a:ext cx="3386634" cy="0"/>
          </a:xfrm>
          <a:prstGeom prst="line">
            <a:avLst/>
          </a:prstGeom>
          <a:noFill/>
          <a:ln w="6350">
            <a:solidFill>
              <a:srgbClr val="DDD8CC"/>
            </a:solidFill>
            <a:prstDash val="solid"/>
          </a:ln>
        </p:spPr>
      </p:sp>
      <p:sp>
        <p:nvSpPr>
          <p:cNvPr id="35" name="Text 33"/>
          <p:cNvSpPr/>
          <p:nvPr/>
        </p:nvSpPr>
        <p:spPr>
          <a:xfrm>
            <a:off x="812800" y="3783013"/>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Orquestador y subagente</a:t>
            </a:r>
            <a:endParaRPr lang="en-US" sz="1200" dirty="0"/>
          </a:p>
        </p:txBody>
      </p:sp>
      <p:sp>
        <p:nvSpPr>
          <p:cNvPr id="36" name="Text 34"/>
          <p:cNvSpPr/>
          <p:nvPr/>
        </p:nvSpPr>
        <p:spPr>
          <a:xfrm>
            <a:off x="812800" y="4021733"/>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El primero coordina el flujo; el segundo se especializa en una etapa.</a:t>
            </a:r>
            <a:endParaRPr lang="en-US" sz="1200" dirty="0"/>
          </a:p>
        </p:txBody>
      </p:sp>
      <p:sp>
        <p:nvSpPr>
          <p:cNvPr id="37" name="Shape 35"/>
          <p:cNvSpPr/>
          <p:nvPr/>
        </p:nvSpPr>
        <p:spPr>
          <a:xfrm>
            <a:off x="4402634" y="3703638"/>
            <a:ext cx="3386683" cy="0"/>
          </a:xfrm>
          <a:prstGeom prst="line">
            <a:avLst/>
          </a:prstGeom>
          <a:noFill/>
          <a:ln w="6350">
            <a:solidFill>
              <a:srgbClr val="DDD8CC"/>
            </a:solidFill>
            <a:prstDash val="solid"/>
          </a:ln>
        </p:spPr>
      </p:sp>
      <p:sp>
        <p:nvSpPr>
          <p:cNvPr id="38" name="Text 36"/>
          <p:cNvSpPr/>
          <p:nvPr/>
        </p:nvSpPr>
        <p:spPr>
          <a:xfrm>
            <a:off x="4402634" y="3783013"/>
            <a:ext cx="3488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Skill</a:t>
            </a:r>
            <a:endParaRPr lang="en-US" sz="1200" dirty="0"/>
          </a:p>
        </p:txBody>
      </p:sp>
      <p:sp>
        <p:nvSpPr>
          <p:cNvPr id="39" name="Text 37"/>
          <p:cNvSpPr/>
          <p:nvPr/>
        </p:nvSpPr>
        <p:spPr>
          <a:xfrm>
            <a:off x="4402634" y="4021733"/>
            <a:ext cx="34882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Conocimiento empaquetado que un agente carga solo cuando lo necesita.</a:t>
            </a:r>
            <a:endParaRPr lang="en-US" sz="1200" dirty="0"/>
          </a:p>
        </p:txBody>
      </p:sp>
      <p:sp>
        <p:nvSpPr>
          <p:cNvPr id="40" name="Shape 38"/>
          <p:cNvSpPr/>
          <p:nvPr/>
        </p:nvSpPr>
        <p:spPr>
          <a:xfrm>
            <a:off x="7992517" y="3703638"/>
            <a:ext cx="3386634" cy="0"/>
          </a:xfrm>
          <a:prstGeom prst="line">
            <a:avLst/>
          </a:prstGeom>
          <a:noFill/>
          <a:ln w="6350">
            <a:solidFill>
              <a:srgbClr val="DDD8CC"/>
            </a:solidFill>
            <a:prstDash val="solid"/>
          </a:ln>
        </p:spPr>
      </p:sp>
      <p:sp>
        <p:nvSpPr>
          <p:cNvPr id="41" name="Text 39"/>
          <p:cNvSpPr/>
          <p:nvPr/>
        </p:nvSpPr>
        <p:spPr>
          <a:xfrm>
            <a:off x="7992517" y="3783013"/>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Token y crédito</a:t>
            </a:r>
            <a:endParaRPr lang="en-US" sz="1200" dirty="0"/>
          </a:p>
        </p:txBody>
      </p:sp>
      <p:sp>
        <p:nvSpPr>
          <p:cNvPr id="42" name="Text 40"/>
          <p:cNvSpPr/>
          <p:nvPr/>
        </p:nvSpPr>
        <p:spPr>
          <a:xfrm>
            <a:off x="7992517" y="4021733"/>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Fragmento de texto que procesa el modelo; cuota de uso de Copilot.</a:t>
            </a:r>
            <a:endParaRPr lang="en-US" sz="1200" dirty="0"/>
          </a:p>
        </p:txBody>
      </p:sp>
      <p:sp>
        <p:nvSpPr>
          <p:cNvPr id="43" name="Shape 41"/>
          <p:cNvSpPr/>
          <p:nvPr/>
        </p:nvSpPr>
        <p:spPr>
          <a:xfrm>
            <a:off x="812800" y="4603948"/>
            <a:ext cx="3386634" cy="0"/>
          </a:xfrm>
          <a:prstGeom prst="line">
            <a:avLst/>
          </a:prstGeom>
          <a:noFill/>
          <a:ln w="6350">
            <a:solidFill>
              <a:srgbClr val="DDD8CC"/>
            </a:solidFill>
            <a:prstDash val="solid"/>
          </a:ln>
        </p:spPr>
      </p:sp>
      <p:sp>
        <p:nvSpPr>
          <p:cNvPr id="44" name="Text 42"/>
          <p:cNvSpPr/>
          <p:nvPr/>
        </p:nvSpPr>
        <p:spPr>
          <a:xfrm>
            <a:off x="812800" y="4683323"/>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Ventana de contexto</a:t>
            </a:r>
            <a:endParaRPr lang="en-US" sz="1200" dirty="0"/>
          </a:p>
        </p:txBody>
      </p:sp>
      <p:sp>
        <p:nvSpPr>
          <p:cNvPr id="45" name="Text 43"/>
          <p:cNvSpPr/>
          <p:nvPr/>
        </p:nvSpPr>
        <p:spPr>
          <a:xfrm>
            <a:off x="812800" y="4922044"/>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Memoria de trabajo del modelo en una sesión; si se satura, olvida.</a:t>
            </a:r>
            <a:endParaRPr lang="en-US" sz="1200" dirty="0"/>
          </a:p>
        </p:txBody>
      </p:sp>
      <p:sp>
        <p:nvSpPr>
          <p:cNvPr id="46" name="Shape 44"/>
          <p:cNvSpPr/>
          <p:nvPr/>
        </p:nvSpPr>
        <p:spPr>
          <a:xfrm>
            <a:off x="4402634" y="4603948"/>
            <a:ext cx="3386683" cy="0"/>
          </a:xfrm>
          <a:prstGeom prst="line">
            <a:avLst/>
          </a:prstGeom>
          <a:noFill/>
          <a:ln w="6350">
            <a:solidFill>
              <a:srgbClr val="DDD8CC"/>
            </a:solidFill>
            <a:prstDash val="solid"/>
          </a:ln>
        </p:spPr>
      </p:sp>
      <p:sp>
        <p:nvSpPr>
          <p:cNvPr id="47" name="Text 45"/>
          <p:cNvSpPr/>
          <p:nvPr/>
        </p:nvSpPr>
        <p:spPr>
          <a:xfrm>
            <a:off x="4402634" y="4683323"/>
            <a:ext cx="3488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Hook</a:t>
            </a:r>
            <a:endParaRPr lang="en-US" sz="1200" dirty="0"/>
          </a:p>
        </p:txBody>
      </p:sp>
      <p:sp>
        <p:nvSpPr>
          <p:cNvPr id="48" name="Text 46"/>
          <p:cNvSpPr/>
          <p:nvPr/>
        </p:nvSpPr>
        <p:spPr>
          <a:xfrm>
            <a:off x="4402634" y="4922044"/>
            <a:ext cx="34882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Control automático que se ejecuta antes de cada acción del agente.</a:t>
            </a:r>
            <a:endParaRPr lang="en-US" sz="1200" dirty="0"/>
          </a:p>
        </p:txBody>
      </p:sp>
      <p:sp>
        <p:nvSpPr>
          <p:cNvPr id="49" name="Shape 47"/>
          <p:cNvSpPr/>
          <p:nvPr/>
        </p:nvSpPr>
        <p:spPr>
          <a:xfrm>
            <a:off x="7992517" y="4603948"/>
            <a:ext cx="3386634" cy="0"/>
          </a:xfrm>
          <a:prstGeom prst="line">
            <a:avLst/>
          </a:prstGeom>
          <a:noFill/>
          <a:ln w="6350">
            <a:solidFill>
              <a:srgbClr val="DDD8CC"/>
            </a:solidFill>
            <a:prstDash val="solid"/>
          </a:ln>
        </p:spPr>
      </p:sp>
      <p:sp>
        <p:nvSpPr>
          <p:cNvPr id="50" name="Text 48"/>
          <p:cNvSpPr/>
          <p:nvPr/>
        </p:nvSpPr>
        <p:spPr>
          <a:xfrm>
            <a:off x="7992517" y="4683323"/>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Arial" pitchFamily="34" charset="0"/>
                <a:ea typeface="Arial" pitchFamily="34" charset="-122"/>
                <a:cs typeface="Arial" pitchFamily="34" charset="-120"/>
              </a:rPr>
              <a:t>OpenSpec y CLI</a:t>
            </a:r>
            <a:endParaRPr lang="en-US" sz="1200" dirty="0"/>
          </a:p>
        </p:txBody>
      </p:sp>
      <p:sp>
        <p:nvSpPr>
          <p:cNvPr id="51" name="Text 49"/>
          <p:cNvSpPr/>
          <p:nvPr/>
        </p:nvSpPr>
        <p:spPr>
          <a:xfrm>
            <a:off x="7992517" y="4922044"/>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Framework externo de SDD y su herramienta de línea de comandos.</a:t>
            </a:r>
            <a:endParaRPr lang="en-US" sz="1200" dirty="0"/>
          </a:p>
        </p:txBody>
      </p:sp>
      <p:sp>
        <p:nvSpPr>
          <p:cNvPr id="52" name="Text 50"/>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53" name="Text 51"/>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8DB8E0"/>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7F6F2"/>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8DB8E0"/>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3A4B63"/>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3A4B63"/>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3A4B63"/>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3A4B63"/>
          </a:solidFill>
          <a:ln/>
        </p:spPr>
      </p:sp>
      <p:sp>
        <p:nvSpPr>
          <p:cNvPr id="14" name="Text 12"/>
          <p:cNvSpPr/>
          <p:nvPr/>
        </p:nvSpPr>
        <p:spPr>
          <a:xfrm>
            <a:off x="812800" y="2431802"/>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A55A"/>
                </a:solidFill>
                <a:latin typeface="Georgia" pitchFamily="18" charset="0"/>
                <a:ea typeface="Georgia" pitchFamily="18" charset="-122"/>
                <a:cs typeface="Georgia" pitchFamily="18" charset="-120"/>
              </a:rPr>
              <a:t>02</a:t>
            </a:r>
            <a:endParaRPr lang="en-US" sz="4800" dirty="0"/>
          </a:p>
        </p:txBody>
      </p:sp>
      <p:sp>
        <p:nvSpPr>
          <p:cNvPr id="15" name="Text 13"/>
          <p:cNvSpPr/>
          <p:nvPr>
            <p:ph type="title"/>
          </p:nvPr>
        </p:nvSpPr>
        <p:spPr>
          <a:xfrm>
            <a:off x="812800" y="3244602"/>
            <a:ext cx="10883392" cy="68376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Georgia" pitchFamily="18" charset="0"/>
                <a:ea typeface="Georgia" pitchFamily="18" charset="-122"/>
                <a:cs typeface="Georgia" pitchFamily="18" charset="-120"/>
              </a:rPr>
              <a:t>Evolución</a:t>
            </a:r>
            <a:endParaRPr lang="en-US" sz="4800" dirty="0"/>
          </a:p>
        </p:txBody>
      </p:sp>
      <p:sp>
        <p:nvSpPr>
          <p:cNvPr id="16" name="Text 14"/>
          <p:cNvSpPr/>
          <p:nvPr/>
        </p:nvSpPr>
        <p:spPr>
          <a:xfrm>
            <a:off x="812800" y="4106168"/>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A"/>
                </a:solidFill>
                <a:latin typeface="Arial" pitchFamily="34" charset="0"/>
                <a:ea typeface="Arial" pitchFamily="34" charset="-122"/>
                <a:cs typeface="Arial" pitchFamily="34" charset="-120"/>
              </a:rPr>
              <a:t>Abril a octubre de 2026: del uso individual a un método de célula.</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DDD8CC"/>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LÍNEA DE TIEMPO · ABRIL – OCTUBRE 2026</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Siete meses de trabajo, mes a mes</a:t>
            </a:r>
            <a:endParaRPr lang="en-US" sz="3200" dirty="0"/>
          </a:p>
        </p:txBody>
      </p:sp>
      <p:sp>
        <p:nvSpPr>
          <p:cNvPr id="16" name="Text 14"/>
          <p:cNvSpPr/>
          <p:nvPr/>
        </p:nvSpPr>
        <p:spPr>
          <a:xfrm>
            <a:off x="812800" y="1905000"/>
            <a:ext cx="5994400" cy="365720"/>
          </a:xfrm>
          <a:prstGeom prst="roundRect">
            <a:avLst>
              <a:gd name="adj" fmla="val 13890"/>
            </a:avLst>
          </a:prstGeom>
          <a:solidFill>
            <a:srgbClr val="8C5A12"/>
          </a:solidFill>
          <a:ln/>
        </p:spPr>
        <p:txBody>
          <a:bodyPr wrap="square" lIns="86721" tIns="61321" rIns="0" bIns="35921" rtlCol="0" anchor="t">
            <a:normAutofit/>
          </a:bodyPr>
          <a:lstStyle/>
          <a:p>
            <a:pPr algn="l" indent="0" marL="0">
              <a:lnSpc>
                <a:spcPts val="1680"/>
              </a:lnSpc>
              <a:buNone/>
            </a:pPr>
            <a:r>
              <a:rPr lang="en-US" sz="1200" b="1" spc="50" kern="0" dirty="0">
                <a:solidFill>
                  <a:srgbClr val="F7F6F2"/>
                </a:solidFill>
                <a:latin typeface="Arial" pitchFamily="34" charset="0"/>
                <a:ea typeface="Arial" pitchFamily="34" charset="-122"/>
                <a:cs typeface="Arial" pitchFamily="34" charset="-120"/>
              </a:rPr>
              <a:t>ETAPA 1 · USO INDIVIDUAL Y VIBE CODING</a:t>
            </a:r>
            <a:endParaRPr lang="en-US" sz="1200" dirty="0"/>
          </a:p>
        </p:txBody>
      </p:sp>
      <p:sp>
        <p:nvSpPr>
          <p:cNvPr id="17" name="Text 15"/>
          <p:cNvSpPr/>
          <p:nvPr/>
        </p:nvSpPr>
        <p:spPr>
          <a:xfrm>
            <a:off x="6908800" y="1905000"/>
            <a:ext cx="2946400" cy="365720"/>
          </a:xfrm>
          <a:prstGeom prst="roundRect">
            <a:avLst>
              <a:gd name="adj" fmla="val 13890"/>
            </a:avLst>
          </a:prstGeom>
          <a:solidFill>
            <a:srgbClr val="5B6B7D"/>
          </a:solidFill>
          <a:ln/>
        </p:spPr>
        <p:txBody>
          <a:bodyPr wrap="square" lIns="86721" tIns="61321" rIns="4425" bIns="35921" rtlCol="0" anchor="t">
            <a:normAutofit/>
          </a:bodyPr>
          <a:lstStyle/>
          <a:p>
            <a:pPr algn="l" indent="0" marL="0">
              <a:lnSpc>
                <a:spcPts val="1680"/>
              </a:lnSpc>
              <a:buNone/>
            </a:pPr>
            <a:r>
              <a:rPr lang="en-US" sz="1200" b="1" spc="50" kern="0" dirty="0">
                <a:solidFill>
                  <a:srgbClr val="F7F6F2"/>
                </a:solidFill>
                <a:latin typeface="Arial" pitchFamily="34" charset="0"/>
                <a:ea typeface="Arial" pitchFamily="34" charset="-122"/>
                <a:cs typeface="Arial" pitchFamily="34" charset="-120"/>
              </a:rPr>
              <a:t>MODELO 1.0 · OPENSPEC</a:t>
            </a:r>
            <a:endParaRPr lang="en-US" sz="1200" dirty="0"/>
          </a:p>
        </p:txBody>
      </p:sp>
      <p:sp>
        <p:nvSpPr>
          <p:cNvPr id="18" name="Text 16"/>
          <p:cNvSpPr/>
          <p:nvPr/>
        </p:nvSpPr>
        <p:spPr>
          <a:xfrm>
            <a:off x="9956800" y="1905000"/>
            <a:ext cx="1422400" cy="365720"/>
          </a:xfrm>
          <a:prstGeom prst="roundRect">
            <a:avLst>
              <a:gd name="adj" fmla="val 13890"/>
            </a:avLst>
          </a:prstGeom>
          <a:solidFill>
            <a:srgbClr val="2B5F8E"/>
          </a:solidFill>
          <a:ln/>
        </p:spPr>
        <p:txBody>
          <a:bodyPr wrap="square" lIns="86721" tIns="61321" rIns="35921" bIns="35921" rtlCol="0" anchor="t">
            <a:normAutofit/>
          </a:bodyPr>
          <a:lstStyle/>
          <a:p>
            <a:pPr algn="l" indent="0" marL="0">
              <a:lnSpc>
                <a:spcPts val="1680"/>
              </a:lnSpc>
              <a:buNone/>
            </a:pPr>
            <a:r>
              <a:rPr lang="en-US" sz="1200" b="1" spc="50" kern="0" dirty="0">
                <a:solidFill>
                  <a:srgbClr val="F7F6F2"/>
                </a:solidFill>
                <a:latin typeface="Arial" pitchFamily="34" charset="0"/>
                <a:ea typeface="Arial" pitchFamily="34" charset="-122"/>
                <a:cs typeface="Arial" pitchFamily="34" charset="-120"/>
              </a:rPr>
              <a:t>MODELO 2.0</a:t>
            </a:r>
            <a:endParaRPr lang="en-US" sz="1200" dirty="0"/>
          </a:p>
        </p:txBody>
      </p:sp>
      <p:sp>
        <p:nvSpPr>
          <p:cNvPr id="19" name="Shape 17"/>
          <p:cNvSpPr/>
          <p:nvPr/>
        </p:nvSpPr>
        <p:spPr>
          <a:xfrm>
            <a:off x="812800" y="2438400"/>
            <a:ext cx="1422400" cy="0"/>
          </a:xfrm>
          <a:prstGeom prst="line">
            <a:avLst/>
          </a:prstGeom>
          <a:noFill/>
          <a:ln w="25400">
            <a:solidFill>
              <a:srgbClr val="8C5A12"/>
            </a:solidFill>
            <a:prstDash val="solid"/>
          </a:ln>
        </p:spPr>
      </p:sp>
      <p:sp>
        <p:nvSpPr>
          <p:cNvPr id="20" name="Text 18"/>
          <p:cNvSpPr/>
          <p:nvPr/>
        </p:nvSpPr>
        <p:spPr>
          <a:xfrm>
            <a:off x="812800" y="2527300"/>
            <a:ext cx="147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Abril</a:t>
            </a:r>
            <a:endParaRPr lang="en-US" sz="1400" dirty="0"/>
          </a:p>
        </p:txBody>
      </p:sp>
      <p:sp>
        <p:nvSpPr>
          <p:cNvPr id="21" name="Text 19"/>
          <p:cNvSpPr/>
          <p:nvPr/>
        </p:nvSpPr>
        <p:spPr>
          <a:xfrm>
            <a:off x="812800" y="283969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Arial" pitchFamily="34" charset="0"/>
                <a:ea typeface="Arial" pitchFamily="34" charset="-122"/>
                <a:cs typeface="Arial" pitchFamily="34" charset="-120"/>
              </a:rPr>
              <a:t>Uso individual</a:t>
            </a:r>
            <a:endParaRPr lang="en-US" sz="1200" dirty="0"/>
          </a:p>
        </p:txBody>
      </p:sp>
      <p:sp>
        <p:nvSpPr>
          <p:cNvPr id="22" name="Text 20"/>
          <p:cNvSpPr/>
          <p:nvPr/>
        </p:nvSpPr>
        <p:spPr>
          <a:xfrm>
            <a:off x="812800" y="3116511"/>
            <a:ext cx="14732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Primeros agentes de Copilot: refactor de componentes Angular</a:t>
            </a:r>
            <a:endParaRPr lang="en-US" sz="1200" dirty="0"/>
          </a:p>
        </p:txBody>
      </p:sp>
      <p:sp>
        <p:nvSpPr>
          <p:cNvPr id="23" name="Shape 21"/>
          <p:cNvSpPr/>
          <p:nvPr/>
        </p:nvSpPr>
        <p:spPr>
          <a:xfrm>
            <a:off x="2336800" y="2438400"/>
            <a:ext cx="1422400" cy="0"/>
          </a:xfrm>
          <a:prstGeom prst="line">
            <a:avLst/>
          </a:prstGeom>
          <a:noFill/>
          <a:ln w="25400">
            <a:solidFill>
              <a:srgbClr val="8C5A12"/>
            </a:solidFill>
            <a:prstDash val="solid"/>
          </a:ln>
        </p:spPr>
      </p:sp>
      <p:sp>
        <p:nvSpPr>
          <p:cNvPr id="24" name="Text 22"/>
          <p:cNvSpPr/>
          <p:nvPr/>
        </p:nvSpPr>
        <p:spPr>
          <a:xfrm>
            <a:off x="2336800" y="2527300"/>
            <a:ext cx="147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Mayo</a:t>
            </a:r>
            <a:endParaRPr lang="en-US" sz="1400" dirty="0"/>
          </a:p>
        </p:txBody>
      </p:sp>
      <p:sp>
        <p:nvSpPr>
          <p:cNvPr id="25" name="Text 23"/>
          <p:cNvSpPr/>
          <p:nvPr/>
        </p:nvSpPr>
        <p:spPr>
          <a:xfrm>
            <a:off x="2336800" y="283969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Arial" pitchFamily="34" charset="0"/>
                <a:ea typeface="Arial" pitchFamily="34" charset="-122"/>
                <a:cs typeface="Arial" pitchFamily="34" charset="-120"/>
              </a:rPr>
              <a:t>Uso individual</a:t>
            </a:r>
            <a:endParaRPr lang="en-US" sz="1200" dirty="0"/>
          </a:p>
        </p:txBody>
      </p:sp>
      <p:sp>
        <p:nvSpPr>
          <p:cNvPr id="26" name="Text 24"/>
          <p:cNvSpPr/>
          <p:nvPr/>
        </p:nvSpPr>
        <p:spPr>
          <a:xfrm>
            <a:off x="2336800" y="3116511"/>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HU redactadas con Copilot</a:t>
            </a:r>
            <a:endParaRPr lang="en-US" sz="1200" dirty="0"/>
          </a:p>
        </p:txBody>
      </p:sp>
      <p:sp>
        <p:nvSpPr>
          <p:cNvPr id="27" name="Text 25"/>
          <p:cNvSpPr/>
          <p:nvPr/>
        </p:nvSpPr>
        <p:spPr>
          <a:xfrm>
            <a:off x="2336800" y="3606651"/>
            <a:ext cx="1473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Chat web: una semana y resultados imprecisos</a:t>
            </a:r>
            <a:endParaRPr lang="en-US" sz="1200" dirty="0"/>
          </a:p>
        </p:txBody>
      </p:sp>
      <p:sp>
        <p:nvSpPr>
          <p:cNvPr id="28" name="Shape 26"/>
          <p:cNvSpPr/>
          <p:nvPr/>
        </p:nvSpPr>
        <p:spPr>
          <a:xfrm>
            <a:off x="3860800" y="2438400"/>
            <a:ext cx="1422400" cy="0"/>
          </a:xfrm>
          <a:prstGeom prst="line">
            <a:avLst/>
          </a:prstGeom>
          <a:noFill/>
          <a:ln w="25400">
            <a:solidFill>
              <a:srgbClr val="8C5A12"/>
            </a:solidFill>
            <a:prstDash val="solid"/>
          </a:ln>
        </p:spPr>
      </p:sp>
      <p:sp>
        <p:nvSpPr>
          <p:cNvPr id="29" name="Text 27"/>
          <p:cNvSpPr/>
          <p:nvPr/>
        </p:nvSpPr>
        <p:spPr>
          <a:xfrm>
            <a:off x="3860800" y="2527300"/>
            <a:ext cx="147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Junio</a:t>
            </a:r>
            <a:endParaRPr lang="en-US" sz="1400" dirty="0"/>
          </a:p>
        </p:txBody>
      </p:sp>
      <p:sp>
        <p:nvSpPr>
          <p:cNvPr id="30" name="Text 28"/>
          <p:cNvSpPr/>
          <p:nvPr/>
        </p:nvSpPr>
        <p:spPr>
          <a:xfrm>
            <a:off x="3860800" y="283969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Arial" pitchFamily="34" charset="0"/>
                <a:ea typeface="Arial" pitchFamily="34" charset="-122"/>
                <a:cs typeface="Arial" pitchFamily="34" charset="-120"/>
              </a:rPr>
              <a:t>Vibe coding</a:t>
            </a:r>
            <a:endParaRPr lang="en-US" sz="1200" dirty="0"/>
          </a:p>
        </p:txBody>
      </p:sp>
      <p:sp>
        <p:nvSpPr>
          <p:cNvPr id="31" name="Text 29"/>
          <p:cNvSpPr/>
          <p:nvPr/>
        </p:nvSpPr>
        <p:spPr>
          <a:xfrm>
            <a:off x="3860800" y="3116511"/>
            <a:ext cx="1473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Tarea XL en 4 días, con varias iteraciones</a:t>
            </a:r>
            <a:endParaRPr lang="en-US" sz="1200" dirty="0"/>
          </a:p>
        </p:txBody>
      </p:sp>
      <p:sp>
        <p:nvSpPr>
          <p:cNvPr id="32" name="Text 30"/>
          <p:cNvSpPr/>
          <p:nvPr/>
        </p:nvSpPr>
        <p:spPr>
          <a:xfrm>
            <a:off x="3860800" y="3819971"/>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El equipo pide un método común</a:t>
            </a:r>
            <a:endParaRPr lang="en-US" sz="1200" dirty="0"/>
          </a:p>
        </p:txBody>
      </p:sp>
      <p:sp>
        <p:nvSpPr>
          <p:cNvPr id="33" name="Shape 31"/>
          <p:cNvSpPr/>
          <p:nvPr/>
        </p:nvSpPr>
        <p:spPr>
          <a:xfrm>
            <a:off x="5384800" y="2438400"/>
            <a:ext cx="1422400" cy="0"/>
          </a:xfrm>
          <a:prstGeom prst="line">
            <a:avLst/>
          </a:prstGeom>
          <a:noFill/>
          <a:ln w="25400">
            <a:solidFill>
              <a:srgbClr val="8C5A12"/>
            </a:solidFill>
            <a:prstDash val="solid"/>
          </a:ln>
        </p:spPr>
      </p:sp>
      <p:sp>
        <p:nvSpPr>
          <p:cNvPr id="34" name="Text 32"/>
          <p:cNvSpPr/>
          <p:nvPr/>
        </p:nvSpPr>
        <p:spPr>
          <a:xfrm>
            <a:off x="5384800" y="2527300"/>
            <a:ext cx="147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Julio</a:t>
            </a:r>
            <a:endParaRPr lang="en-US" sz="1400" dirty="0"/>
          </a:p>
        </p:txBody>
      </p:sp>
      <p:sp>
        <p:nvSpPr>
          <p:cNvPr id="35" name="Text 33"/>
          <p:cNvSpPr/>
          <p:nvPr/>
        </p:nvSpPr>
        <p:spPr>
          <a:xfrm>
            <a:off x="5384800" y="283969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Arial" pitchFamily="34" charset="0"/>
                <a:ea typeface="Arial" pitchFamily="34" charset="-122"/>
                <a:cs typeface="Arial" pitchFamily="34" charset="-120"/>
              </a:rPr>
              <a:t>Inicio del estudio</a:t>
            </a:r>
            <a:endParaRPr lang="en-US" sz="1200" dirty="0"/>
          </a:p>
        </p:txBody>
      </p:sp>
      <p:sp>
        <p:nvSpPr>
          <p:cNvPr id="36" name="Text 34"/>
          <p:cNvSpPr/>
          <p:nvPr/>
        </p:nvSpPr>
        <p:spPr>
          <a:xfrm>
            <a:off x="5384800" y="3116511"/>
            <a:ext cx="1473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Comienza el estudio de SDD y frameworks</a:t>
            </a:r>
            <a:endParaRPr lang="en-US" sz="1200" dirty="0"/>
          </a:p>
        </p:txBody>
      </p:sp>
      <p:sp>
        <p:nvSpPr>
          <p:cNvPr id="37" name="Text 35"/>
          <p:cNvSpPr/>
          <p:nvPr/>
        </p:nvSpPr>
        <p:spPr>
          <a:xfrm>
            <a:off x="5384800" y="3819971"/>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Reuniones sobre una guía común</a:t>
            </a:r>
            <a:endParaRPr lang="en-US" sz="1200" dirty="0"/>
          </a:p>
        </p:txBody>
      </p:sp>
      <p:sp>
        <p:nvSpPr>
          <p:cNvPr id="38" name="Shape 36"/>
          <p:cNvSpPr/>
          <p:nvPr/>
        </p:nvSpPr>
        <p:spPr>
          <a:xfrm>
            <a:off x="6908800" y="2438400"/>
            <a:ext cx="1422400" cy="0"/>
          </a:xfrm>
          <a:prstGeom prst="line">
            <a:avLst/>
          </a:prstGeom>
          <a:noFill/>
          <a:ln w="25400">
            <a:solidFill>
              <a:srgbClr val="5B6B7D"/>
            </a:solidFill>
            <a:prstDash val="solid"/>
          </a:ln>
        </p:spPr>
      </p:sp>
      <p:sp>
        <p:nvSpPr>
          <p:cNvPr id="39" name="Text 37"/>
          <p:cNvSpPr/>
          <p:nvPr/>
        </p:nvSpPr>
        <p:spPr>
          <a:xfrm>
            <a:off x="6908800" y="2527300"/>
            <a:ext cx="147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Agosto</a:t>
            </a:r>
            <a:endParaRPr lang="en-US" sz="1400" dirty="0"/>
          </a:p>
        </p:txBody>
      </p:sp>
      <p:sp>
        <p:nvSpPr>
          <p:cNvPr id="40" name="Text 38"/>
          <p:cNvSpPr/>
          <p:nvPr/>
        </p:nvSpPr>
        <p:spPr>
          <a:xfrm>
            <a:off x="6908800" y="2839690"/>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D"/>
                </a:solidFill>
                <a:latin typeface="Arial" pitchFamily="34" charset="0"/>
                <a:ea typeface="Arial" pitchFamily="34" charset="-122"/>
                <a:cs typeface="Arial" pitchFamily="34" charset="-120"/>
              </a:rPr>
              <a:t>Estudio y Modelo 1.0</a:t>
            </a:r>
            <a:endParaRPr lang="en-US" sz="1200" dirty="0"/>
          </a:p>
        </p:txBody>
      </p:sp>
      <p:sp>
        <p:nvSpPr>
          <p:cNvPr id="41" name="Text 39"/>
          <p:cNvSpPr/>
          <p:nvPr/>
        </p:nvSpPr>
        <p:spPr>
          <a:xfrm>
            <a:off x="6908800" y="3329831"/>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3–14: comparación formal</a:t>
            </a:r>
            <a:endParaRPr lang="en-US" sz="1200" dirty="0"/>
          </a:p>
        </p:txBody>
      </p:sp>
      <p:sp>
        <p:nvSpPr>
          <p:cNvPr id="42" name="Text 40"/>
          <p:cNvSpPr/>
          <p:nvPr/>
        </p:nvSpPr>
        <p:spPr>
          <a:xfrm>
            <a:off x="6908800" y="3819971"/>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18: Modelo 1.0</a:t>
            </a:r>
            <a:endParaRPr lang="en-US" sz="1200" dirty="0"/>
          </a:p>
        </p:txBody>
      </p:sp>
      <p:sp>
        <p:nvSpPr>
          <p:cNvPr id="43" name="Text 41"/>
          <p:cNvSpPr/>
          <p:nvPr/>
        </p:nvSpPr>
        <p:spPr>
          <a:xfrm>
            <a:off x="6908800" y="4096792"/>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28: estrategia Zero-CLI</a:t>
            </a:r>
            <a:endParaRPr lang="en-US" sz="1200" dirty="0"/>
          </a:p>
        </p:txBody>
      </p:sp>
      <p:sp>
        <p:nvSpPr>
          <p:cNvPr id="44" name="Shape 42"/>
          <p:cNvSpPr/>
          <p:nvPr/>
        </p:nvSpPr>
        <p:spPr>
          <a:xfrm>
            <a:off x="8432800" y="2438400"/>
            <a:ext cx="1422400" cy="0"/>
          </a:xfrm>
          <a:prstGeom prst="line">
            <a:avLst/>
          </a:prstGeom>
          <a:noFill/>
          <a:ln w="25400">
            <a:solidFill>
              <a:srgbClr val="5B6B7D"/>
            </a:solidFill>
            <a:prstDash val="solid"/>
          </a:ln>
        </p:spPr>
      </p:sp>
      <p:sp>
        <p:nvSpPr>
          <p:cNvPr id="45" name="Text 43"/>
          <p:cNvSpPr/>
          <p:nvPr/>
        </p:nvSpPr>
        <p:spPr>
          <a:xfrm>
            <a:off x="8432800" y="2527300"/>
            <a:ext cx="147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Septiembre</a:t>
            </a:r>
            <a:endParaRPr lang="en-US" sz="1400" dirty="0"/>
          </a:p>
        </p:txBody>
      </p:sp>
      <p:sp>
        <p:nvSpPr>
          <p:cNvPr id="46" name="Text 44"/>
          <p:cNvSpPr/>
          <p:nvPr/>
        </p:nvSpPr>
        <p:spPr>
          <a:xfrm>
            <a:off x="8432800" y="283969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D"/>
                </a:solidFill>
                <a:latin typeface="Arial" pitchFamily="34" charset="0"/>
                <a:ea typeface="Arial" pitchFamily="34" charset="-122"/>
                <a:cs typeface="Arial" pitchFamily="34" charset="-120"/>
              </a:rPr>
              <a:t>Modelo 1.0 en uso</a:t>
            </a:r>
            <a:endParaRPr lang="en-US" sz="1200" dirty="0"/>
          </a:p>
        </p:txBody>
      </p:sp>
      <p:sp>
        <p:nvSpPr>
          <p:cNvPr id="47" name="Text 45"/>
          <p:cNvSpPr/>
          <p:nvPr/>
        </p:nvSpPr>
        <p:spPr>
          <a:xfrm>
            <a:off x="8432800" y="3116511"/>
            <a:ext cx="1473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Directivas de Angular 20 y agentes de apoyo</a:t>
            </a:r>
            <a:endParaRPr lang="en-US" sz="1200" dirty="0"/>
          </a:p>
        </p:txBody>
      </p:sp>
      <p:sp>
        <p:nvSpPr>
          <p:cNvPr id="48" name="Text 46"/>
          <p:cNvSpPr/>
          <p:nvPr/>
        </p:nvSpPr>
        <p:spPr>
          <a:xfrm>
            <a:off x="8432800" y="3819971"/>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8: retrospectiva oficial</a:t>
            </a:r>
            <a:endParaRPr lang="en-US" sz="1200" dirty="0"/>
          </a:p>
        </p:txBody>
      </p:sp>
      <p:sp>
        <p:nvSpPr>
          <p:cNvPr id="49" name="Shape 47"/>
          <p:cNvSpPr/>
          <p:nvPr/>
        </p:nvSpPr>
        <p:spPr>
          <a:xfrm>
            <a:off x="9956800" y="2438400"/>
            <a:ext cx="1422400" cy="0"/>
          </a:xfrm>
          <a:prstGeom prst="line">
            <a:avLst/>
          </a:prstGeom>
          <a:noFill/>
          <a:ln w="25400">
            <a:solidFill>
              <a:srgbClr val="2B5F8E"/>
            </a:solidFill>
            <a:prstDash val="solid"/>
          </a:ln>
        </p:spPr>
      </p:sp>
      <p:sp>
        <p:nvSpPr>
          <p:cNvPr id="50" name="Text 48"/>
          <p:cNvSpPr/>
          <p:nvPr/>
        </p:nvSpPr>
        <p:spPr>
          <a:xfrm>
            <a:off x="9956800" y="2527300"/>
            <a:ext cx="147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Octubre</a:t>
            </a:r>
            <a:endParaRPr lang="en-US" sz="1400" dirty="0"/>
          </a:p>
        </p:txBody>
      </p:sp>
      <p:sp>
        <p:nvSpPr>
          <p:cNvPr id="51" name="Text 49"/>
          <p:cNvSpPr/>
          <p:nvPr/>
        </p:nvSpPr>
        <p:spPr>
          <a:xfrm>
            <a:off x="9956800" y="2839690"/>
            <a:ext cx="147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Arial" pitchFamily="34" charset="0"/>
                <a:ea typeface="Arial" pitchFamily="34" charset="-122"/>
                <a:cs typeface="Arial" pitchFamily="34" charset="-120"/>
              </a:rPr>
              <a:t>Modelo 2.0</a:t>
            </a:r>
            <a:endParaRPr lang="en-US" sz="1200" dirty="0"/>
          </a:p>
        </p:txBody>
      </p:sp>
      <p:sp>
        <p:nvSpPr>
          <p:cNvPr id="52" name="Text 50"/>
          <p:cNvSpPr/>
          <p:nvPr/>
        </p:nvSpPr>
        <p:spPr>
          <a:xfrm>
            <a:off x="9956800" y="3116511"/>
            <a:ext cx="1473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15: bloqueo de cuentas al correr pruebas</a:t>
            </a:r>
            <a:endParaRPr lang="en-US" sz="1200" dirty="0"/>
          </a:p>
        </p:txBody>
      </p:sp>
      <p:sp>
        <p:nvSpPr>
          <p:cNvPr id="53" name="Text 51"/>
          <p:cNvSpPr/>
          <p:nvPr/>
        </p:nvSpPr>
        <p:spPr>
          <a:xfrm>
            <a:off x="9956800" y="3819971"/>
            <a:ext cx="1473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23: estándar propio, sin OpenSpec</a:t>
            </a:r>
            <a:endParaRPr lang="en-US" sz="1200" dirty="0"/>
          </a:p>
        </p:txBody>
      </p:sp>
      <p:sp>
        <p:nvSpPr>
          <p:cNvPr id="54" name="Text 52"/>
          <p:cNvSpPr/>
          <p:nvPr/>
        </p:nvSpPr>
        <p:spPr>
          <a:xfrm>
            <a:off x="812800" y="5207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Fuente: bitácoras de estrategia y de adopción de IA del equipo.</a:t>
            </a:r>
            <a:endParaRPr lang="en-US" sz="1200" dirty="0"/>
          </a:p>
        </p:txBody>
      </p:sp>
      <p:sp>
        <p:nvSpPr>
          <p:cNvPr id="55" name="Text 53"/>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56" name="Text 54"/>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DDD8CC"/>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EQUIPO</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Quiénes participaron</a:t>
            </a:r>
            <a:endParaRPr lang="en-US" sz="3200" dirty="0"/>
          </a:p>
        </p:txBody>
      </p:sp>
      <p:sp>
        <p:nvSpPr>
          <p:cNvPr id="16" name="Shape 14"/>
          <p:cNvSpPr/>
          <p:nvPr/>
        </p:nvSpPr>
        <p:spPr>
          <a:xfrm>
            <a:off x="815975" y="1903016"/>
            <a:ext cx="3414167" cy="1258441"/>
          </a:xfrm>
          <a:prstGeom prst="roundRect">
            <a:avLst>
              <a:gd name="adj" fmla="val 7821"/>
            </a:avLst>
          </a:prstGeom>
          <a:solidFill>
            <a:srgbClr val="FCFBF7"/>
          </a:solidFill>
          <a:ln w="6350">
            <a:solidFill>
              <a:srgbClr val="DDD8CC"/>
            </a:solidFill>
            <a:prstDash val="solid"/>
          </a:ln>
        </p:spPr>
      </p:sp>
      <p:sp>
        <p:nvSpPr>
          <p:cNvPr id="17" name="Text 15"/>
          <p:cNvSpPr/>
          <p:nvPr/>
        </p:nvSpPr>
        <p:spPr>
          <a:xfrm>
            <a:off x="996950" y="205859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Sergio Galaz</a:t>
            </a:r>
            <a:endParaRPr lang="en-US" sz="1400" dirty="0"/>
          </a:p>
        </p:txBody>
      </p:sp>
      <p:sp>
        <p:nvSpPr>
          <p:cNvPr id="18" name="Text 16"/>
          <p:cNvSpPr/>
          <p:nvPr/>
        </p:nvSpPr>
        <p:spPr>
          <a:xfrm>
            <a:off x="996950" y="2327821"/>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Arial" pitchFamily="34" charset="0"/>
                <a:ea typeface="Arial" pitchFamily="34" charset="-122"/>
                <a:cs typeface="Arial" pitchFamily="34" charset="-120"/>
              </a:rPr>
              <a:t>Líder técnico · Ecosistemas</a:t>
            </a:r>
            <a:endParaRPr lang="en-US" sz="1200" dirty="0"/>
          </a:p>
        </p:txBody>
      </p:sp>
      <p:sp>
        <p:nvSpPr>
          <p:cNvPr id="19" name="Text 17"/>
          <p:cNvSpPr/>
          <p:nvPr/>
        </p:nvSpPr>
        <p:spPr>
          <a:xfrm>
            <a:off x="996950" y="257924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Estudio, diseño de los Modelos 1.0 y 2.0, agentes y bitácora de estrategia.</a:t>
            </a:r>
            <a:endParaRPr lang="en-US" sz="1200" dirty="0"/>
          </a:p>
        </p:txBody>
      </p:sp>
      <p:sp>
        <p:nvSpPr>
          <p:cNvPr id="20" name="Shape 18"/>
          <p:cNvSpPr/>
          <p:nvPr/>
        </p:nvSpPr>
        <p:spPr>
          <a:xfrm>
            <a:off x="4388892" y="1903016"/>
            <a:ext cx="3414167" cy="1258441"/>
          </a:xfrm>
          <a:prstGeom prst="roundRect">
            <a:avLst>
              <a:gd name="adj" fmla="val 7821"/>
            </a:avLst>
          </a:prstGeom>
          <a:solidFill>
            <a:srgbClr val="FCFBF7"/>
          </a:solidFill>
          <a:ln w="6350">
            <a:solidFill>
              <a:srgbClr val="DDD8CC"/>
            </a:solidFill>
            <a:prstDash val="solid"/>
          </a:ln>
        </p:spPr>
      </p:sp>
      <p:sp>
        <p:nvSpPr>
          <p:cNvPr id="21" name="Text 19"/>
          <p:cNvSpPr/>
          <p:nvPr/>
        </p:nvSpPr>
        <p:spPr>
          <a:xfrm>
            <a:off x="4569867" y="205859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Jerson Pacheco</a:t>
            </a:r>
            <a:endParaRPr lang="en-US" sz="1400" dirty="0"/>
          </a:p>
        </p:txBody>
      </p:sp>
      <p:sp>
        <p:nvSpPr>
          <p:cNvPr id="22" name="Text 20"/>
          <p:cNvSpPr/>
          <p:nvPr/>
        </p:nvSpPr>
        <p:spPr>
          <a:xfrm>
            <a:off x="4569867" y="2327821"/>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Arial" pitchFamily="34" charset="0"/>
                <a:ea typeface="Arial" pitchFamily="34" charset="-122"/>
                <a:cs typeface="Arial" pitchFamily="34" charset="-120"/>
              </a:rPr>
              <a:t>PM · App y Ecosistemas</a:t>
            </a:r>
            <a:endParaRPr lang="en-US" sz="1200" dirty="0"/>
          </a:p>
        </p:txBody>
      </p:sp>
      <p:sp>
        <p:nvSpPr>
          <p:cNvPr id="23" name="Text 21"/>
          <p:cNvSpPr/>
          <p:nvPr/>
        </p:nvSpPr>
        <p:spPr>
          <a:xfrm>
            <a:off x="4569867" y="257924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Coordinación, primer estándar (18 ago) y retrospectiva oficial (8 sep).</a:t>
            </a:r>
            <a:endParaRPr lang="en-US" sz="1200" dirty="0"/>
          </a:p>
        </p:txBody>
      </p:sp>
      <p:sp>
        <p:nvSpPr>
          <p:cNvPr id="24" name="Shape 22"/>
          <p:cNvSpPr/>
          <p:nvPr/>
        </p:nvSpPr>
        <p:spPr>
          <a:xfrm>
            <a:off x="7961809" y="1903016"/>
            <a:ext cx="3414216" cy="1258441"/>
          </a:xfrm>
          <a:prstGeom prst="roundRect">
            <a:avLst>
              <a:gd name="adj" fmla="val 7821"/>
            </a:avLst>
          </a:prstGeom>
          <a:solidFill>
            <a:srgbClr val="FCFBF7"/>
          </a:solidFill>
          <a:ln w="6350">
            <a:solidFill>
              <a:srgbClr val="DDD8CC"/>
            </a:solidFill>
            <a:prstDash val="solid"/>
          </a:ln>
        </p:spPr>
      </p:sp>
      <p:sp>
        <p:nvSpPr>
          <p:cNvPr id="25" name="Text 23"/>
          <p:cNvSpPr/>
          <p:nvPr/>
        </p:nvSpPr>
        <p:spPr>
          <a:xfrm>
            <a:off x="8142784" y="2058591"/>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Moises Lagos</a:t>
            </a:r>
            <a:endParaRPr lang="en-US" sz="1400" dirty="0"/>
          </a:p>
        </p:txBody>
      </p:sp>
      <p:sp>
        <p:nvSpPr>
          <p:cNvPr id="26" name="Text 24"/>
          <p:cNvSpPr/>
          <p:nvPr/>
        </p:nvSpPr>
        <p:spPr>
          <a:xfrm>
            <a:off x="8142784" y="232782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Arial" pitchFamily="34" charset="0"/>
                <a:ea typeface="Arial" pitchFamily="34" charset="-122"/>
                <a:cs typeface="Arial" pitchFamily="34" charset="-120"/>
              </a:rPr>
              <a:t>Desarrollador</a:t>
            </a:r>
            <a:endParaRPr lang="en-US" sz="1200" dirty="0"/>
          </a:p>
        </p:txBody>
      </p:sp>
      <p:sp>
        <p:nvSpPr>
          <p:cNvPr id="27" name="Text 25"/>
          <p:cNvSpPr/>
          <p:nvPr/>
        </p:nvSpPr>
        <p:spPr>
          <a:xfrm>
            <a:off x="8142784" y="257924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Uso intensivo en backend y frontend; registró el paso del vibe coding a SDD.</a:t>
            </a:r>
            <a:endParaRPr lang="en-US" sz="1200" dirty="0"/>
          </a:p>
        </p:txBody>
      </p:sp>
      <p:sp>
        <p:nvSpPr>
          <p:cNvPr id="28" name="Shape 26"/>
          <p:cNvSpPr/>
          <p:nvPr/>
        </p:nvSpPr>
        <p:spPr>
          <a:xfrm>
            <a:off x="815975" y="3320207"/>
            <a:ext cx="3414167" cy="1258441"/>
          </a:xfrm>
          <a:prstGeom prst="roundRect">
            <a:avLst>
              <a:gd name="adj" fmla="val 7821"/>
            </a:avLst>
          </a:prstGeom>
          <a:solidFill>
            <a:srgbClr val="FCFBF7"/>
          </a:solidFill>
          <a:ln w="6350">
            <a:solidFill>
              <a:srgbClr val="DDD8CC"/>
            </a:solidFill>
            <a:prstDash val="solid"/>
          </a:ln>
        </p:spPr>
      </p:sp>
      <p:sp>
        <p:nvSpPr>
          <p:cNvPr id="29" name="Text 27"/>
          <p:cNvSpPr/>
          <p:nvPr/>
        </p:nvSpPr>
        <p:spPr>
          <a:xfrm>
            <a:off x="996950" y="3475782"/>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Dennisse Cannobbio</a:t>
            </a:r>
            <a:endParaRPr lang="en-US" sz="1400" dirty="0"/>
          </a:p>
        </p:txBody>
      </p:sp>
      <p:sp>
        <p:nvSpPr>
          <p:cNvPr id="30" name="Text 28"/>
          <p:cNvSpPr/>
          <p:nvPr/>
        </p:nvSpPr>
        <p:spPr>
          <a:xfrm>
            <a:off x="996950" y="3745012"/>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Arial" pitchFamily="34" charset="0"/>
                <a:ea typeface="Arial" pitchFamily="34" charset="-122"/>
                <a:cs typeface="Arial" pitchFamily="34" charset="-120"/>
              </a:rPr>
              <a:t>Desarrolladora</a:t>
            </a:r>
            <a:endParaRPr lang="en-US" sz="1200" dirty="0"/>
          </a:p>
        </p:txBody>
      </p:sp>
      <p:sp>
        <p:nvSpPr>
          <p:cNvPr id="31" name="Text 29"/>
          <p:cNvSpPr/>
          <p:nvPr/>
        </p:nvSpPr>
        <p:spPr>
          <a:xfrm>
            <a:off x="996950" y="3996432"/>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Investigación inicial de SDD (3 ago) y pruebas del flujo de verificación.</a:t>
            </a:r>
            <a:endParaRPr lang="en-US" sz="1200" dirty="0"/>
          </a:p>
        </p:txBody>
      </p:sp>
      <p:sp>
        <p:nvSpPr>
          <p:cNvPr id="32" name="Shape 30"/>
          <p:cNvSpPr/>
          <p:nvPr/>
        </p:nvSpPr>
        <p:spPr>
          <a:xfrm>
            <a:off x="4388892" y="3320207"/>
            <a:ext cx="3414167" cy="1258441"/>
          </a:xfrm>
          <a:prstGeom prst="roundRect">
            <a:avLst>
              <a:gd name="adj" fmla="val 7821"/>
            </a:avLst>
          </a:prstGeom>
          <a:solidFill>
            <a:srgbClr val="FCFBF7"/>
          </a:solidFill>
          <a:ln w="6350">
            <a:solidFill>
              <a:srgbClr val="DDD8CC"/>
            </a:solidFill>
            <a:prstDash val="solid"/>
          </a:ln>
        </p:spPr>
      </p:sp>
      <p:sp>
        <p:nvSpPr>
          <p:cNvPr id="33" name="Text 31"/>
          <p:cNvSpPr/>
          <p:nvPr/>
        </p:nvSpPr>
        <p:spPr>
          <a:xfrm>
            <a:off x="4569867" y="3475782"/>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Luis Martinez</a:t>
            </a:r>
            <a:endParaRPr lang="en-US" sz="1400" dirty="0"/>
          </a:p>
        </p:txBody>
      </p:sp>
      <p:sp>
        <p:nvSpPr>
          <p:cNvPr id="34" name="Text 32"/>
          <p:cNvSpPr/>
          <p:nvPr/>
        </p:nvSpPr>
        <p:spPr>
          <a:xfrm>
            <a:off x="4569867" y="3745012"/>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Arial" pitchFamily="34" charset="0"/>
                <a:ea typeface="Arial" pitchFamily="34" charset="-122"/>
                <a:cs typeface="Arial" pitchFamily="34" charset="-120"/>
              </a:rPr>
              <a:t>Desarrollador</a:t>
            </a:r>
            <a:endParaRPr lang="en-US" sz="1200" dirty="0"/>
          </a:p>
        </p:txBody>
      </p:sp>
      <p:sp>
        <p:nvSpPr>
          <p:cNvPr id="35" name="Text 33"/>
          <p:cNvSpPr/>
          <p:nvPr/>
        </p:nvSpPr>
        <p:spPr>
          <a:xfrm>
            <a:off x="4569867" y="3996432"/>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Análisis y optimizaciones de backend: rendimiento, auditoría y caché.</a:t>
            </a:r>
            <a:endParaRPr lang="en-US" sz="1200" dirty="0"/>
          </a:p>
        </p:txBody>
      </p:sp>
      <p:sp>
        <p:nvSpPr>
          <p:cNvPr id="36" name="Shape 34"/>
          <p:cNvSpPr/>
          <p:nvPr/>
        </p:nvSpPr>
        <p:spPr>
          <a:xfrm>
            <a:off x="7961809" y="3320207"/>
            <a:ext cx="3414216" cy="1258441"/>
          </a:xfrm>
          <a:prstGeom prst="roundRect">
            <a:avLst>
              <a:gd name="adj" fmla="val 7821"/>
            </a:avLst>
          </a:prstGeom>
          <a:solidFill>
            <a:srgbClr val="FCFBF7"/>
          </a:solidFill>
          <a:ln w="6350">
            <a:solidFill>
              <a:srgbClr val="DDD8CC"/>
            </a:solidFill>
            <a:prstDash val="solid"/>
          </a:ln>
        </p:spPr>
      </p:sp>
      <p:sp>
        <p:nvSpPr>
          <p:cNvPr id="37" name="Text 35"/>
          <p:cNvSpPr/>
          <p:nvPr/>
        </p:nvSpPr>
        <p:spPr>
          <a:xfrm>
            <a:off x="8142784" y="3475782"/>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Manuel Zamorano</a:t>
            </a:r>
            <a:endParaRPr lang="en-US" sz="1400" dirty="0"/>
          </a:p>
        </p:txBody>
      </p:sp>
      <p:sp>
        <p:nvSpPr>
          <p:cNvPr id="38" name="Text 36"/>
          <p:cNvSpPr/>
          <p:nvPr/>
        </p:nvSpPr>
        <p:spPr>
          <a:xfrm>
            <a:off x="8142784" y="3745012"/>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Arial" pitchFamily="34" charset="0"/>
                <a:ea typeface="Arial" pitchFamily="34" charset="-122"/>
                <a:cs typeface="Arial" pitchFamily="34" charset="-120"/>
              </a:rPr>
              <a:t>Líder técnico · App Móvil</a:t>
            </a:r>
            <a:endParaRPr lang="en-US" sz="1200" dirty="0"/>
          </a:p>
        </p:txBody>
      </p:sp>
      <p:sp>
        <p:nvSpPr>
          <p:cNvPr id="39" name="Text 37"/>
          <p:cNvSpPr/>
          <p:nvPr/>
        </p:nvSpPr>
        <p:spPr>
          <a:xfrm>
            <a:off x="8142784" y="3996432"/>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Pruebas de API asistidas por IA para el backend de la App Móvil.</a:t>
            </a:r>
            <a:endParaRPr lang="en-US" sz="1200" dirty="0"/>
          </a:p>
        </p:txBody>
      </p:sp>
      <p:sp>
        <p:nvSpPr>
          <p:cNvPr id="40" name="Text 38"/>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41" name="Text 39"/>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DDD8CC"/>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ETAPA 1 · ABRIL – AGOSTO 2026 · USO INDIVIDUAL</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Vibe coding: velocidad sin control</a:t>
            </a:r>
            <a:endParaRPr lang="en-US" sz="3200" dirty="0"/>
          </a:p>
        </p:txBody>
      </p:sp>
      <p:sp>
        <p:nvSpPr>
          <p:cNvPr id="16" name="Shape 14"/>
          <p:cNvSpPr/>
          <p:nvPr/>
        </p:nvSpPr>
        <p:spPr>
          <a:xfrm>
            <a:off x="815975" y="1908175"/>
            <a:ext cx="3308350" cy="1365250"/>
          </a:xfrm>
          <a:prstGeom prst="roundRect">
            <a:avLst>
              <a:gd name="adj" fmla="val 5349"/>
            </a:avLst>
          </a:prstGeom>
          <a:solidFill>
            <a:srgbClr val="FCFBF7"/>
          </a:solidFill>
          <a:ln w="6350">
            <a:solidFill>
              <a:srgbClr val="DDD8CC"/>
            </a:solidFill>
            <a:prstDash val="solid"/>
          </a:ln>
        </p:spPr>
      </p:sp>
      <p:sp>
        <p:nvSpPr>
          <p:cNvPr id="17" name="Text 15"/>
          <p:cNvSpPr/>
          <p:nvPr/>
        </p:nvSpPr>
        <p:spPr>
          <a:xfrm>
            <a:off x="996950" y="2089150"/>
            <a:ext cx="30347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Pedidos sin especificación</a:t>
            </a:r>
            <a:endParaRPr lang="en-US" sz="1400" dirty="0"/>
          </a:p>
        </p:txBody>
      </p:sp>
      <p:sp>
        <p:nvSpPr>
          <p:cNvPr id="18" name="Text 16"/>
          <p:cNvSpPr/>
          <p:nvPr/>
        </p:nvSpPr>
        <p:spPr>
          <a:xfrm>
            <a:off x="996950" y="2371080"/>
            <a:ext cx="30347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Se pedía código directo al chat o al agente, a prueba y error.</a:t>
            </a:r>
            <a:endParaRPr lang="en-US" sz="1200" dirty="0"/>
          </a:p>
        </p:txBody>
      </p:sp>
      <p:sp>
        <p:nvSpPr>
          <p:cNvPr id="19" name="Shape 17"/>
          <p:cNvSpPr/>
          <p:nvPr/>
        </p:nvSpPr>
        <p:spPr>
          <a:xfrm>
            <a:off x="4441825" y="1908175"/>
            <a:ext cx="3308350" cy="1365250"/>
          </a:xfrm>
          <a:prstGeom prst="roundRect">
            <a:avLst>
              <a:gd name="adj" fmla="val 5349"/>
            </a:avLst>
          </a:prstGeom>
          <a:solidFill>
            <a:srgbClr val="FCFBF7"/>
          </a:solidFill>
          <a:ln w="6350">
            <a:solidFill>
              <a:srgbClr val="DDD8CC"/>
            </a:solidFill>
            <a:prstDash val="solid"/>
          </a:ln>
        </p:spPr>
      </p:sp>
      <p:sp>
        <p:nvSpPr>
          <p:cNvPr id="20" name="Text 18"/>
          <p:cNvSpPr/>
          <p:nvPr/>
        </p:nvSpPr>
        <p:spPr>
          <a:xfrm>
            <a:off x="4622800" y="2089150"/>
            <a:ext cx="30347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Decisiones dispersas</a:t>
            </a:r>
            <a:endParaRPr lang="en-US" sz="1400" dirty="0"/>
          </a:p>
        </p:txBody>
      </p:sp>
      <p:sp>
        <p:nvSpPr>
          <p:cNvPr id="21" name="Text 19"/>
          <p:cNvSpPr/>
          <p:nvPr/>
        </p:nvSpPr>
        <p:spPr>
          <a:xfrm>
            <a:off x="4622800" y="2371080"/>
            <a:ext cx="30347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Lo acordado quedaba en chats personales, sin registro común.</a:t>
            </a:r>
            <a:endParaRPr lang="en-US" sz="1200" dirty="0"/>
          </a:p>
        </p:txBody>
      </p:sp>
      <p:sp>
        <p:nvSpPr>
          <p:cNvPr id="22" name="Shape 20"/>
          <p:cNvSpPr/>
          <p:nvPr/>
        </p:nvSpPr>
        <p:spPr>
          <a:xfrm>
            <a:off x="8067675" y="1908175"/>
            <a:ext cx="3308350" cy="1365250"/>
          </a:xfrm>
          <a:prstGeom prst="roundRect">
            <a:avLst>
              <a:gd name="adj" fmla="val 5349"/>
            </a:avLst>
          </a:prstGeom>
          <a:solidFill>
            <a:srgbClr val="FCFBF7"/>
          </a:solidFill>
          <a:ln w="6350">
            <a:solidFill>
              <a:srgbClr val="DDD8CC"/>
            </a:solidFill>
            <a:prstDash val="solid"/>
          </a:ln>
        </p:spPr>
      </p:sp>
      <p:sp>
        <p:nvSpPr>
          <p:cNvPr id="23" name="Text 21"/>
          <p:cNvSpPr/>
          <p:nvPr/>
        </p:nvSpPr>
        <p:spPr>
          <a:xfrm>
            <a:off x="8248650" y="2089150"/>
            <a:ext cx="30347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Resultados imprecisos</a:t>
            </a:r>
            <a:endParaRPr lang="en-US" sz="1400" dirty="0"/>
          </a:p>
        </p:txBody>
      </p:sp>
      <p:sp>
        <p:nvSpPr>
          <p:cNvPr id="24" name="Text 22"/>
          <p:cNvSpPr/>
          <p:nvPr/>
        </p:nvSpPr>
        <p:spPr>
          <a:xfrm>
            <a:off x="8248650" y="2371080"/>
            <a:ext cx="30347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Varias iteraciones, trabajo terminado a mano y cuota de tokens agotada.</a:t>
            </a:r>
            <a:endParaRPr lang="en-US" sz="1200" dirty="0"/>
          </a:p>
        </p:txBody>
      </p:sp>
      <p:sp>
        <p:nvSpPr>
          <p:cNvPr id="25" name="Shape 23"/>
          <p:cNvSpPr/>
          <p:nvPr/>
        </p:nvSpPr>
        <p:spPr>
          <a:xfrm>
            <a:off x="825500" y="3530600"/>
            <a:ext cx="0" cy="614611"/>
          </a:xfrm>
          <a:prstGeom prst="line">
            <a:avLst/>
          </a:prstGeom>
          <a:noFill/>
          <a:ln w="25400">
            <a:solidFill>
              <a:srgbClr val="8C5A12"/>
            </a:solidFill>
            <a:prstDash val="solid"/>
          </a:ln>
        </p:spPr>
      </p:sp>
      <p:sp>
        <p:nvSpPr>
          <p:cNvPr id="26" name="Text 24"/>
          <p:cNvSpPr/>
          <p:nvPr/>
        </p:nvSpPr>
        <p:spPr>
          <a:xfrm>
            <a:off x="1016000" y="3581400"/>
            <a:ext cx="10674096" cy="27429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233A"/>
                </a:solidFill>
                <a:latin typeface="Georgia" pitchFamily="18" charset="0"/>
                <a:ea typeface="Georgia" pitchFamily="18" charset="-122"/>
                <a:cs typeface="Georgia" pitchFamily="18" charset="-120"/>
              </a:rPr>
              <a:t>«Utilizar el chat web […] entrega resultados imprecisos y poco óptimos […] y agota rápidamente la cuota de tokens.»</a:t>
            </a:r>
            <a:endParaRPr lang="en-US" sz="1400" dirty="0"/>
          </a:p>
        </p:txBody>
      </p:sp>
      <p:sp>
        <p:nvSpPr>
          <p:cNvPr id="27" name="Text 25"/>
          <p:cNvSpPr/>
          <p:nvPr/>
        </p:nvSpPr>
        <p:spPr>
          <a:xfrm>
            <a:off x="1016000" y="388109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Registro del equipo · 19 de mayo de 2026</a:t>
            </a:r>
            <a:endParaRPr lang="en-US" sz="1200" dirty="0"/>
          </a:p>
        </p:txBody>
      </p:sp>
      <p:sp>
        <p:nvSpPr>
          <p:cNvPr id="28" name="Shape 26"/>
          <p:cNvSpPr/>
          <p:nvPr/>
        </p:nvSpPr>
        <p:spPr>
          <a:xfrm>
            <a:off x="812800" y="4572000"/>
            <a:ext cx="10566400" cy="553690"/>
          </a:xfrm>
          <a:prstGeom prst="roundRect">
            <a:avLst>
              <a:gd name="adj" fmla="val 18350"/>
            </a:avLst>
          </a:prstGeom>
          <a:solidFill>
            <a:srgbClr val="14233A"/>
          </a:solidFill>
          <a:ln/>
        </p:spPr>
      </p:sp>
      <p:sp>
        <p:nvSpPr>
          <p:cNvPr id="29" name="Text 27"/>
          <p:cNvSpPr/>
          <p:nvPr/>
        </p:nvSpPr>
        <p:spPr>
          <a:xfrm>
            <a:off x="1016000" y="4742160"/>
            <a:ext cx="1257399"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D9A55A"/>
                </a:solidFill>
                <a:latin typeface="Arial" pitchFamily="34" charset="0"/>
                <a:ea typeface="Arial" pitchFamily="34" charset="-122"/>
                <a:cs typeface="Arial" pitchFamily="34" charset="-120"/>
              </a:rPr>
              <a:t>DIAGNÓSTICO</a:t>
            </a:r>
            <a:endParaRPr lang="en-US" sz="1200" dirty="0"/>
          </a:p>
        </p:txBody>
      </p:sp>
      <p:sp>
        <p:nvSpPr>
          <p:cNvPr id="30" name="Text 28"/>
          <p:cNvSpPr/>
          <p:nvPr/>
        </p:nvSpPr>
        <p:spPr>
          <a:xfrm>
            <a:off x="2374999" y="4724400"/>
            <a:ext cx="906503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La IA no falla por falta de capacidad, sino por subespecificación: improvisa reglas, datos y nombres.</a:t>
            </a:r>
            <a:endParaRPr lang="en-US" sz="1400" dirty="0"/>
          </a:p>
        </p:txBody>
      </p:sp>
      <p:sp>
        <p:nvSpPr>
          <p:cNvPr id="31" name="Text 29"/>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32" name="Text 30"/>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8DB8E0"/>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8DB8E0"/>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7F6F2"/>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8DB8E0"/>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3A4B63"/>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3A4B63"/>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3A4B63"/>
          </a:solidFill>
          <a:ln/>
        </p:spPr>
      </p:sp>
      <p:sp>
        <p:nvSpPr>
          <p:cNvPr id="14" name="Text 12"/>
          <p:cNvSpPr/>
          <p:nvPr/>
        </p:nvSpPr>
        <p:spPr>
          <a:xfrm>
            <a:off x="812800" y="2431802"/>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A55A"/>
                </a:solidFill>
                <a:latin typeface="Georgia" pitchFamily="18" charset="0"/>
                <a:ea typeface="Georgia" pitchFamily="18" charset="-122"/>
                <a:cs typeface="Georgia" pitchFamily="18" charset="-120"/>
              </a:rPr>
              <a:t>03</a:t>
            </a:r>
            <a:endParaRPr lang="en-US" sz="4800" dirty="0"/>
          </a:p>
        </p:txBody>
      </p:sp>
      <p:sp>
        <p:nvSpPr>
          <p:cNvPr id="15" name="Text 13"/>
          <p:cNvSpPr/>
          <p:nvPr>
            <p:ph type="title"/>
          </p:nvPr>
        </p:nvSpPr>
        <p:spPr>
          <a:xfrm>
            <a:off x="812800" y="3244602"/>
            <a:ext cx="10883392" cy="68376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Georgia" pitchFamily="18" charset="0"/>
                <a:ea typeface="Georgia" pitchFamily="18" charset="-122"/>
                <a:cs typeface="Georgia" pitchFamily="18" charset="-120"/>
              </a:rPr>
              <a:t>El estudio</a:t>
            </a:r>
            <a:endParaRPr lang="en-US" sz="4800" dirty="0"/>
          </a:p>
        </p:txBody>
      </p:sp>
      <p:sp>
        <p:nvSpPr>
          <p:cNvPr id="16" name="Text 14"/>
          <p:cNvSpPr/>
          <p:nvPr/>
        </p:nvSpPr>
        <p:spPr>
          <a:xfrm>
            <a:off x="812800" y="4106168"/>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A"/>
                </a:solidFill>
                <a:latin typeface="Arial" pitchFamily="34" charset="0"/>
                <a:ea typeface="Arial" pitchFamily="34" charset="-122"/>
                <a:cs typeface="Arial" pitchFamily="34" charset="-120"/>
              </a:rPr>
              <a:t>Qué es SDD y por qué lo elegimos frente a otras estrategias.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ESTUDIO · JULIO – AGOSTO 2026 · EL PUNTO DE PARTIDA</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Qué buscábamos: seis requisitos</a:t>
            </a:r>
            <a:endParaRPr lang="en-US" sz="3200" dirty="0"/>
          </a:p>
        </p:txBody>
      </p:sp>
      <p:sp>
        <p:nvSpPr>
          <p:cNvPr id="16" name="Shape 14"/>
          <p:cNvSpPr/>
          <p:nvPr/>
        </p:nvSpPr>
        <p:spPr>
          <a:xfrm>
            <a:off x="812800" y="1849041"/>
            <a:ext cx="10566400" cy="553690"/>
          </a:xfrm>
          <a:prstGeom prst="roundRect">
            <a:avLst>
              <a:gd name="adj" fmla="val 18350"/>
            </a:avLst>
          </a:prstGeom>
          <a:solidFill>
            <a:srgbClr val="14233A"/>
          </a:solidFill>
          <a:ln/>
        </p:spPr>
      </p:sp>
      <p:sp>
        <p:nvSpPr>
          <p:cNvPr id="17" name="Text 15"/>
          <p:cNvSpPr/>
          <p:nvPr/>
        </p:nvSpPr>
        <p:spPr>
          <a:xfrm>
            <a:off x="1016000" y="2019201"/>
            <a:ext cx="1246287"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D9A55A"/>
                </a:solidFill>
                <a:latin typeface="Arial" pitchFamily="34" charset="0"/>
                <a:ea typeface="Arial" pitchFamily="34" charset="-122"/>
                <a:cs typeface="Arial" pitchFamily="34" charset="-120"/>
              </a:rPr>
              <a:t>LA PREGUNTA</a:t>
            </a:r>
            <a:endParaRPr lang="en-US" sz="1200" dirty="0"/>
          </a:p>
        </p:txBody>
      </p:sp>
      <p:sp>
        <p:nvSpPr>
          <p:cNvPr id="18" name="Text 16"/>
          <p:cNvSpPr/>
          <p:nvPr/>
        </p:nvSpPr>
        <p:spPr>
          <a:xfrm>
            <a:off x="2363887" y="2001441"/>
            <a:ext cx="907647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¿Cómo usar la IA en la célula sobre HU ya definidas, con calidad verificable?</a:t>
            </a:r>
            <a:endParaRPr lang="en-US" sz="1400" dirty="0"/>
          </a:p>
        </p:txBody>
      </p:sp>
      <p:sp>
        <p:nvSpPr>
          <p:cNvPr id="19" name="Shape 17"/>
          <p:cNvSpPr/>
          <p:nvPr/>
        </p:nvSpPr>
        <p:spPr>
          <a:xfrm>
            <a:off x="815975" y="2659906"/>
            <a:ext cx="5200650" cy="580380"/>
          </a:xfrm>
          <a:prstGeom prst="roundRect">
            <a:avLst>
              <a:gd name="adj" fmla="val 12582"/>
            </a:avLst>
          </a:prstGeom>
          <a:solidFill>
            <a:srgbClr val="FCFBF7"/>
          </a:solidFill>
          <a:ln w="6350">
            <a:solidFill>
              <a:srgbClr val="DDD8CC"/>
            </a:solidFill>
            <a:prstDash val="solid"/>
          </a:ln>
        </p:spPr>
      </p:sp>
      <p:sp>
        <p:nvSpPr>
          <p:cNvPr id="20" name="Text 18"/>
          <p:cNvSpPr/>
          <p:nvPr/>
        </p:nvSpPr>
        <p:spPr>
          <a:xfrm>
            <a:off x="1022350" y="2790081"/>
            <a:ext cx="304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Georgia" pitchFamily="18" charset="0"/>
                <a:ea typeface="Georgia" pitchFamily="18" charset="-122"/>
                <a:cs typeface="Georgia" pitchFamily="18" charset="-120"/>
              </a:rPr>
              <a:t>1</a:t>
            </a:r>
            <a:endParaRPr lang="en-US" sz="1800" dirty="0"/>
          </a:p>
        </p:txBody>
      </p:sp>
      <p:sp>
        <p:nvSpPr>
          <p:cNvPr id="21" name="Text 19"/>
          <p:cNvSpPr/>
          <p:nvPr/>
        </p:nvSpPr>
        <p:spPr>
          <a:xfrm>
            <a:off x="1428750" y="2830066"/>
            <a:ext cx="451294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Arial" pitchFamily="34" charset="0"/>
                <a:ea typeface="Arial" pitchFamily="34" charset="-122"/>
                <a:cs typeface="Arial" pitchFamily="34" charset="-120"/>
              </a:rPr>
              <a:t>Atacar la causa raíz: la subespecificación</a:t>
            </a:r>
            <a:endParaRPr lang="en-US" sz="1400" dirty="0"/>
          </a:p>
        </p:txBody>
      </p:sp>
      <p:sp>
        <p:nvSpPr>
          <p:cNvPr id="22" name="Shape 20"/>
          <p:cNvSpPr/>
          <p:nvPr/>
        </p:nvSpPr>
        <p:spPr>
          <a:xfrm>
            <a:off x="6175375" y="2659906"/>
            <a:ext cx="5200650" cy="580380"/>
          </a:xfrm>
          <a:prstGeom prst="roundRect">
            <a:avLst>
              <a:gd name="adj" fmla="val 12582"/>
            </a:avLst>
          </a:prstGeom>
          <a:solidFill>
            <a:srgbClr val="FCFBF7"/>
          </a:solidFill>
          <a:ln w="6350">
            <a:solidFill>
              <a:srgbClr val="DDD8CC"/>
            </a:solidFill>
            <a:prstDash val="solid"/>
          </a:ln>
        </p:spPr>
      </p:sp>
      <p:sp>
        <p:nvSpPr>
          <p:cNvPr id="23" name="Text 21"/>
          <p:cNvSpPr/>
          <p:nvPr/>
        </p:nvSpPr>
        <p:spPr>
          <a:xfrm>
            <a:off x="6381750" y="2790081"/>
            <a:ext cx="304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Georgia" pitchFamily="18" charset="0"/>
                <a:ea typeface="Georgia" pitchFamily="18" charset="-122"/>
                <a:cs typeface="Georgia" pitchFamily="18" charset="-120"/>
              </a:rPr>
              <a:t>2</a:t>
            </a:r>
            <a:endParaRPr lang="en-US" sz="1800" dirty="0"/>
          </a:p>
        </p:txBody>
      </p:sp>
      <p:sp>
        <p:nvSpPr>
          <p:cNvPr id="24" name="Text 22"/>
          <p:cNvSpPr/>
          <p:nvPr/>
        </p:nvSpPr>
        <p:spPr>
          <a:xfrm>
            <a:off x="6788150" y="2830066"/>
            <a:ext cx="451294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Arial" pitchFamily="34" charset="0"/>
                <a:ea typeface="Arial" pitchFamily="34" charset="-122"/>
                <a:cs typeface="Arial" pitchFamily="34" charset="-120"/>
              </a:rPr>
              <a:t>Servir a toda la célula, no a una persona</a:t>
            </a:r>
            <a:endParaRPr lang="en-US" sz="1400" dirty="0"/>
          </a:p>
        </p:txBody>
      </p:sp>
      <p:sp>
        <p:nvSpPr>
          <p:cNvPr id="25" name="Shape 23"/>
          <p:cNvSpPr/>
          <p:nvPr/>
        </p:nvSpPr>
        <p:spPr>
          <a:xfrm>
            <a:off x="815975" y="3348236"/>
            <a:ext cx="5200650" cy="580380"/>
          </a:xfrm>
          <a:prstGeom prst="roundRect">
            <a:avLst>
              <a:gd name="adj" fmla="val 12582"/>
            </a:avLst>
          </a:prstGeom>
          <a:solidFill>
            <a:srgbClr val="FCFBF7"/>
          </a:solidFill>
          <a:ln w="6350">
            <a:solidFill>
              <a:srgbClr val="DDD8CC"/>
            </a:solidFill>
            <a:prstDash val="solid"/>
          </a:ln>
        </p:spPr>
      </p:sp>
      <p:sp>
        <p:nvSpPr>
          <p:cNvPr id="26" name="Text 24"/>
          <p:cNvSpPr/>
          <p:nvPr/>
        </p:nvSpPr>
        <p:spPr>
          <a:xfrm>
            <a:off x="1022350" y="3478411"/>
            <a:ext cx="304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Georgia" pitchFamily="18" charset="0"/>
                <a:ea typeface="Georgia" pitchFamily="18" charset="-122"/>
                <a:cs typeface="Georgia" pitchFamily="18" charset="-120"/>
              </a:rPr>
              <a:t>3</a:t>
            </a:r>
            <a:endParaRPr lang="en-US" sz="1800" dirty="0"/>
          </a:p>
        </p:txBody>
      </p:sp>
      <p:sp>
        <p:nvSpPr>
          <p:cNvPr id="27" name="Text 25"/>
          <p:cNvSpPr/>
          <p:nvPr/>
        </p:nvSpPr>
        <p:spPr>
          <a:xfrm>
            <a:off x="1428750" y="3518396"/>
            <a:ext cx="451294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Arial" pitchFamily="34" charset="0"/>
                <a:ea typeface="Arial" pitchFamily="34" charset="-122"/>
                <a:cs typeface="Arial" pitchFamily="34" charset="-120"/>
              </a:rPr>
              <a:t>Funcionar sobre el código existente</a:t>
            </a:r>
            <a:endParaRPr lang="en-US" sz="1400" dirty="0"/>
          </a:p>
        </p:txBody>
      </p:sp>
      <p:sp>
        <p:nvSpPr>
          <p:cNvPr id="28" name="Shape 26"/>
          <p:cNvSpPr/>
          <p:nvPr/>
        </p:nvSpPr>
        <p:spPr>
          <a:xfrm>
            <a:off x="6175375" y="3348236"/>
            <a:ext cx="5200650" cy="580380"/>
          </a:xfrm>
          <a:prstGeom prst="roundRect">
            <a:avLst>
              <a:gd name="adj" fmla="val 12582"/>
            </a:avLst>
          </a:prstGeom>
          <a:solidFill>
            <a:srgbClr val="FCFBF7"/>
          </a:solidFill>
          <a:ln w="6350">
            <a:solidFill>
              <a:srgbClr val="DDD8CC"/>
            </a:solidFill>
            <a:prstDash val="solid"/>
          </a:ln>
        </p:spPr>
      </p:sp>
      <p:sp>
        <p:nvSpPr>
          <p:cNvPr id="29" name="Text 27"/>
          <p:cNvSpPr/>
          <p:nvPr/>
        </p:nvSpPr>
        <p:spPr>
          <a:xfrm>
            <a:off x="6381750" y="3478411"/>
            <a:ext cx="304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Georgia" pitchFamily="18" charset="0"/>
                <a:ea typeface="Georgia" pitchFamily="18" charset="-122"/>
                <a:cs typeface="Georgia" pitchFamily="18" charset="-120"/>
              </a:rPr>
              <a:t>4</a:t>
            </a:r>
            <a:endParaRPr lang="en-US" sz="1800" dirty="0"/>
          </a:p>
        </p:txBody>
      </p:sp>
      <p:sp>
        <p:nvSpPr>
          <p:cNvPr id="30" name="Text 28"/>
          <p:cNvSpPr/>
          <p:nvPr/>
        </p:nvSpPr>
        <p:spPr>
          <a:xfrm>
            <a:off x="6788150" y="3518396"/>
            <a:ext cx="451294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Arial" pitchFamily="34" charset="0"/>
                <a:ea typeface="Arial" pitchFamily="34" charset="-122"/>
                <a:cs typeface="Arial" pitchFamily="34" charset="-120"/>
              </a:rPr>
              <a:t>Encajar con Scrum: HU previas al sprint</a:t>
            </a:r>
            <a:endParaRPr lang="en-US" sz="1400" dirty="0"/>
          </a:p>
        </p:txBody>
      </p:sp>
      <p:sp>
        <p:nvSpPr>
          <p:cNvPr id="31" name="Shape 29"/>
          <p:cNvSpPr/>
          <p:nvPr/>
        </p:nvSpPr>
        <p:spPr>
          <a:xfrm>
            <a:off x="815975" y="4036566"/>
            <a:ext cx="5200650" cy="580380"/>
          </a:xfrm>
          <a:prstGeom prst="roundRect">
            <a:avLst>
              <a:gd name="adj" fmla="val 12582"/>
            </a:avLst>
          </a:prstGeom>
          <a:solidFill>
            <a:srgbClr val="FCFBF7"/>
          </a:solidFill>
          <a:ln w="6350">
            <a:solidFill>
              <a:srgbClr val="DDD8CC"/>
            </a:solidFill>
            <a:prstDash val="solid"/>
          </a:ln>
        </p:spPr>
      </p:sp>
      <p:sp>
        <p:nvSpPr>
          <p:cNvPr id="32" name="Text 30"/>
          <p:cNvSpPr/>
          <p:nvPr/>
        </p:nvSpPr>
        <p:spPr>
          <a:xfrm>
            <a:off x="1022350" y="4166741"/>
            <a:ext cx="304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Georgia" pitchFamily="18" charset="0"/>
                <a:ea typeface="Georgia" pitchFamily="18" charset="-122"/>
                <a:cs typeface="Georgia" pitchFamily="18" charset="-120"/>
              </a:rPr>
              <a:t>5</a:t>
            </a:r>
            <a:endParaRPr lang="en-US" sz="1800" dirty="0"/>
          </a:p>
        </p:txBody>
      </p:sp>
      <p:sp>
        <p:nvSpPr>
          <p:cNvPr id="33" name="Text 31"/>
          <p:cNvSpPr/>
          <p:nvPr/>
        </p:nvSpPr>
        <p:spPr>
          <a:xfrm>
            <a:off x="1428750" y="4206726"/>
            <a:ext cx="451294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Arial" pitchFamily="34" charset="0"/>
                <a:ea typeface="Arial" pitchFamily="34" charset="-122"/>
                <a:cs typeface="Arial" pitchFamily="34" charset="-120"/>
              </a:rPr>
              <a:t>Dejar trazabilidad versionada en Git</a:t>
            </a:r>
            <a:endParaRPr lang="en-US" sz="1400" dirty="0"/>
          </a:p>
        </p:txBody>
      </p:sp>
      <p:sp>
        <p:nvSpPr>
          <p:cNvPr id="34" name="Shape 32"/>
          <p:cNvSpPr/>
          <p:nvPr/>
        </p:nvSpPr>
        <p:spPr>
          <a:xfrm>
            <a:off x="6175375" y="4036566"/>
            <a:ext cx="5200650" cy="580380"/>
          </a:xfrm>
          <a:prstGeom prst="roundRect">
            <a:avLst>
              <a:gd name="adj" fmla="val 12582"/>
            </a:avLst>
          </a:prstGeom>
          <a:solidFill>
            <a:srgbClr val="FCFBF7"/>
          </a:solidFill>
          <a:ln w="6350">
            <a:solidFill>
              <a:srgbClr val="DDD8CC"/>
            </a:solidFill>
            <a:prstDash val="solid"/>
          </a:ln>
        </p:spPr>
      </p:sp>
      <p:sp>
        <p:nvSpPr>
          <p:cNvPr id="35" name="Text 33"/>
          <p:cNvSpPr/>
          <p:nvPr/>
        </p:nvSpPr>
        <p:spPr>
          <a:xfrm>
            <a:off x="6381750" y="4166741"/>
            <a:ext cx="304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Georgia" pitchFamily="18" charset="0"/>
                <a:ea typeface="Georgia" pitchFamily="18" charset="-122"/>
                <a:cs typeface="Georgia" pitchFamily="18" charset="-120"/>
              </a:rPr>
              <a:t>6</a:t>
            </a:r>
            <a:endParaRPr lang="en-US" sz="1800" dirty="0"/>
          </a:p>
        </p:txBody>
      </p:sp>
      <p:sp>
        <p:nvSpPr>
          <p:cNvPr id="36" name="Text 34"/>
          <p:cNvSpPr/>
          <p:nvPr/>
        </p:nvSpPr>
        <p:spPr>
          <a:xfrm>
            <a:off x="6788150" y="4206726"/>
            <a:ext cx="451294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Arial" pitchFamily="34" charset="0"/>
                <a:ea typeface="Arial" pitchFamily="34" charset="-122"/>
                <a:cs typeface="Arial" pitchFamily="34" charset="-120"/>
              </a:rPr>
              <a:t>Usar GitHub Copilot y controlar tokens</a:t>
            </a:r>
            <a:endParaRPr lang="en-US" sz="1400" dirty="0"/>
          </a:p>
        </p:txBody>
      </p:sp>
      <p:sp>
        <p:nvSpPr>
          <p:cNvPr id="37" name="Text 35"/>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38" name="Text 36"/>
          <p:cNvSpPr/>
          <p:nvPr/>
        </p:nvSpPr>
        <p:spPr>
          <a:xfrm>
            <a:off x="11170196" y="6238280"/>
            <a:ext cx="20900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ESTUDIO · PASO 1 · EL MAPA DE ENFOQUES</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El mapa: lo que existía y por qué no</a:t>
            </a:r>
            <a:endParaRPr lang="en-US" sz="3200" dirty="0"/>
          </a:p>
        </p:txBody>
      </p:sp>
      <p:sp>
        <p:nvSpPr>
          <p:cNvPr id="16" name="Shape 14"/>
          <p:cNvSpPr/>
          <p:nvPr/>
        </p:nvSpPr>
        <p:spPr>
          <a:xfrm>
            <a:off x="815975" y="1852216"/>
            <a:ext cx="3431084" cy="1379091"/>
          </a:xfrm>
          <a:prstGeom prst="roundRect">
            <a:avLst>
              <a:gd name="adj" fmla="val 8979"/>
            </a:avLst>
          </a:prstGeom>
          <a:solidFill>
            <a:srgbClr val="FFFFFF"/>
          </a:solidFill>
          <a:ln w="6350">
            <a:solidFill>
              <a:srgbClr val="E4E0D6"/>
            </a:solidFill>
            <a:prstDash val="solid"/>
          </a:ln>
          <a:effectLst>
            <a:outerShdw sx="100000" sy="100000" kx="0" ky="0" algn="bl" rotWithShape="0" blurRad="114300" dist="38100" dir="5400000">
              <a:srgbClr val="14233A">
                <a:alpha val="7000"/>
              </a:srgbClr>
            </a:outerShdw>
          </a:effectLst>
        </p:spPr>
      </p:sp>
      <p:pic>
        <p:nvPicPr>
          <p:cNvPr id="17" name="Image 0" descr="Lightning">    </p:cNvPr>
          <p:cNvPicPr>
            <a:picLocks noChangeAspect="1"/>
          </p:cNvPicPr>
          <p:nvPr/>
        </p:nvPicPr>
        <p:blipFill>
          <a:blip r:embed="rId1"/>
          <a:srcRect l="0" r="0" t="0" b="0"/>
          <a:stretch/>
        </p:blipFill>
        <p:spPr>
          <a:xfrm>
            <a:off x="996950" y="2021731"/>
            <a:ext cx="203200" cy="203200"/>
          </a:xfrm>
          <a:prstGeom prst="rect">
            <a:avLst/>
          </a:prstGeom>
        </p:spPr>
      </p:pic>
      <p:sp>
        <p:nvSpPr>
          <p:cNvPr id="18" name="Text 15"/>
          <p:cNvSpPr/>
          <p:nvPr/>
        </p:nvSpPr>
        <p:spPr>
          <a:xfrm>
            <a:off x="1289050" y="2007791"/>
            <a:ext cx="462379"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GSD</a:t>
            </a:r>
            <a:endParaRPr lang="en-US" sz="1400" dirty="0"/>
          </a:p>
        </p:txBody>
      </p:sp>
      <p:sp>
        <p:nvSpPr>
          <p:cNvPr id="19" name="Text 16"/>
          <p:cNvSpPr/>
          <p:nvPr/>
        </p:nvSpPr>
        <p:spPr>
          <a:xfrm>
            <a:off x="996950" y="2302421"/>
            <a:ext cx="3161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Autonomía media, sin ceremonia.</a:t>
            </a:r>
            <a:endParaRPr lang="en-US" sz="1200" dirty="0"/>
          </a:p>
        </p:txBody>
      </p:sp>
      <p:sp>
        <p:nvSpPr>
          <p:cNvPr id="20" name="Shape 17"/>
          <p:cNvSpPr/>
          <p:nvPr/>
        </p:nvSpPr>
        <p:spPr>
          <a:xfrm>
            <a:off x="996950" y="2582416"/>
            <a:ext cx="3069134" cy="0"/>
          </a:xfrm>
          <a:prstGeom prst="line">
            <a:avLst/>
          </a:prstGeom>
          <a:noFill/>
          <a:ln w="6350">
            <a:solidFill>
              <a:srgbClr val="EFECE4"/>
            </a:solidFill>
            <a:prstDash val="solid"/>
          </a:ln>
        </p:spPr>
      </p:sp>
      <p:sp>
        <p:nvSpPr>
          <p:cNvPr id="21" name="Text 18"/>
          <p:cNvSpPr/>
          <p:nvPr/>
        </p:nvSpPr>
        <p:spPr>
          <a:xfrm>
            <a:off x="996950" y="2649091"/>
            <a:ext cx="3161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Arial" pitchFamily="34" charset="0"/>
                <a:ea typeface="Arial" pitchFamily="34" charset="-122"/>
                <a:cs typeface="Arial" pitchFamily="34" charset="-120"/>
              </a:rPr>
              <a:t>✕ Prioriza velocidad sobre trazabilidad</a:t>
            </a:r>
            <a:endParaRPr lang="en-US" sz="1200" dirty="0"/>
          </a:p>
        </p:txBody>
      </p:sp>
      <p:sp>
        <p:nvSpPr>
          <p:cNvPr id="22" name="Shape 19"/>
          <p:cNvSpPr/>
          <p:nvPr/>
        </p:nvSpPr>
        <p:spPr>
          <a:xfrm>
            <a:off x="4380409" y="1852216"/>
            <a:ext cx="3431133" cy="1379091"/>
          </a:xfrm>
          <a:prstGeom prst="roundRect">
            <a:avLst>
              <a:gd name="adj" fmla="val 8979"/>
            </a:avLst>
          </a:prstGeom>
          <a:solidFill>
            <a:srgbClr val="FFFFFF"/>
          </a:solidFill>
          <a:ln w="6350">
            <a:solidFill>
              <a:srgbClr val="E4E0D6"/>
            </a:solidFill>
            <a:prstDash val="solid"/>
          </a:ln>
          <a:effectLst>
            <a:outerShdw sx="100000" sy="100000" kx="0" ky="0" algn="bl" rotWithShape="0" blurRad="114300" dist="38100" dir="5400000">
              <a:srgbClr val="14233A">
                <a:alpha val="7000"/>
              </a:srgbClr>
            </a:outerShdw>
          </a:effectLst>
        </p:spPr>
      </p:sp>
      <p:pic>
        <p:nvPicPr>
          <p:cNvPr id="23" name="Image 1" descr="Users">    </p:cNvPr>
          <p:cNvPicPr>
            <a:picLocks noChangeAspect="1"/>
          </p:cNvPicPr>
          <p:nvPr/>
        </p:nvPicPr>
        <p:blipFill>
          <a:blip r:embed="rId2"/>
          <a:srcRect l="0" r="0" t="0" b="0"/>
          <a:stretch/>
        </p:blipFill>
        <p:spPr>
          <a:xfrm>
            <a:off x="4561384" y="2021731"/>
            <a:ext cx="203200" cy="203200"/>
          </a:xfrm>
          <a:prstGeom prst="rect">
            <a:avLst/>
          </a:prstGeom>
        </p:spPr>
      </p:pic>
      <p:sp>
        <p:nvSpPr>
          <p:cNvPr id="24" name="Text 20"/>
          <p:cNvSpPr/>
          <p:nvPr/>
        </p:nvSpPr>
        <p:spPr>
          <a:xfrm>
            <a:off x="4853484" y="2007791"/>
            <a:ext cx="163556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BMAD-METHOD</a:t>
            </a:r>
            <a:endParaRPr lang="en-US" sz="1400" dirty="0"/>
          </a:p>
        </p:txBody>
      </p:sp>
      <p:sp>
        <p:nvSpPr>
          <p:cNvPr id="25" name="Text 21"/>
          <p:cNvSpPr/>
          <p:nvPr/>
        </p:nvSpPr>
        <p:spPr>
          <a:xfrm>
            <a:off x="4561384" y="2302421"/>
            <a:ext cx="31612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Agentes con roles: PM, UX, arquitecto, DevOps.</a:t>
            </a:r>
            <a:endParaRPr lang="en-US" sz="1200" dirty="0"/>
          </a:p>
        </p:txBody>
      </p:sp>
      <p:sp>
        <p:nvSpPr>
          <p:cNvPr id="26" name="Shape 22"/>
          <p:cNvSpPr/>
          <p:nvPr/>
        </p:nvSpPr>
        <p:spPr>
          <a:xfrm>
            <a:off x="4561384" y="2795736"/>
            <a:ext cx="3069183" cy="0"/>
          </a:xfrm>
          <a:prstGeom prst="line">
            <a:avLst/>
          </a:prstGeom>
          <a:noFill/>
          <a:ln w="6350">
            <a:solidFill>
              <a:srgbClr val="EFECE4"/>
            </a:solidFill>
            <a:prstDash val="solid"/>
          </a:ln>
        </p:spPr>
      </p:sp>
      <p:sp>
        <p:nvSpPr>
          <p:cNvPr id="27" name="Text 23"/>
          <p:cNvSpPr/>
          <p:nvPr/>
        </p:nvSpPr>
        <p:spPr>
          <a:xfrm>
            <a:off x="4561384" y="2862411"/>
            <a:ext cx="3161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Arial" pitchFamily="34" charset="0"/>
                <a:ea typeface="Arial" pitchFamily="34" charset="-122"/>
                <a:cs typeface="Arial" pitchFamily="34" charset="-120"/>
              </a:rPr>
              <a:t>✕ Pesado para una célula; curva de días</a:t>
            </a:r>
            <a:endParaRPr lang="en-US" sz="1200" dirty="0"/>
          </a:p>
        </p:txBody>
      </p:sp>
      <p:sp>
        <p:nvSpPr>
          <p:cNvPr id="28" name="Shape 24"/>
          <p:cNvSpPr/>
          <p:nvPr/>
        </p:nvSpPr>
        <p:spPr>
          <a:xfrm>
            <a:off x="7944892" y="1852216"/>
            <a:ext cx="3431084" cy="1379091"/>
          </a:xfrm>
          <a:prstGeom prst="roundRect">
            <a:avLst>
              <a:gd name="adj" fmla="val 8979"/>
            </a:avLst>
          </a:prstGeom>
          <a:solidFill>
            <a:srgbClr val="FFFFFF"/>
          </a:solidFill>
          <a:ln w="6350">
            <a:solidFill>
              <a:srgbClr val="E4E0D6"/>
            </a:solidFill>
            <a:prstDash val="solid"/>
          </a:ln>
          <a:effectLst>
            <a:outerShdw sx="100000" sy="100000" kx="0" ky="0" algn="bl" rotWithShape="0" blurRad="114300" dist="38100" dir="5400000">
              <a:srgbClr val="14233A">
                <a:alpha val="7000"/>
              </a:srgbClr>
            </a:outerShdw>
          </a:effectLst>
        </p:spPr>
      </p:sp>
      <p:pic>
        <p:nvPicPr>
          <p:cNvPr id="29" name="Image 2" descr="Settings">    </p:cNvPr>
          <p:cNvPicPr>
            <a:picLocks noChangeAspect="1"/>
          </p:cNvPicPr>
          <p:nvPr/>
        </p:nvPicPr>
        <p:blipFill>
          <a:blip r:embed="rId3"/>
          <a:srcRect l="0" r="0" t="0" b="0"/>
          <a:stretch/>
        </p:blipFill>
        <p:spPr>
          <a:xfrm>
            <a:off x="8125867" y="2021731"/>
            <a:ext cx="203200" cy="203200"/>
          </a:xfrm>
          <a:prstGeom prst="rect">
            <a:avLst/>
          </a:prstGeom>
        </p:spPr>
      </p:pic>
      <p:sp>
        <p:nvSpPr>
          <p:cNvPr id="30" name="Text 25"/>
          <p:cNvSpPr/>
          <p:nvPr/>
        </p:nvSpPr>
        <p:spPr>
          <a:xfrm>
            <a:off x="8417967" y="2007791"/>
            <a:ext cx="74676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Archon</a:t>
            </a:r>
            <a:endParaRPr lang="en-US" sz="1400" dirty="0"/>
          </a:p>
        </p:txBody>
      </p:sp>
      <p:sp>
        <p:nvSpPr>
          <p:cNvPr id="31" name="Text 26"/>
          <p:cNvSpPr/>
          <p:nvPr/>
        </p:nvSpPr>
        <p:spPr>
          <a:xfrm>
            <a:off x="8125867" y="2302421"/>
            <a:ext cx="3161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Flujos deterministas definidos en YAML.</a:t>
            </a:r>
            <a:endParaRPr lang="en-US" sz="1200" dirty="0"/>
          </a:p>
        </p:txBody>
      </p:sp>
      <p:sp>
        <p:nvSpPr>
          <p:cNvPr id="32" name="Shape 27"/>
          <p:cNvSpPr/>
          <p:nvPr/>
        </p:nvSpPr>
        <p:spPr>
          <a:xfrm>
            <a:off x="8125867" y="2582416"/>
            <a:ext cx="3069134" cy="0"/>
          </a:xfrm>
          <a:prstGeom prst="line">
            <a:avLst/>
          </a:prstGeom>
          <a:noFill/>
          <a:ln w="6350">
            <a:solidFill>
              <a:srgbClr val="EFECE4"/>
            </a:solidFill>
            <a:prstDash val="solid"/>
          </a:ln>
        </p:spPr>
      </p:sp>
      <p:sp>
        <p:nvSpPr>
          <p:cNvPr id="33" name="Text 28"/>
          <p:cNvSpPr/>
          <p:nvPr/>
        </p:nvSpPr>
        <p:spPr>
          <a:xfrm>
            <a:off x="8125867" y="2649091"/>
            <a:ext cx="3161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Arial" pitchFamily="34" charset="0"/>
                <a:ea typeface="Arial" pitchFamily="34" charset="-122"/>
                <a:cs typeface="Arial" pitchFamily="34" charset="-120"/>
              </a:rPr>
              <a:t>✕ No cubre el ciclo completo de una HU</a:t>
            </a:r>
            <a:endParaRPr lang="en-US" sz="1200" dirty="0"/>
          </a:p>
        </p:txBody>
      </p:sp>
      <p:sp>
        <p:nvSpPr>
          <p:cNvPr id="34" name="Shape 29"/>
          <p:cNvSpPr/>
          <p:nvPr/>
        </p:nvSpPr>
        <p:spPr>
          <a:xfrm>
            <a:off x="815975" y="3364657"/>
            <a:ext cx="3431084" cy="1379091"/>
          </a:xfrm>
          <a:prstGeom prst="roundRect">
            <a:avLst>
              <a:gd name="adj" fmla="val 8979"/>
            </a:avLst>
          </a:prstGeom>
          <a:solidFill>
            <a:srgbClr val="FFFFFF"/>
          </a:solidFill>
          <a:ln w="6350">
            <a:solidFill>
              <a:srgbClr val="E4E0D6"/>
            </a:solidFill>
            <a:prstDash val="solid"/>
          </a:ln>
          <a:effectLst>
            <a:outerShdw sx="100000" sy="100000" kx="0" ky="0" algn="bl" rotWithShape="0" blurRad="114300" dist="38100" dir="5400000">
              <a:srgbClr val="14233A">
                <a:alpha val="7000"/>
              </a:srgbClr>
            </a:outerShdw>
          </a:effectLst>
        </p:spPr>
      </p:sp>
      <p:pic>
        <p:nvPicPr>
          <p:cNvPr id="35" name="Image 3" descr="Play">    </p:cNvPr>
          <p:cNvPicPr>
            <a:picLocks noChangeAspect="1"/>
          </p:cNvPicPr>
          <p:nvPr/>
        </p:nvPicPr>
        <p:blipFill>
          <a:blip r:embed="rId4"/>
          <a:srcRect l="0" r="0" t="0" b="0"/>
          <a:stretch/>
        </p:blipFill>
        <p:spPr>
          <a:xfrm>
            <a:off x="996950" y="3534172"/>
            <a:ext cx="203200" cy="203200"/>
          </a:xfrm>
          <a:prstGeom prst="rect">
            <a:avLst/>
          </a:prstGeom>
        </p:spPr>
      </p:pic>
      <p:sp>
        <p:nvSpPr>
          <p:cNvPr id="36" name="Text 30"/>
          <p:cNvSpPr/>
          <p:nvPr/>
        </p:nvSpPr>
        <p:spPr>
          <a:xfrm>
            <a:off x="1289050" y="3520232"/>
            <a:ext cx="179046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Rita Vrataski loop</a:t>
            </a:r>
            <a:endParaRPr lang="en-US" sz="1400" dirty="0"/>
          </a:p>
        </p:txBody>
      </p:sp>
      <p:sp>
        <p:nvSpPr>
          <p:cNvPr id="37" name="Text 31"/>
          <p:cNvSpPr/>
          <p:nvPr/>
        </p:nvSpPr>
        <p:spPr>
          <a:xfrm>
            <a:off x="996950" y="3814862"/>
            <a:ext cx="3161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Bucle autónomo que toma issues de Linear.</a:t>
            </a:r>
            <a:endParaRPr lang="en-US" sz="1200" dirty="0"/>
          </a:p>
        </p:txBody>
      </p:sp>
      <p:sp>
        <p:nvSpPr>
          <p:cNvPr id="38" name="Shape 32"/>
          <p:cNvSpPr/>
          <p:nvPr/>
        </p:nvSpPr>
        <p:spPr>
          <a:xfrm>
            <a:off x="996950" y="4094857"/>
            <a:ext cx="3069134" cy="0"/>
          </a:xfrm>
          <a:prstGeom prst="line">
            <a:avLst/>
          </a:prstGeom>
          <a:noFill/>
          <a:ln w="6350">
            <a:solidFill>
              <a:srgbClr val="EFECE4"/>
            </a:solidFill>
            <a:prstDash val="solid"/>
          </a:ln>
        </p:spPr>
      </p:sp>
      <p:sp>
        <p:nvSpPr>
          <p:cNvPr id="39" name="Text 33"/>
          <p:cNvSpPr/>
          <p:nvPr/>
        </p:nvSpPr>
        <p:spPr>
          <a:xfrm>
            <a:off x="996950" y="4161532"/>
            <a:ext cx="3161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Arial" pitchFamily="34" charset="0"/>
                <a:ea typeface="Arial" pitchFamily="34" charset="-122"/>
                <a:cs typeface="Arial" pitchFamily="34" charset="-120"/>
              </a:rPr>
              <a:t>✕ Sin aprobaciones humanas por etapa</a:t>
            </a:r>
            <a:endParaRPr lang="en-US" sz="1200" dirty="0"/>
          </a:p>
        </p:txBody>
      </p:sp>
      <p:sp>
        <p:nvSpPr>
          <p:cNvPr id="40" name="Shape 34"/>
          <p:cNvSpPr/>
          <p:nvPr/>
        </p:nvSpPr>
        <p:spPr>
          <a:xfrm>
            <a:off x="4380409" y="3364657"/>
            <a:ext cx="3431133" cy="1379091"/>
          </a:xfrm>
          <a:prstGeom prst="roundRect">
            <a:avLst>
              <a:gd name="adj" fmla="val 8979"/>
            </a:avLst>
          </a:prstGeom>
          <a:solidFill>
            <a:srgbClr val="FFFFFF"/>
          </a:solidFill>
          <a:ln w="6350">
            <a:solidFill>
              <a:srgbClr val="E4E0D6"/>
            </a:solidFill>
            <a:prstDash val="solid"/>
          </a:ln>
          <a:effectLst>
            <a:outerShdw sx="100000" sy="100000" kx="0" ky="0" algn="bl" rotWithShape="0" blurRad="114300" dist="38100" dir="5400000">
              <a:srgbClr val="14233A">
                <a:alpha val="7000"/>
              </a:srgbClr>
            </a:outerShdw>
          </a:effectLst>
        </p:spPr>
      </p:sp>
      <p:pic>
        <p:nvPicPr>
          <p:cNvPr id="41" name="Image 4" descr="Activity">    </p:cNvPr>
          <p:cNvPicPr>
            <a:picLocks noChangeAspect="1"/>
          </p:cNvPicPr>
          <p:nvPr/>
        </p:nvPicPr>
        <p:blipFill>
          <a:blip r:embed="rId5"/>
          <a:srcRect l="0" r="0" t="0" b="0"/>
          <a:stretch/>
        </p:blipFill>
        <p:spPr>
          <a:xfrm>
            <a:off x="4561384" y="3534172"/>
            <a:ext cx="203200" cy="203200"/>
          </a:xfrm>
          <a:prstGeom prst="rect">
            <a:avLst/>
          </a:prstGeom>
        </p:spPr>
      </p:pic>
      <p:sp>
        <p:nvSpPr>
          <p:cNvPr id="42" name="Text 35"/>
          <p:cNvSpPr/>
          <p:nvPr/>
        </p:nvSpPr>
        <p:spPr>
          <a:xfrm>
            <a:off x="4853484" y="3520232"/>
            <a:ext cx="1102221"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Ralph loop</a:t>
            </a:r>
            <a:endParaRPr lang="en-US" sz="1400" dirty="0"/>
          </a:p>
        </p:txBody>
      </p:sp>
      <p:sp>
        <p:nvSpPr>
          <p:cNvPr id="43" name="Text 36"/>
          <p:cNvSpPr/>
          <p:nvPr/>
        </p:nvSpPr>
        <p:spPr>
          <a:xfrm>
            <a:off x="4561384" y="3814862"/>
            <a:ext cx="31612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Bucle infinito con contexto nuevo en cada vuelta.</a:t>
            </a:r>
            <a:endParaRPr lang="en-US" sz="1200" dirty="0"/>
          </a:p>
        </p:txBody>
      </p:sp>
      <p:sp>
        <p:nvSpPr>
          <p:cNvPr id="44" name="Shape 37"/>
          <p:cNvSpPr/>
          <p:nvPr/>
        </p:nvSpPr>
        <p:spPr>
          <a:xfrm>
            <a:off x="4561384" y="4308177"/>
            <a:ext cx="3069183" cy="0"/>
          </a:xfrm>
          <a:prstGeom prst="line">
            <a:avLst/>
          </a:prstGeom>
          <a:noFill/>
          <a:ln w="6350">
            <a:solidFill>
              <a:srgbClr val="EFECE4"/>
            </a:solidFill>
            <a:prstDash val="solid"/>
          </a:ln>
        </p:spPr>
      </p:sp>
      <p:sp>
        <p:nvSpPr>
          <p:cNvPr id="45" name="Text 38"/>
          <p:cNvSpPr/>
          <p:nvPr/>
        </p:nvSpPr>
        <p:spPr>
          <a:xfrm>
            <a:off x="4561384" y="4374852"/>
            <a:ext cx="3161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Arial" pitchFamily="34" charset="0"/>
                <a:ea typeface="Arial" pitchFamily="34" charset="-122"/>
                <a:cs typeface="Arial" pitchFamily="34" charset="-120"/>
              </a:rPr>
              <a:t>✕ Costo de tokens extremo</a:t>
            </a:r>
            <a:endParaRPr lang="en-US" sz="1200" dirty="0"/>
          </a:p>
        </p:txBody>
      </p:sp>
      <p:sp>
        <p:nvSpPr>
          <p:cNvPr id="46" name="Shape 39"/>
          <p:cNvSpPr/>
          <p:nvPr/>
        </p:nvSpPr>
        <p:spPr>
          <a:xfrm>
            <a:off x="7941717" y="3361482"/>
            <a:ext cx="3437434" cy="1385441"/>
          </a:xfrm>
          <a:prstGeom prst="roundRect">
            <a:avLst>
              <a:gd name="adj" fmla="val 9167"/>
            </a:avLst>
          </a:prstGeom>
          <a:gradFill rotWithShape="1">
            <a:gsLst>
              <a:gs pos="0">
                <a:srgbClr val="14233A"/>
              </a:gs>
              <a:gs pos="100000">
                <a:srgbClr val="24527D"/>
              </a:gs>
            </a:gsLst>
            <a:lin ang="2700000" scaled="0"/>
          </a:gradFill>
          <a:ln/>
        </p:spPr>
      </p:sp>
      <p:sp>
        <p:nvSpPr>
          <p:cNvPr id="47" name="Text 40"/>
          <p:cNvSpPr/>
          <p:nvPr/>
        </p:nvSpPr>
        <p:spPr>
          <a:xfrm>
            <a:off x="8144917" y="3549402"/>
            <a:ext cx="312196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D9A55A"/>
                </a:solidFill>
                <a:latin typeface="Arial" pitchFamily="34" charset="0"/>
                <a:ea typeface="Arial" pitchFamily="34" charset="-122"/>
                <a:cs typeface="Arial" pitchFamily="34" charset="-120"/>
              </a:rPr>
              <a:t>CONCLUSIÓN</a:t>
            </a:r>
            <a:endParaRPr lang="en-US" sz="1200" dirty="0"/>
          </a:p>
        </p:txBody>
      </p:sp>
      <p:sp>
        <p:nvSpPr>
          <p:cNvPr id="48" name="Text 41"/>
          <p:cNvSpPr/>
          <p:nvPr/>
        </p:nvSpPr>
        <p:spPr>
          <a:xfrm>
            <a:off x="8144917" y="3838922"/>
            <a:ext cx="3121965"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6F2"/>
                </a:solidFill>
                <a:latin typeface="Arial" pitchFamily="34" charset="0"/>
                <a:ea typeface="Arial" pitchFamily="34" charset="-122"/>
                <a:cs typeface="Arial" pitchFamily="34" charset="-120"/>
              </a:rPr>
              <a:t>Ninguno resolvía lo nuestro: célula, código existente, trazabilidad y control humano.</a:t>
            </a:r>
            <a:endParaRPr lang="en-US" sz="1400" dirty="0"/>
          </a:p>
        </p:txBody>
      </p:sp>
      <p:sp>
        <p:nvSpPr>
          <p:cNvPr id="49" name="Text 42"/>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50" name="Text 43"/>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ESTUDIO · PASO 2 · LA ESTRATEGIA</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La respuesta: SDD y TDD, en simple</a:t>
            </a:r>
            <a:endParaRPr lang="en-US" sz="3200" dirty="0"/>
          </a:p>
        </p:txBody>
      </p:sp>
      <p:sp>
        <p:nvSpPr>
          <p:cNvPr id="16" name="Text 14"/>
          <p:cNvSpPr/>
          <p:nvPr/>
        </p:nvSpPr>
        <p:spPr>
          <a:xfrm>
            <a:off x="812800" y="4425950"/>
            <a:ext cx="18313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SIN MÉTODO</a:t>
            </a:r>
            <a:endParaRPr lang="en-US" sz="1200" dirty="0"/>
          </a:p>
        </p:txBody>
      </p:sp>
      <p:sp>
        <p:nvSpPr>
          <p:cNvPr id="17" name="Text 15"/>
          <p:cNvSpPr/>
          <p:nvPr/>
        </p:nvSpPr>
        <p:spPr>
          <a:xfrm>
            <a:off x="2695575" y="4346575"/>
            <a:ext cx="556964" cy="372070"/>
          </a:xfrm>
          <a:prstGeom prst="roundRect">
            <a:avLst>
              <a:gd name="adj" fmla="val 16213"/>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680"/>
              </a:lnSpc>
              <a:buNone/>
            </a:pPr>
            <a:r>
              <a:rPr lang="en-US" sz="1200" dirty="0">
                <a:solidFill>
                  <a:srgbClr val="14233A"/>
                </a:solidFill>
                <a:latin typeface="Arial" pitchFamily="34" charset="0"/>
                <a:ea typeface="Arial" pitchFamily="34" charset="-122"/>
                <a:cs typeface="Arial" pitchFamily="34" charset="-120"/>
              </a:rPr>
              <a:t>Idea</a:t>
            </a:r>
            <a:endParaRPr lang="en-US" sz="1200" dirty="0"/>
          </a:p>
        </p:txBody>
      </p:sp>
      <p:pic>
        <p:nvPicPr>
          <p:cNvPr id="18" name="Image 0" descr="arrow-right">    </p:cNvPr>
          <p:cNvPicPr>
            <a:picLocks noChangeAspect="1"/>
          </p:cNvPicPr>
          <p:nvPr/>
        </p:nvPicPr>
        <p:blipFill>
          <a:blip r:embed="rId1"/>
          <a:srcRect l="0" r="0" t="0" b="0"/>
          <a:stretch/>
        </p:blipFill>
        <p:spPr>
          <a:xfrm>
            <a:off x="3357314" y="4488160"/>
            <a:ext cx="177800" cy="88900"/>
          </a:xfrm>
          <a:prstGeom prst="rect">
            <a:avLst/>
          </a:prstGeom>
        </p:spPr>
      </p:pic>
      <p:sp>
        <p:nvSpPr>
          <p:cNvPr id="19" name="Text 16"/>
          <p:cNvSpPr/>
          <p:nvPr/>
        </p:nvSpPr>
        <p:spPr>
          <a:xfrm>
            <a:off x="3639889" y="4346575"/>
            <a:ext cx="743297" cy="372070"/>
          </a:xfrm>
          <a:prstGeom prst="roundRect">
            <a:avLst>
              <a:gd name="adj" fmla="val 16213"/>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680"/>
              </a:lnSpc>
              <a:buNone/>
            </a:pPr>
            <a:r>
              <a:rPr lang="en-US" sz="1200" dirty="0">
                <a:solidFill>
                  <a:srgbClr val="14233A"/>
                </a:solidFill>
                <a:latin typeface="Arial" pitchFamily="34" charset="0"/>
                <a:ea typeface="Arial" pitchFamily="34" charset="-122"/>
                <a:cs typeface="Arial" pitchFamily="34" charset="-120"/>
              </a:rPr>
              <a:t>Código</a:t>
            </a:r>
            <a:endParaRPr lang="en-US" sz="1200" dirty="0"/>
          </a:p>
        </p:txBody>
      </p:sp>
      <p:pic>
        <p:nvPicPr>
          <p:cNvPr id="20" name="Image 1" descr="arrow-right">    </p:cNvPr>
          <p:cNvPicPr>
            <a:picLocks noChangeAspect="1"/>
          </p:cNvPicPr>
          <p:nvPr/>
        </p:nvPicPr>
        <p:blipFill>
          <a:blip r:embed="rId2"/>
          <a:srcRect l="0" r="0" t="0" b="0"/>
          <a:stretch/>
        </p:blipFill>
        <p:spPr>
          <a:xfrm>
            <a:off x="4487962" y="4488160"/>
            <a:ext cx="177800" cy="88900"/>
          </a:xfrm>
          <a:prstGeom prst="rect">
            <a:avLst/>
          </a:prstGeom>
        </p:spPr>
      </p:pic>
      <p:sp>
        <p:nvSpPr>
          <p:cNvPr id="21" name="Text 17"/>
          <p:cNvSpPr/>
          <p:nvPr/>
        </p:nvSpPr>
        <p:spPr>
          <a:xfrm>
            <a:off x="4770537" y="4346575"/>
            <a:ext cx="1810544" cy="372070"/>
          </a:xfrm>
          <a:prstGeom prst="roundRect">
            <a:avLst>
              <a:gd name="adj" fmla="val 16213"/>
            </a:avLst>
          </a:prstGeom>
          <a:solidFill>
            <a:srgbClr val="FCFBF7"/>
          </a:solidFill>
          <a:ln w="6350">
            <a:solidFill>
              <a:srgbClr val="C9C2B3"/>
            </a:solidFill>
            <a:prstDash val="dash"/>
          </a:ln>
        </p:spPr>
        <p:txBody>
          <a:bodyPr wrap="none" lIns="0" tIns="0" rIns="0" bIns="0" rtlCol="0" anchor="ctr">
            <a:normAutofit/>
          </a:bodyPr>
          <a:lstStyle/>
          <a:p>
            <a:pPr algn="ctr" indent="0" marL="0">
              <a:lnSpc>
                <a:spcPts val="1680"/>
              </a:lnSpc>
              <a:buNone/>
            </a:pPr>
            <a:r>
              <a:rPr lang="en-US" sz="1200" dirty="0">
                <a:solidFill>
                  <a:srgbClr val="646B76"/>
                </a:solidFill>
                <a:latin typeface="Arial" pitchFamily="34" charset="0"/>
                <a:ea typeface="Arial" pitchFamily="34" charset="-122"/>
                <a:cs typeface="Arial" pitchFamily="34" charset="-120"/>
              </a:rPr>
              <a:t>Pruebas, si hay tiempo</a:t>
            </a:r>
            <a:endParaRPr lang="en-US" sz="1200" dirty="0"/>
          </a:p>
        </p:txBody>
      </p:sp>
      <p:sp>
        <p:nvSpPr>
          <p:cNvPr id="22" name="Text 18"/>
          <p:cNvSpPr/>
          <p:nvPr/>
        </p:nvSpPr>
        <p:spPr>
          <a:xfrm>
            <a:off x="812800" y="4959350"/>
            <a:ext cx="18313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CON SDD + TDD</a:t>
            </a:r>
            <a:endParaRPr lang="en-US" sz="1200" dirty="0"/>
          </a:p>
        </p:txBody>
      </p:sp>
      <p:sp>
        <p:nvSpPr>
          <p:cNvPr id="23" name="Text 19"/>
          <p:cNvSpPr/>
          <p:nvPr/>
        </p:nvSpPr>
        <p:spPr>
          <a:xfrm>
            <a:off x="2695575" y="4879975"/>
            <a:ext cx="556964" cy="372070"/>
          </a:xfrm>
          <a:prstGeom prst="roundRect">
            <a:avLst>
              <a:gd name="adj" fmla="val 16213"/>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680"/>
              </a:lnSpc>
              <a:buNone/>
            </a:pPr>
            <a:r>
              <a:rPr lang="en-US" sz="1200" dirty="0">
                <a:solidFill>
                  <a:srgbClr val="14233A"/>
                </a:solidFill>
                <a:latin typeface="Arial" pitchFamily="34" charset="0"/>
                <a:ea typeface="Arial" pitchFamily="34" charset="-122"/>
                <a:cs typeface="Arial" pitchFamily="34" charset="-120"/>
              </a:rPr>
              <a:t>Idea</a:t>
            </a:r>
            <a:endParaRPr lang="en-US" sz="1200" dirty="0"/>
          </a:p>
        </p:txBody>
      </p:sp>
      <p:pic>
        <p:nvPicPr>
          <p:cNvPr id="24" name="Image 2" descr="arrow-right">    </p:cNvPr>
          <p:cNvPicPr>
            <a:picLocks noChangeAspect="1"/>
          </p:cNvPicPr>
          <p:nvPr/>
        </p:nvPicPr>
        <p:blipFill>
          <a:blip r:embed="rId3"/>
          <a:srcRect l="0" r="0" t="0" b="0"/>
          <a:stretch/>
        </p:blipFill>
        <p:spPr>
          <a:xfrm>
            <a:off x="3357314" y="5021560"/>
            <a:ext cx="177800" cy="88900"/>
          </a:xfrm>
          <a:prstGeom prst="rect">
            <a:avLst/>
          </a:prstGeom>
        </p:spPr>
      </p:pic>
      <p:sp>
        <p:nvSpPr>
          <p:cNvPr id="25" name="Text 20"/>
          <p:cNvSpPr/>
          <p:nvPr/>
        </p:nvSpPr>
        <p:spPr>
          <a:xfrm>
            <a:off x="3639889" y="4879975"/>
            <a:ext cx="1327596" cy="372070"/>
          </a:xfrm>
          <a:prstGeom prst="roundRect">
            <a:avLst>
              <a:gd name="adj" fmla="val 16213"/>
            </a:avLst>
          </a:prstGeom>
          <a:solidFill>
            <a:srgbClr val="E6EEF6"/>
          </a:solidFill>
          <a:ln w="6350">
            <a:solidFill>
              <a:srgbClr val="2B5F8E"/>
            </a:solidFill>
            <a:prstDash val="solid"/>
          </a:ln>
        </p:spPr>
        <p:txBody>
          <a:bodyPr wrap="none" lIns="0" tIns="0" rIns="0" bIns="0" rtlCol="0" anchor="ctr">
            <a:normAutofit/>
          </a:bodyPr>
          <a:lstStyle/>
          <a:p>
            <a:pPr algn="ctr" indent="0" marL="0">
              <a:lnSpc>
                <a:spcPts val="1680"/>
              </a:lnSpc>
              <a:buNone/>
            </a:pPr>
            <a:r>
              <a:rPr lang="en-US" sz="1200" b="1" dirty="0">
                <a:solidFill>
                  <a:srgbClr val="1F4A73"/>
                </a:solidFill>
                <a:latin typeface="Arial" pitchFamily="34" charset="0"/>
                <a:ea typeface="Arial" pitchFamily="34" charset="-122"/>
                <a:cs typeface="Arial" pitchFamily="34" charset="-120"/>
              </a:rPr>
              <a:t>Especificación</a:t>
            </a:r>
            <a:endParaRPr lang="en-US" sz="1200" dirty="0"/>
          </a:p>
        </p:txBody>
      </p:sp>
      <p:pic>
        <p:nvPicPr>
          <p:cNvPr id="26" name="Image 3" descr="arrow-right">    </p:cNvPr>
          <p:cNvPicPr>
            <a:picLocks noChangeAspect="1"/>
          </p:cNvPicPr>
          <p:nvPr/>
        </p:nvPicPr>
        <p:blipFill>
          <a:blip r:embed="rId4"/>
          <a:srcRect l="0" r="0" t="0" b="0"/>
          <a:stretch/>
        </p:blipFill>
        <p:spPr>
          <a:xfrm>
            <a:off x="5072261" y="5021560"/>
            <a:ext cx="177800" cy="88900"/>
          </a:xfrm>
          <a:prstGeom prst="rect">
            <a:avLst/>
          </a:prstGeom>
        </p:spPr>
      </p:pic>
      <p:sp>
        <p:nvSpPr>
          <p:cNvPr id="27" name="Text 21"/>
          <p:cNvSpPr/>
          <p:nvPr/>
        </p:nvSpPr>
        <p:spPr>
          <a:xfrm>
            <a:off x="5354836" y="4879975"/>
            <a:ext cx="861764" cy="372070"/>
          </a:xfrm>
          <a:prstGeom prst="roundRect">
            <a:avLst>
              <a:gd name="adj" fmla="val 16213"/>
            </a:avLst>
          </a:prstGeom>
          <a:solidFill>
            <a:srgbClr val="E6EEF6"/>
          </a:solidFill>
          <a:ln w="6350">
            <a:solidFill>
              <a:srgbClr val="2B5F8E"/>
            </a:solidFill>
            <a:prstDash val="solid"/>
          </a:ln>
        </p:spPr>
        <p:txBody>
          <a:bodyPr wrap="none" lIns="0" tIns="0" rIns="0" bIns="0" rtlCol="0" anchor="ctr">
            <a:normAutofit/>
          </a:bodyPr>
          <a:lstStyle/>
          <a:p>
            <a:pPr algn="ctr" indent="0" marL="0">
              <a:lnSpc>
                <a:spcPts val="1680"/>
              </a:lnSpc>
              <a:buNone/>
            </a:pPr>
            <a:r>
              <a:rPr lang="en-US" sz="1200" b="1" dirty="0">
                <a:solidFill>
                  <a:srgbClr val="1F4A73"/>
                </a:solidFill>
                <a:latin typeface="Arial" pitchFamily="34" charset="0"/>
                <a:ea typeface="Arial" pitchFamily="34" charset="-122"/>
                <a:cs typeface="Arial" pitchFamily="34" charset="-120"/>
              </a:rPr>
              <a:t>Pruebas</a:t>
            </a:r>
            <a:endParaRPr lang="en-US" sz="1200" dirty="0"/>
          </a:p>
        </p:txBody>
      </p:sp>
      <p:pic>
        <p:nvPicPr>
          <p:cNvPr id="28" name="Image 4" descr="arrow-right">    </p:cNvPr>
          <p:cNvPicPr>
            <a:picLocks noChangeAspect="1"/>
          </p:cNvPicPr>
          <p:nvPr/>
        </p:nvPicPr>
        <p:blipFill>
          <a:blip r:embed="rId5"/>
          <a:srcRect l="0" r="0" t="0" b="0"/>
          <a:stretch/>
        </p:blipFill>
        <p:spPr>
          <a:xfrm>
            <a:off x="6321375" y="5021560"/>
            <a:ext cx="177800" cy="88900"/>
          </a:xfrm>
          <a:prstGeom prst="rect">
            <a:avLst/>
          </a:prstGeom>
        </p:spPr>
      </p:pic>
      <p:sp>
        <p:nvSpPr>
          <p:cNvPr id="29" name="Text 22"/>
          <p:cNvSpPr/>
          <p:nvPr/>
        </p:nvSpPr>
        <p:spPr>
          <a:xfrm>
            <a:off x="6603950" y="4879975"/>
            <a:ext cx="743297" cy="372070"/>
          </a:xfrm>
          <a:prstGeom prst="roundRect">
            <a:avLst>
              <a:gd name="adj" fmla="val 16213"/>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680"/>
              </a:lnSpc>
              <a:buNone/>
            </a:pPr>
            <a:r>
              <a:rPr lang="en-US" sz="1200" dirty="0">
                <a:solidFill>
                  <a:srgbClr val="14233A"/>
                </a:solidFill>
                <a:latin typeface="Arial" pitchFamily="34" charset="0"/>
                <a:ea typeface="Arial" pitchFamily="34" charset="-122"/>
                <a:cs typeface="Arial" pitchFamily="34" charset="-120"/>
              </a:rPr>
              <a:t>Código</a:t>
            </a:r>
            <a:endParaRPr lang="en-US" sz="1200" dirty="0"/>
          </a:p>
        </p:txBody>
      </p:sp>
      <p:pic>
        <p:nvPicPr>
          <p:cNvPr id="30" name="Image 5" descr="arrow-right">    </p:cNvPr>
          <p:cNvPicPr>
            <a:picLocks noChangeAspect="1"/>
          </p:cNvPicPr>
          <p:nvPr/>
        </p:nvPicPr>
        <p:blipFill>
          <a:blip r:embed="rId6"/>
          <a:srcRect l="0" r="0" t="0" b="0"/>
          <a:stretch/>
        </p:blipFill>
        <p:spPr>
          <a:xfrm>
            <a:off x="7452023" y="5021560"/>
            <a:ext cx="177800" cy="88900"/>
          </a:xfrm>
          <a:prstGeom prst="rect">
            <a:avLst/>
          </a:prstGeom>
        </p:spPr>
      </p:pic>
      <p:sp>
        <p:nvSpPr>
          <p:cNvPr id="31" name="Text 23"/>
          <p:cNvSpPr/>
          <p:nvPr/>
        </p:nvSpPr>
        <p:spPr>
          <a:xfrm>
            <a:off x="7734598" y="4879975"/>
            <a:ext cx="1039713" cy="372070"/>
          </a:xfrm>
          <a:prstGeom prst="roundRect">
            <a:avLst>
              <a:gd name="adj" fmla="val 16213"/>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680"/>
              </a:lnSpc>
              <a:buNone/>
            </a:pPr>
            <a:r>
              <a:rPr lang="en-US" sz="1200" dirty="0">
                <a:solidFill>
                  <a:srgbClr val="14233A"/>
                </a:solidFill>
                <a:latin typeface="Arial" pitchFamily="34" charset="0"/>
                <a:ea typeface="Arial" pitchFamily="34" charset="-122"/>
                <a:cs typeface="Arial" pitchFamily="34" charset="-120"/>
              </a:rPr>
              <a:t>Verificación</a:t>
            </a:r>
            <a:endParaRPr lang="en-US" sz="1200" dirty="0"/>
          </a:p>
        </p:txBody>
      </p:sp>
      <p:sp>
        <p:nvSpPr>
          <p:cNvPr id="32" name="Shape 24"/>
          <p:cNvSpPr/>
          <p:nvPr/>
        </p:nvSpPr>
        <p:spPr>
          <a:xfrm>
            <a:off x="815975" y="1831975"/>
            <a:ext cx="5175250" cy="2305050"/>
          </a:xfrm>
          <a:prstGeom prst="roundRect">
            <a:avLst>
              <a:gd name="adj" fmla="val 4270"/>
            </a:avLst>
          </a:prstGeom>
          <a:solidFill>
            <a:srgbClr val="FCFBF7"/>
          </a:solidFill>
          <a:ln w="6350">
            <a:solidFill>
              <a:srgbClr val="DDD8CC"/>
            </a:solidFill>
            <a:prstDash val="solid"/>
          </a:ln>
        </p:spPr>
      </p:sp>
      <p:sp>
        <p:nvSpPr>
          <p:cNvPr id="33" name="Text 25"/>
          <p:cNvSpPr/>
          <p:nvPr/>
        </p:nvSpPr>
        <p:spPr>
          <a:xfrm>
            <a:off x="1022350" y="2012950"/>
            <a:ext cx="490537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SDD · Desarrollo guiado por especificaciones</a:t>
            </a:r>
            <a:endParaRPr lang="en-US" sz="1400" dirty="0"/>
          </a:p>
        </p:txBody>
      </p:sp>
      <p:sp>
        <p:nvSpPr>
          <p:cNvPr id="34" name="Text 26"/>
          <p:cNvSpPr/>
          <p:nvPr/>
        </p:nvSpPr>
        <p:spPr>
          <a:xfrm>
            <a:off x="1022350" y="2320280"/>
            <a:ext cx="490537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Antes de programar se acuerda qué debe hacer el sistema y cómo sabremos que está bien. La IA trabaja sobre ese acuerdo, no sobre suposiciones.</a:t>
            </a:r>
            <a:endParaRPr lang="en-US" sz="1200" dirty="0"/>
          </a:p>
        </p:txBody>
      </p:sp>
      <p:sp>
        <p:nvSpPr>
          <p:cNvPr id="35" name="Text 27"/>
          <p:cNvSpPr/>
          <p:nvPr/>
        </p:nvSpPr>
        <p:spPr>
          <a:xfrm>
            <a:off x="1022350" y="3036441"/>
            <a:ext cx="4905375"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2B5F8E"/>
                </a:solidFill>
                <a:latin typeface="Arial" pitchFamily="34" charset="0"/>
                <a:ea typeface="Arial" pitchFamily="34" charset="-122"/>
                <a:cs typeface="Arial" pitchFamily="34" charset="-120"/>
              </a:rPr>
              <a:t>Como construir con planos aprobados.</a:t>
            </a:r>
            <a:endParaRPr lang="en-US" sz="1200" dirty="0"/>
          </a:p>
        </p:txBody>
      </p:sp>
      <p:sp>
        <p:nvSpPr>
          <p:cNvPr id="36" name="Shape 28"/>
          <p:cNvSpPr/>
          <p:nvPr/>
        </p:nvSpPr>
        <p:spPr>
          <a:xfrm>
            <a:off x="1022350" y="3450034"/>
            <a:ext cx="4762500" cy="0"/>
          </a:xfrm>
          <a:prstGeom prst="line">
            <a:avLst/>
          </a:prstGeom>
          <a:noFill/>
          <a:ln w="6350">
            <a:solidFill>
              <a:srgbClr val="DDD8CC"/>
            </a:solidFill>
            <a:prstDash val="solid"/>
          </a:ln>
        </p:spPr>
      </p:sp>
      <p:sp>
        <p:nvSpPr>
          <p:cNvPr id="37" name="Text 29"/>
          <p:cNvSpPr/>
          <p:nvPr/>
        </p:nvSpPr>
        <p:spPr>
          <a:xfrm>
            <a:off x="1022350" y="3529409"/>
            <a:ext cx="490537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C5A12"/>
                </a:solidFill>
                <a:latin typeface="Arial" pitchFamily="34" charset="0"/>
                <a:ea typeface="Arial" pitchFamily="34" charset="-122"/>
                <a:cs typeface="Arial" pitchFamily="34" charset="-120"/>
              </a:rPr>
              <a:t>ORIGEN · 2004</a:t>
            </a:r>
            <a:r>
              <a:rPr lang="en-US" sz="1200" dirty="0">
                <a:solidFill>
                  <a:srgbClr val="4A5363"/>
                </a:solidFill>
                <a:latin typeface="Arial" pitchFamily="34" charset="0"/>
                <a:ea typeface="Arial" pitchFamily="34" charset="-122"/>
                <a:cs typeface="Arial" pitchFamily="34" charset="-120"/>
              </a:rPr>
              <a:t> — Propuesto por Ostroff, Makalsky y Paige, une TDD y diseño por contrato. Resurge en 2025 con los agentes de IA.</a:t>
            </a:r>
            <a:endParaRPr lang="en-US" sz="1200" dirty="0"/>
          </a:p>
        </p:txBody>
      </p:sp>
      <p:sp>
        <p:nvSpPr>
          <p:cNvPr id="38" name="Shape 30"/>
          <p:cNvSpPr/>
          <p:nvPr/>
        </p:nvSpPr>
        <p:spPr>
          <a:xfrm>
            <a:off x="6200775" y="1831975"/>
            <a:ext cx="5175250" cy="2305050"/>
          </a:xfrm>
          <a:prstGeom prst="roundRect">
            <a:avLst>
              <a:gd name="adj" fmla="val 4270"/>
            </a:avLst>
          </a:prstGeom>
          <a:solidFill>
            <a:srgbClr val="FCFBF7"/>
          </a:solidFill>
          <a:ln w="6350">
            <a:solidFill>
              <a:srgbClr val="DDD8CC"/>
            </a:solidFill>
            <a:prstDash val="solid"/>
          </a:ln>
        </p:spPr>
      </p:sp>
      <p:sp>
        <p:nvSpPr>
          <p:cNvPr id="39" name="Text 31"/>
          <p:cNvSpPr/>
          <p:nvPr/>
        </p:nvSpPr>
        <p:spPr>
          <a:xfrm>
            <a:off x="6407150" y="2012950"/>
            <a:ext cx="4905375"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TDD · Desarrollo guiado por pruebas</a:t>
            </a:r>
            <a:endParaRPr lang="en-US" sz="1400" dirty="0"/>
          </a:p>
        </p:txBody>
      </p:sp>
      <p:sp>
        <p:nvSpPr>
          <p:cNvPr id="40" name="Text 32"/>
          <p:cNvSpPr/>
          <p:nvPr/>
        </p:nvSpPr>
        <p:spPr>
          <a:xfrm>
            <a:off x="6407150" y="2320280"/>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Primero se escribe la prueba que define «terminado»; luego, el código mínimo que la supera; al final, se mejora sin romperla.</a:t>
            </a:r>
            <a:endParaRPr lang="en-US" sz="1200" dirty="0"/>
          </a:p>
        </p:txBody>
      </p:sp>
      <p:sp>
        <p:nvSpPr>
          <p:cNvPr id="41" name="Text 33"/>
          <p:cNvSpPr/>
          <p:nvPr/>
        </p:nvSpPr>
        <p:spPr>
          <a:xfrm>
            <a:off x="6407150" y="2823121"/>
            <a:ext cx="4905375"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2B5F8E"/>
                </a:solidFill>
                <a:latin typeface="Arial" pitchFamily="34" charset="0"/>
                <a:ea typeface="Arial" pitchFamily="34" charset="-122"/>
                <a:cs typeface="Arial" pitchFamily="34" charset="-120"/>
              </a:rPr>
              <a:t>Como fijar la inspección antes de construir.</a:t>
            </a:r>
            <a:endParaRPr lang="en-US" sz="1200" dirty="0"/>
          </a:p>
        </p:txBody>
      </p:sp>
      <p:sp>
        <p:nvSpPr>
          <p:cNvPr id="42" name="Shape 34"/>
          <p:cNvSpPr/>
          <p:nvPr/>
        </p:nvSpPr>
        <p:spPr>
          <a:xfrm>
            <a:off x="6407150" y="3450034"/>
            <a:ext cx="4762500" cy="0"/>
          </a:xfrm>
          <a:prstGeom prst="line">
            <a:avLst/>
          </a:prstGeom>
          <a:noFill/>
          <a:ln w="6350">
            <a:solidFill>
              <a:srgbClr val="DDD8CC"/>
            </a:solidFill>
            <a:prstDash val="solid"/>
          </a:ln>
        </p:spPr>
      </p:sp>
      <p:sp>
        <p:nvSpPr>
          <p:cNvPr id="43" name="Text 35"/>
          <p:cNvSpPr/>
          <p:nvPr/>
        </p:nvSpPr>
        <p:spPr>
          <a:xfrm>
            <a:off x="6407150" y="3529409"/>
            <a:ext cx="490537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C5A12"/>
                </a:solidFill>
                <a:latin typeface="Arial" pitchFamily="34" charset="0"/>
                <a:ea typeface="Arial" pitchFamily="34" charset="-122"/>
                <a:cs typeface="Arial" pitchFamily="34" charset="-120"/>
              </a:rPr>
              <a:t>ORIGEN · 1999–2002</a:t>
            </a:r>
            <a:r>
              <a:rPr lang="en-US" sz="1200" dirty="0">
                <a:solidFill>
                  <a:srgbClr val="4A5363"/>
                </a:solidFill>
                <a:latin typeface="Arial" pitchFamily="34" charset="0"/>
                <a:ea typeface="Arial" pitchFamily="34" charset="-122"/>
                <a:cs typeface="Arial" pitchFamily="34" charset="-120"/>
              </a:rPr>
              <a:t> — Kent Beck lo formaliza en Extreme Programming y en su libro </a:t>
            </a:r>
            <a:r>
              <a:rPr lang="en-US" sz="1200" i="1" dirty="0">
                <a:solidFill>
                  <a:srgbClr val="4A5363"/>
                </a:solidFill>
                <a:latin typeface="Arial" pitchFamily="34" charset="0"/>
                <a:ea typeface="Arial" pitchFamily="34" charset="-122"/>
                <a:cs typeface="Arial" pitchFamily="34" charset="-120"/>
              </a:rPr>
              <a:t>Test-Driven Development: By Example</a:t>
            </a:r>
            <a:r>
              <a:rPr lang="en-US" sz="1200" dirty="0">
                <a:solidFill>
                  <a:srgbClr val="4A5363"/>
                </a:solidFill>
                <a:latin typeface="Arial" pitchFamily="34" charset="0"/>
                <a:ea typeface="Arial" pitchFamily="34" charset="-122"/>
                <a:cs typeface="Arial" pitchFamily="34" charset="-120"/>
              </a:rPr>
              <a:t>.</a:t>
            </a:r>
            <a:endParaRPr lang="en-US" sz="1200" dirty="0"/>
          </a:p>
        </p:txBody>
      </p:sp>
      <p:sp>
        <p:nvSpPr>
          <p:cNvPr id="44" name="Text 36"/>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45" name="Text 37"/>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ESTUDIO · PASO 3 · COMPARACIÓN FORMAL · 3 AL 14 AGO</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Los finalistas: frameworks de SDD</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10553700" cy="2516684"/>
        </p:xfrm>
        <a:graphic>
          <a:graphicData uri="http://schemas.openxmlformats.org/drawingml/2006/table">
            <a:tbl>
              <a:tblPr/>
              <a:tblGrid>
                <a:gridCol w="1899666"/>
                <a:gridCol w="3166110"/>
                <a:gridCol w="3799332"/>
                <a:gridCol w="1688592"/>
              </a:tblGrid>
              <a:tr h="332680">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Framework</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Fortaleza</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Limitación para la célula</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Decisión</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r>
              <a:tr h="546001">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Spec-Kit (GitHub)</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Muy completo: constitución, plan y tareas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Pensado para proyectos nuevos; mucho esfuerzo en código existente</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8C5A12"/>
                          </a:solidFill>
                          <a:latin typeface="Arial" pitchFamily="34" charset="0"/>
                          <a:ea typeface="Arial" pitchFamily="34" charset="-122"/>
                          <a:cs typeface="Arial" pitchFamily="34" charset="-120"/>
                        </a:rPr>
                        <a:t>Descartado</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6001">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Superpowers (J. Vincent)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TDD riguroso, planes y revisión con subagentes</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Flujo completo obligatorio por desarrollador; invasivo en cambios pequeños</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8C5A12"/>
                          </a:solidFill>
                          <a:latin typeface="Arial" pitchFamily="34" charset="0"/>
                          <a:ea typeface="Arial" pitchFamily="34" charset="-122"/>
                          <a:cs typeface="Arial" pitchFamily="34" charset="-120"/>
                        </a:rPr>
                        <a:t>Descartado</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546001">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Spec Pulse</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Specs primero, con CLI y plantillas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Integrado con Claude Code y Gemini CLI, no con Copilot</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8C5A12"/>
                          </a:solidFill>
                          <a:latin typeface="Arial" pitchFamily="34" charset="0"/>
                          <a:ea typeface="Arial" pitchFamily="34" charset="-122"/>
                          <a:cs typeface="Arial" pitchFamily="34" charset="-120"/>
                        </a:rPr>
                        <a:t>No adoptado</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6001">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OpenSpec (Fission AI)</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Specs delta sobre código existente; funciona con Copilot</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Depende de su CLI y de Node.js 20.19+ (visto al adoptarlo)</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2B5F8E"/>
                          </a:solidFill>
                          <a:latin typeface="Arial" pitchFamily="34" charset="0"/>
                          <a:ea typeface="Arial" pitchFamily="34" charset="-122"/>
                          <a:cs typeface="Arial" pitchFamily="34" charset="-120"/>
                        </a:rPr>
                        <a:t>Elegido</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bl>
          </a:graphicData>
        </a:graphic>
      </p:graphicFrame>
      <p:sp>
        <p:nvSpPr>
          <p:cNvPr id="17" name="Text 14"/>
          <p:cNvSpPr/>
          <p:nvPr/>
        </p:nvSpPr>
        <p:spPr>
          <a:xfrm>
            <a:off x="812800" y="473402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Fuentes: bitácora de estrategia del equipo (11 y 14 ago 2026), bitácora de adopción (3 ago) y documentación pública de cada framework.</a:t>
            </a:r>
            <a:endParaRPr lang="en-US" sz="1200" dirty="0"/>
          </a:p>
        </p:txBody>
      </p:sp>
      <p:sp>
        <p:nvSpPr>
          <p:cNvPr id="18" name="Text 15"/>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19" name="Text 16"/>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ESTUDIO · VALIDACIÓN EXTERNA</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Quién más trabaja así</a:t>
            </a:r>
            <a:endParaRPr lang="en-US" sz="3200" dirty="0"/>
          </a:p>
        </p:txBody>
      </p:sp>
      <p:sp>
        <p:nvSpPr>
          <p:cNvPr id="16" name="Shape 14"/>
          <p:cNvSpPr/>
          <p:nvPr/>
        </p:nvSpPr>
        <p:spPr>
          <a:xfrm>
            <a:off x="815975" y="1908175"/>
            <a:ext cx="10560050" cy="603250"/>
          </a:xfrm>
          <a:prstGeom prst="roundRect">
            <a:avLst>
              <a:gd name="adj" fmla="val 12105"/>
            </a:avLst>
          </a:prstGeom>
          <a:solidFill>
            <a:srgbClr val="FCFBF7"/>
          </a:solidFill>
          <a:ln w="6350">
            <a:solidFill>
              <a:srgbClr val="DDD8CC"/>
            </a:solidFill>
            <a:prstDash val="solid"/>
          </a:ln>
        </p:spPr>
      </p:sp>
      <p:sp>
        <p:nvSpPr>
          <p:cNvPr id="17" name="Text 15"/>
          <p:cNvSpPr/>
          <p:nvPr/>
        </p:nvSpPr>
        <p:spPr>
          <a:xfrm>
            <a:off x="996950" y="2085330"/>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GitHub · Microsoft</a:t>
            </a:r>
            <a:endParaRPr lang="en-US" sz="1400" dirty="0"/>
          </a:p>
        </p:txBody>
      </p:sp>
      <p:sp>
        <p:nvSpPr>
          <p:cNvPr id="18" name="Text 16"/>
          <p:cNvSpPr/>
          <p:nvPr/>
        </p:nvSpPr>
        <p:spPr>
          <a:xfrm>
            <a:off x="3486150" y="1996480"/>
            <a:ext cx="6749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Spec Kit: kit open source de SDD (especificar, planificar, dividir en tareas, implementar), compatible con Copilot.</a:t>
            </a:r>
            <a:endParaRPr lang="en-US" sz="1200" dirty="0"/>
          </a:p>
        </p:txBody>
      </p:sp>
      <p:sp>
        <p:nvSpPr>
          <p:cNvPr id="19" name="Text 17"/>
          <p:cNvSpPr/>
          <p:nvPr/>
        </p:nvSpPr>
        <p:spPr>
          <a:xfrm>
            <a:off x="10191750" y="2103140"/>
            <a:ext cx="1003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sep 2025</a:t>
            </a:r>
            <a:endParaRPr lang="en-US" sz="1200" dirty="0"/>
          </a:p>
        </p:txBody>
      </p:sp>
      <p:sp>
        <p:nvSpPr>
          <p:cNvPr id="20" name="Shape 18"/>
          <p:cNvSpPr/>
          <p:nvPr/>
        </p:nvSpPr>
        <p:spPr>
          <a:xfrm>
            <a:off x="815975" y="2619375"/>
            <a:ext cx="10560050" cy="603250"/>
          </a:xfrm>
          <a:prstGeom prst="roundRect">
            <a:avLst>
              <a:gd name="adj" fmla="val 12105"/>
            </a:avLst>
          </a:prstGeom>
          <a:solidFill>
            <a:srgbClr val="FCFBF7"/>
          </a:solidFill>
          <a:ln w="6350">
            <a:solidFill>
              <a:srgbClr val="DDD8CC"/>
            </a:solidFill>
            <a:prstDash val="solid"/>
          </a:ln>
        </p:spPr>
      </p:sp>
      <p:sp>
        <p:nvSpPr>
          <p:cNvPr id="21" name="Text 19"/>
          <p:cNvSpPr/>
          <p:nvPr/>
        </p:nvSpPr>
        <p:spPr>
          <a:xfrm>
            <a:off x="996950" y="2796530"/>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Amazon Web Services</a:t>
            </a:r>
            <a:endParaRPr lang="en-US" sz="1400" dirty="0"/>
          </a:p>
        </p:txBody>
      </p:sp>
      <p:sp>
        <p:nvSpPr>
          <p:cNvPr id="22" name="Text 20"/>
          <p:cNvSpPr/>
          <p:nvPr/>
        </p:nvSpPr>
        <p:spPr>
          <a:xfrm>
            <a:off x="3486150" y="2707680"/>
            <a:ext cx="6749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Kiro: entorno de desarrollo guiado por specs que redacta los requisitos en notación EARS, la misma que usamos.</a:t>
            </a:r>
            <a:endParaRPr lang="en-US" sz="1200" dirty="0"/>
          </a:p>
        </p:txBody>
      </p:sp>
      <p:sp>
        <p:nvSpPr>
          <p:cNvPr id="23" name="Text 21"/>
          <p:cNvSpPr/>
          <p:nvPr/>
        </p:nvSpPr>
        <p:spPr>
          <a:xfrm>
            <a:off x="10191750" y="2814340"/>
            <a:ext cx="1003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jul 2025</a:t>
            </a:r>
            <a:endParaRPr lang="en-US" sz="1200" dirty="0"/>
          </a:p>
        </p:txBody>
      </p:sp>
      <p:sp>
        <p:nvSpPr>
          <p:cNvPr id="24" name="Shape 22"/>
          <p:cNvSpPr/>
          <p:nvPr/>
        </p:nvSpPr>
        <p:spPr>
          <a:xfrm>
            <a:off x="815975" y="3330575"/>
            <a:ext cx="10560050" cy="603250"/>
          </a:xfrm>
          <a:prstGeom prst="roundRect">
            <a:avLst>
              <a:gd name="adj" fmla="val 12105"/>
            </a:avLst>
          </a:prstGeom>
          <a:solidFill>
            <a:srgbClr val="FCFBF7"/>
          </a:solidFill>
          <a:ln w="6350">
            <a:solidFill>
              <a:srgbClr val="DDD8CC"/>
            </a:solidFill>
            <a:prstDash val="solid"/>
          </a:ln>
        </p:spPr>
      </p:sp>
      <p:sp>
        <p:nvSpPr>
          <p:cNvPr id="25" name="Text 23"/>
          <p:cNvSpPr/>
          <p:nvPr/>
        </p:nvSpPr>
        <p:spPr>
          <a:xfrm>
            <a:off x="996950" y="3507730"/>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Google</a:t>
            </a:r>
            <a:endParaRPr lang="en-US" sz="1400" dirty="0"/>
          </a:p>
        </p:txBody>
      </p:sp>
      <p:sp>
        <p:nvSpPr>
          <p:cNvPr id="26" name="Text 24"/>
          <p:cNvSpPr/>
          <p:nvPr/>
        </p:nvSpPr>
        <p:spPr>
          <a:xfrm>
            <a:off x="3486150" y="3418880"/>
            <a:ext cx="6749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Conductor para Gemini CLI: specs y planes en Markdown que viven junto al código del repositorio.</a:t>
            </a:r>
            <a:endParaRPr lang="en-US" sz="1200" dirty="0"/>
          </a:p>
        </p:txBody>
      </p:sp>
      <p:sp>
        <p:nvSpPr>
          <p:cNvPr id="27" name="Text 25"/>
          <p:cNvSpPr/>
          <p:nvPr/>
        </p:nvSpPr>
        <p:spPr>
          <a:xfrm>
            <a:off x="10191750" y="3525540"/>
            <a:ext cx="1003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dic 2025</a:t>
            </a:r>
            <a:endParaRPr lang="en-US" sz="1200" dirty="0"/>
          </a:p>
        </p:txBody>
      </p:sp>
      <p:sp>
        <p:nvSpPr>
          <p:cNvPr id="28" name="Shape 26"/>
          <p:cNvSpPr/>
          <p:nvPr/>
        </p:nvSpPr>
        <p:spPr>
          <a:xfrm>
            <a:off x="815975" y="4041775"/>
            <a:ext cx="10560050" cy="603250"/>
          </a:xfrm>
          <a:prstGeom prst="roundRect">
            <a:avLst>
              <a:gd name="adj" fmla="val 12105"/>
            </a:avLst>
          </a:prstGeom>
          <a:solidFill>
            <a:srgbClr val="FCFBF7"/>
          </a:solidFill>
          <a:ln w="6350">
            <a:solidFill>
              <a:srgbClr val="DDD8CC"/>
            </a:solidFill>
            <a:prstDash val="solid"/>
          </a:ln>
        </p:spPr>
      </p:sp>
      <p:sp>
        <p:nvSpPr>
          <p:cNvPr id="29" name="Text 27"/>
          <p:cNvSpPr/>
          <p:nvPr/>
        </p:nvSpPr>
        <p:spPr>
          <a:xfrm>
            <a:off x="996950" y="4218930"/>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Thoughtworks</a:t>
            </a:r>
            <a:endParaRPr lang="en-US" sz="1400" dirty="0"/>
          </a:p>
        </p:txBody>
      </p:sp>
      <p:sp>
        <p:nvSpPr>
          <p:cNvPr id="30" name="Text 28"/>
          <p:cNvSpPr/>
          <p:nvPr/>
        </p:nvSpPr>
        <p:spPr>
          <a:xfrm>
            <a:off x="3486150" y="4236740"/>
            <a:ext cx="6749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Technology Radar: incluye SDD en el anillo «Evaluar», entre las técnicas emergentes a explorar.</a:t>
            </a:r>
            <a:endParaRPr lang="en-US" sz="1200" dirty="0"/>
          </a:p>
        </p:txBody>
      </p:sp>
      <p:sp>
        <p:nvSpPr>
          <p:cNvPr id="31" name="Text 29"/>
          <p:cNvSpPr/>
          <p:nvPr/>
        </p:nvSpPr>
        <p:spPr>
          <a:xfrm>
            <a:off x="10191750" y="4236740"/>
            <a:ext cx="1003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nov 2025</a:t>
            </a:r>
            <a:endParaRPr lang="en-US" sz="1200" dirty="0"/>
          </a:p>
        </p:txBody>
      </p:sp>
      <p:sp>
        <p:nvSpPr>
          <p:cNvPr id="32" name="Shape 30"/>
          <p:cNvSpPr/>
          <p:nvPr/>
        </p:nvSpPr>
        <p:spPr>
          <a:xfrm>
            <a:off x="815975" y="4752975"/>
            <a:ext cx="10560050" cy="603250"/>
          </a:xfrm>
          <a:prstGeom prst="roundRect">
            <a:avLst>
              <a:gd name="adj" fmla="val 12105"/>
            </a:avLst>
          </a:prstGeom>
          <a:solidFill>
            <a:srgbClr val="FCFBF7"/>
          </a:solidFill>
          <a:ln w="6350">
            <a:solidFill>
              <a:srgbClr val="DDD8CC"/>
            </a:solidFill>
            <a:prstDash val="solid"/>
          </a:ln>
        </p:spPr>
      </p:sp>
      <p:sp>
        <p:nvSpPr>
          <p:cNvPr id="33" name="Text 31"/>
          <p:cNvSpPr/>
          <p:nvPr/>
        </p:nvSpPr>
        <p:spPr>
          <a:xfrm>
            <a:off x="996950" y="4930130"/>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Anthropic</a:t>
            </a:r>
            <a:endParaRPr lang="en-US" sz="1400" dirty="0"/>
          </a:p>
        </p:txBody>
      </p:sp>
      <p:sp>
        <p:nvSpPr>
          <p:cNvPr id="34" name="Text 32"/>
          <p:cNvSpPr/>
          <p:nvPr/>
        </p:nvSpPr>
        <p:spPr>
          <a:xfrm>
            <a:off x="3486150" y="4841280"/>
            <a:ext cx="6749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Orquestador + subagentes especializados: +90,2 % frente a un solo agente en su evaluación, con ~15× más tokens.</a:t>
            </a:r>
            <a:endParaRPr lang="en-US" sz="1200" dirty="0"/>
          </a:p>
        </p:txBody>
      </p:sp>
      <p:sp>
        <p:nvSpPr>
          <p:cNvPr id="35" name="Text 33"/>
          <p:cNvSpPr/>
          <p:nvPr/>
        </p:nvSpPr>
        <p:spPr>
          <a:xfrm>
            <a:off x="10191750" y="4947940"/>
            <a:ext cx="1003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jun 2025</a:t>
            </a:r>
            <a:endParaRPr lang="en-US" sz="1200" dirty="0"/>
          </a:p>
        </p:txBody>
      </p:sp>
      <p:sp>
        <p:nvSpPr>
          <p:cNvPr id="36" name="Text 34"/>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37" name="Text 35"/>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DDD8CC"/>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ESTUDIO · LA DECISIÓN</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Cómo llegamos al Modelo 1.0</a:t>
            </a:r>
            <a:endParaRPr lang="en-US" sz="3200" dirty="0"/>
          </a:p>
        </p:txBody>
      </p:sp>
      <p:sp>
        <p:nvSpPr>
          <p:cNvPr id="16" name="Shape 14"/>
          <p:cNvSpPr/>
          <p:nvPr/>
        </p:nvSpPr>
        <p:spPr>
          <a:xfrm>
            <a:off x="812800" y="1849041"/>
            <a:ext cx="10566400" cy="426690"/>
          </a:xfrm>
          <a:prstGeom prst="roundRect">
            <a:avLst>
              <a:gd name="adj" fmla="val 20835"/>
            </a:avLst>
          </a:prstGeom>
          <a:solidFill>
            <a:srgbClr val="EFECE4"/>
          </a:solidFill>
          <a:ln/>
        </p:spPr>
      </p:sp>
      <p:sp>
        <p:nvSpPr>
          <p:cNvPr id="17" name="Text 15"/>
          <p:cNvSpPr/>
          <p:nvPr/>
        </p:nvSpPr>
        <p:spPr>
          <a:xfrm>
            <a:off x="1016000" y="1937941"/>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5A12"/>
                </a:solidFill>
                <a:latin typeface="Arial" pitchFamily="34" charset="0"/>
                <a:ea typeface="Arial" pitchFamily="34" charset="-122"/>
                <a:cs typeface="Arial" pitchFamily="34" charset="-120"/>
              </a:rPr>
              <a:t>Problema</a:t>
            </a:r>
            <a:endParaRPr lang="en-US" sz="1400" dirty="0"/>
          </a:p>
        </p:txBody>
      </p:sp>
      <p:sp>
        <p:nvSpPr>
          <p:cNvPr id="18" name="Text 16"/>
          <p:cNvSpPr/>
          <p:nvPr/>
        </p:nvSpPr>
        <p:spPr>
          <a:xfrm>
            <a:off x="3352800" y="1955701"/>
            <a:ext cx="80578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Vibe coding: la IA improvisa porque le pedimos cosas subespecificadas</a:t>
            </a:r>
            <a:endParaRPr lang="en-US" sz="1200" dirty="0"/>
          </a:p>
        </p:txBody>
      </p:sp>
      <p:sp>
        <p:nvSpPr>
          <p:cNvPr id="19" name="Shape 17"/>
          <p:cNvSpPr/>
          <p:nvPr/>
        </p:nvSpPr>
        <p:spPr>
          <a:xfrm>
            <a:off x="1397000" y="2364631"/>
            <a:ext cx="9398000" cy="426690"/>
          </a:xfrm>
          <a:prstGeom prst="roundRect">
            <a:avLst>
              <a:gd name="adj" fmla="val 20835"/>
            </a:avLst>
          </a:prstGeom>
          <a:solidFill>
            <a:srgbClr val="E3E8EE"/>
          </a:solidFill>
          <a:ln/>
        </p:spPr>
      </p:sp>
      <p:sp>
        <p:nvSpPr>
          <p:cNvPr id="20" name="Text 18"/>
          <p:cNvSpPr/>
          <p:nvPr/>
        </p:nvSpPr>
        <p:spPr>
          <a:xfrm>
            <a:off x="1600200" y="2453531"/>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Mapa de enfoques</a:t>
            </a:r>
            <a:endParaRPr lang="en-US" sz="1400" dirty="0"/>
          </a:p>
        </p:txBody>
      </p:sp>
      <p:sp>
        <p:nvSpPr>
          <p:cNvPr id="21" name="Text 19"/>
          <p:cNvSpPr/>
          <p:nvPr/>
        </p:nvSpPr>
        <p:spPr>
          <a:xfrm>
            <a:off x="3937000" y="2471291"/>
            <a:ext cx="68544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5 enfoques agénticos evaluados: ninguno cumplía los requisitos</a:t>
            </a:r>
            <a:endParaRPr lang="en-US" sz="1200" dirty="0"/>
          </a:p>
        </p:txBody>
      </p:sp>
      <p:sp>
        <p:nvSpPr>
          <p:cNvPr id="22" name="Shape 20"/>
          <p:cNvSpPr/>
          <p:nvPr/>
        </p:nvSpPr>
        <p:spPr>
          <a:xfrm>
            <a:off x="1981200" y="2880221"/>
            <a:ext cx="8229600" cy="426690"/>
          </a:xfrm>
          <a:prstGeom prst="roundRect">
            <a:avLst>
              <a:gd name="adj" fmla="val 20835"/>
            </a:avLst>
          </a:prstGeom>
          <a:solidFill>
            <a:srgbClr val="C9D7E5"/>
          </a:solidFill>
          <a:ln/>
        </p:spPr>
      </p:sp>
      <p:sp>
        <p:nvSpPr>
          <p:cNvPr id="23" name="Text 21"/>
          <p:cNvSpPr/>
          <p:nvPr/>
        </p:nvSpPr>
        <p:spPr>
          <a:xfrm>
            <a:off x="2184400" y="2969121"/>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Estrategia</a:t>
            </a:r>
            <a:endParaRPr lang="en-US" sz="1400" dirty="0"/>
          </a:p>
        </p:txBody>
      </p:sp>
      <p:sp>
        <p:nvSpPr>
          <p:cNvPr id="24" name="Text 22"/>
          <p:cNvSpPr/>
          <p:nvPr/>
        </p:nvSpPr>
        <p:spPr>
          <a:xfrm>
            <a:off x="4521200" y="2986881"/>
            <a:ext cx="56509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SDD + TDD: especificar y probar antes de programar</a:t>
            </a:r>
            <a:endParaRPr lang="en-US" sz="1200" dirty="0"/>
          </a:p>
        </p:txBody>
      </p:sp>
      <p:sp>
        <p:nvSpPr>
          <p:cNvPr id="25" name="Shape 23"/>
          <p:cNvSpPr/>
          <p:nvPr/>
        </p:nvSpPr>
        <p:spPr>
          <a:xfrm>
            <a:off x="2565400" y="3395811"/>
            <a:ext cx="7061200" cy="426690"/>
          </a:xfrm>
          <a:prstGeom prst="roundRect">
            <a:avLst>
              <a:gd name="adj" fmla="val 20835"/>
            </a:avLst>
          </a:prstGeom>
          <a:solidFill>
            <a:srgbClr val="8DB8E0"/>
          </a:solidFill>
          <a:ln/>
        </p:spPr>
      </p:sp>
      <p:sp>
        <p:nvSpPr>
          <p:cNvPr id="26" name="Text 24"/>
          <p:cNvSpPr/>
          <p:nvPr/>
        </p:nvSpPr>
        <p:spPr>
          <a:xfrm>
            <a:off x="2768600" y="3484711"/>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33A"/>
                </a:solidFill>
                <a:latin typeface="Arial" pitchFamily="34" charset="0"/>
                <a:ea typeface="Arial" pitchFamily="34" charset="-122"/>
                <a:cs typeface="Arial" pitchFamily="34" charset="-120"/>
              </a:rPr>
              <a:t>Frameworks SDD</a:t>
            </a:r>
            <a:endParaRPr lang="en-US" sz="1400" dirty="0"/>
          </a:p>
        </p:txBody>
      </p:sp>
      <p:sp>
        <p:nvSpPr>
          <p:cNvPr id="27" name="Text 25"/>
          <p:cNvSpPr/>
          <p:nvPr/>
        </p:nvSpPr>
        <p:spPr>
          <a:xfrm>
            <a:off x="5105400" y="3502471"/>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4 finalistas: Spec-Kit, Superpowers, Spec Pulse, OpenSpec</a:t>
            </a:r>
            <a:endParaRPr lang="en-US" sz="1200" dirty="0"/>
          </a:p>
        </p:txBody>
      </p:sp>
      <p:sp>
        <p:nvSpPr>
          <p:cNvPr id="28" name="Shape 26"/>
          <p:cNvSpPr/>
          <p:nvPr/>
        </p:nvSpPr>
        <p:spPr>
          <a:xfrm>
            <a:off x="3149600" y="3911402"/>
            <a:ext cx="5892800" cy="426690"/>
          </a:xfrm>
          <a:prstGeom prst="roundRect">
            <a:avLst>
              <a:gd name="adj" fmla="val 20835"/>
            </a:avLst>
          </a:prstGeom>
          <a:solidFill>
            <a:srgbClr val="14233A"/>
          </a:solidFill>
          <a:ln/>
        </p:spPr>
      </p:sp>
      <p:sp>
        <p:nvSpPr>
          <p:cNvPr id="29" name="Text 27"/>
          <p:cNvSpPr/>
          <p:nvPr/>
        </p:nvSpPr>
        <p:spPr>
          <a:xfrm>
            <a:off x="3352800" y="4000302"/>
            <a:ext cx="22237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9A55A"/>
                </a:solidFill>
                <a:latin typeface="Arial" pitchFamily="34" charset="0"/>
                <a:ea typeface="Arial" pitchFamily="34" charset="-122"/>
                <a:cs typeface="Arial" pitchFamily="34" charset="-120"/>
              </a:rPr>
              <a:t>Modelo 1.0</a:t>
            </a:r>
            <a:endParaRPr lang="en-US" sz="1400" dirty="0"/>
          </a:p>
        </p:txBody>
      </p:sp>
      <p:sp>
        <p:nvSpPr>
          <p:cNvPr id="30" name="Text 28"/>
          <p:cNvSpPr/>
          <p:nvPr/>
        </p:nvSpPr>
        <p:spPr>
          <a:xfrm>
            <a:off x="5689600" y="4018062"/>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Arial" pitchFamily="34" charset="0"/>
                <a:ea typeface="Arial" pitchFamily="34" charset="-122"/>
                <a:cs typeface="Arial" pitchFamily="34" charset="-120"/>
              </a:rPr>
              <a:t>OpenSpec + agentes propios · 18 ago</a:t>
            </a:r>
            <a:endParaRPr lang="en-US" sz="1200" dirty="0"/>
          </a:p>
        </p:txBody>
      </p:sp>
      <p:sp>
        <p:nvSpPr>
          <p:cNvPr id="31" name="Text 29"/>
          <p:cNvSpPr/>
          <p:nvPr/>
        </p:nvSpPr>
        <p:spPr>
          <a:xfrm>
            <a:off x="654304" y="4592092"/>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46B76"/>
                </a:solidFill>
                <a:latin typeface="Arial" pitchFamily="34" charset="0"/>
                <a:ea typeface="Arial" pitchFamily="34" charset="-122"/>
                <a:cs typeface="Arial" pitchFamily="34" charset="-120"/>
              </a:rPr>
              <a:t>En cada paso se filtró con los mismos seis requisitos.</a:t>
            </a:r>
            <a:endParaRPr lang="en-US" sz="1200" dirty="0"/>
          </a:p>
        </p:txBody>
      </p:sp>
      <p:sp>
        <p:nvSpPr>
          <p:cNvPr id="32" name="Text 30"/>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33" name="Text 31"/>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8DB8E0"/>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8DB8E0"/>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8DB8E0"/>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7F6F2"/>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8DB8E0"/>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3A4B63"/>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3A4B63"/>
          </a:solidFill>
          <a:ln/>
        </p:spPr>
      </p:sp>
      <p:sp>
        <p:nvSpPr>
          <p:cNvPr id="14" name="Text 12"/>
          <p:cNvSpPr/>
          <p:nvPr/>
        </p:nvSpPr>
        <p:spPr>
          <a:xfrm>
            <a:off x="812800" y="2431802"/>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A55A"/>
                </a:solidFill>
                <a:latin typeface="Georgia" pitchFamily="18" charset="0"/>
                <a:ea typeface="Georgia" pitchFamily="18" charset="-122"/>
                <a:cs typeface="Georgia" pitchFamily="18" charset="-120"/>
              </a:rPr>
              <a:t>04</a:t>
            </a:r>
            <a:endParaRPr lang="en-US" sz="4800" dirty="0"/>
          </a:p>
        </p:txBody>
      </p:sp>
      <p:sp>
        <p:nvSpPr>
          <p:cNvPr id="15" name="Text 13"/>
          <p:cNvSpPr/>
          <p:nvPr>
            <p:ph type="title"/>
          </p:nvPr>
        </p:nvSpPr>
        <p:spPr>
          <a:xfrm>
            <a:off x="812800" y="3244602"/>
            <a:ext cx="10883392" cy="68376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Georgia" pitchFamily="18" charset="0"/>
                <a:ea typeface="Georgia" pitchFamily="18" charset="-122"/>
                <a:cs typeface="Georgia" pitchFamily="18" charset="-120"/>
              </a:rPr>
              <a:t>Modelo 1.0</a:t>
            </a:r>
            <a:endParaRPr lang="en-US" sz="4800" dirty="0"/>
          </a:p>
        </p:txBody>
      </p:sp>
      <p:sp>
        <p:nvSpPr>
          <p:cNvPr id="16" name="Text 14"/>
          <p:cNvSpPr/>
          <p:nvPr/>
        </p:nvSpPr>
        <p:spPr>
          <a:xfrm>
            <a:off x="812800" y="4106168"/>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A"/>
                </a:solidFill>
                <a:latin typeface="Arial" pitchFamily="34" charset="0"/>
                <a:ea typeface="Arial" pitchFamily="34" charset="-122"/>
                <a:cs typeface="Arial" pitchFamily="34" charset="-120"/>
              </a:rPr>
              <a:t>SDD con OpenSpec · etapa 2 · agosto a octubre de 2026.</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6B7D"/>
                </a:solidFill>
                <a:latin typeface="Arial" pitchFamily="34" charset="0"/>
                <a:ea typeface="Arial" pitchFamily="34" charset="-122"/>
                <a:cs typeface="Arial" pitchFamily="34" charset="-120"/>
              </a:rPr>
              <a:t>MODELO 1.0 · AGOSTO – SEPTIEMBRE 2026</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Lo que construimos</a:t>
            </a:r>
            <a:endParaRPr lang="en-US" sz="3200" dirty="0"/>
          </a:p>
        </p:txBody>
      </p:sp>
      <p:sp>
        <p:nvSpPr>
          <p:cNvPr id="16" name="Shape 14"/>
          <p:cNvSpPr/>
          <p:nvPr/>
        </p:nvSpPr>
        <p:spPr>
          <a:xfrm>
            <a:off x="812800" y="1903016"/>
            <a:ext cx="10566400" cy="0"/>
          </a:xfrm>
          <a:prstGeom prst="line">
            <a:avLst/>
          </a:prstGeom>
          <a:noFill/>
          <a:ln w="6350">
            <a:solidFill>
              <a:srgbClr val="DDD8CC"/>
            </a:solidFill>
            <a:prstDash val="solid"/>
          </a:ln>
        </p:spPr>
      </p:sp>
      <p:sp>
        <p:nvSpPr>
          <p:cNvPr id="17" name="Text 15"/>
          <p:cNvSpPr/>
          <p:nvPr/>
        </p:nvSpPr>
        <p:spPr>
          <a:xfrm>
            <a:off x="812800" y="198239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Arial" pitchFamily="34" charset="0"/>
                <a:ea typeface="Arial" pitchFamily="34" charset="-122"/>
                <a:cs typeface="Arial" pitchFamily="34" charset="-120"/>
              </a:rPr>
              <a:t>18 ago</a:t>
            </a:r>
            <a:endParaRPr lang="en-US" sz="1200" dirty="0"/>
          </a:p>
        </p:txBody>
      </p:sp>
      <p:sp>
        <p:nvSpPr>
          <p:cNvPr id="18" name="Text 16"/>
          <p:cNvSpPr/>
          <p:nvPr/>
        </p:nvSpPr>
        <p:spPr>
          <a:xfrm>
            <a:off x="2032000" y="1982391"/>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Modelo 1.0: primer estándar del equipo con OpenSpec y flujo de trabajo en Git</a:t>
            </a:r>
            <a:endParaRPr lang="en-US" sz="1200" dirty="0"/>
          </a:p>
        </p:txBody>
      </p:sp>
      <p:sp>
        <p:nvSpPr>
          <p:cNvPr id="19" name="Shape 17"/>
          <p:cNvSpPr/>
          <p:nvPr/>
        </p:nvSpPr>
        <p:spPr>
          <a:xfrm>
            <a:off x="812800" y="2275086"/>
            <a:ext cx="10566400" cy="0"/>
          </a:xfrm>
          <a:prstGeom prst="line">
            <a:avLst/>
          </a:prstGeom>
          <a:noFill/>
          <a:ln w="6350">
            <a:solidFill>
              <a:srgbClr val="DDD8CC"/>
            </a:solidFill>
            <a:prstDash val="solid"/>
          </a:ln>
        </p:spPr>
      </p:sp>
      <p:sp>
        <p:nvSpPr>
          <p:cNvPr id="20" name="Text 18"/>
          <p:cNvSpPr/>
          <p:nvPr/>
        </p:nvSpPr>
        <p:spPr>
          <a:xfrm>
            <a:off x="812800" y="235446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Arial" pitchFamily="34" charset="0"/>
                <a:ea typeface="Arial" pitchFamily="34" charset="-122"/>
                <a:cs typeface="Arial" pitchFamily="34" charset="-120"/>
              </a:rPr>
              <a:t>21 ago</a:t>
            </a:r>
            <a:endParaRPr lang="en-US" sz="1200" dirty="0"/>
          </a:p>
        </p:txBody>
      </p:sp>
      <p:sp>
        <p:nvSpPr>
          <p:cNvPr id="21" name="Text 19"/>
          <p:cNvSpPr/>
          <p:nvPr/>
        </p:nvSpPr>
        <p:spPr>
          <a:xfrm>
            <a:off x="2032000" y="2354461"/>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Diseño de controles automáticos (hooks), inspirados en gentle-ai sin adoptarlo</a:t>
            </a:r>
            <a:endParaRPr lang="en-US" sz="1200" dirty="0"/>
          </a:p>
        </p:txBody>
      </p:sp>
      <p:sp>
        <p:nvSpPr>
          <p:cNvPr id="22" name="Shape 20"/>
          <p:cNvSpPr/>
          <p:nvPr/>
        </p:nvSpPr>
        <p:spPr>
          <a:xfrm>
            <a:off x="812800" y="2647156"/>
            <a:ext cx="10566400" cy="0"/>
          </a:xfrm>
          <a:prstGeom prst="line">
            <a:avLst/>
          </a:prstGeom>
          <a:noFill/>
          <a:ln w="6350">
            <a:solidFill>
              <a:srgbClr val="DDD8CC"/>
            </a:solidFill>
            <a:prstDash val="solid"/>
          </a:ln>
        </p:spPr>
      </p:sp>
      <p:sp>
        <p:nvSpPr>
          <p:cNvPr id="23" name="Text 21"/>
          <p:cNvSpPr/>
          <p:nvPr/>
        </p:nvSpPr>
        <p:spPr>
          <a:xfrm>
            <a:off x="812800" y="272653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Arial" pitchFamily="34" charset="0"/>
                <a:ea typeface="Arial" pitchFamily="34" charset="-122"/>
                <a:cs typeface="Arial" pitchFamily="34" charset="-120"/>
              </a:rPr>
              <a:t>25 ago</a:t>
            </a:r>
            <a:endParaRPr lang="en-US" sz="1200" dirty="0"/>
          </a:p>
        </p:txBody>
      </p:sp>
      <p:sp>
        <p:nvSpPr>
          <p:cNvPr id="24" name="Text 22"/>
          <p:cNvSpPr/>
          <p:nvPr/>
        </p:nvSpPr>
        <p:spPr>
          <a:xfrm>
            <a:off x="2032000" y="2726531"/>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Decisiones guardadas en Git contra la pérdida de contexto en sesiones largas</a:t>
            </a:r>
            <a:endParaRPr lang="en-US" sz="1200" dirty="0"/>
          </a:p>
        </p:txBody>
      </p:sp>
      <p:sp>
        <p:nvSpPr>
          <p:cNvPr id="25" name="Shape 23"/>
          <p:cNvSpPr/>
          <p:nvPr/>
        </p:nvSpPr>
        <p:spPr>
          <a:xfrm>
            <a:off x="812800" y="3019227"/>
            <a:ext cx="10566400" cy="0"/>
          </a:xfrm>
          <a:prstGeom prst="line">
            <a:avLst/>
          </a:prstGeom>
          <a:noFill/>
          <a:ln w="6350">
            <a:solidFill>
              <a:srgbClr val="DDD8CC"/>
            </a:solidFill>
            <a:prstDash val="solid"/>
          </a:ln>
        </p:spPr>
      </p:sp>
      <p:sp>
        <p:nvSpPr>
          <p:cNvPr id="26" name="Text 24"/>
          <p:cNvSpPr/>
          <p:nvPr/>
        </p:nvSpPr>
        <p:spPr>
          <a:xfrm>
            <a:off x="812800" y="3098602"/>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Arial" pitchFamily="34" charset="0"/>
                <a:ea typeface="Arial" pitchFamily="34" charset="-122"/>
                <a:cs typeface="Arial" pitchFamily="34" charset="-120"/>
              </a:rPr>
              <a:t>25–27 ago</a:t>
            </a:r>
            <a:endParaRPr lang="en-US" sz="1200" dirty="0"/>
          </a:p>
        </p:txBody>
      </p:sp>
      <p:sp>
        <p:nvSpPr>
          <p:cNvPr id="27" name="Text 25"/>
          <p:cNvSpPr/>
          <p:nvPr/>
        </p:nvSpPr>
        <p:spPr>
          <a:xfrm>
            <a:off x="2032000" y="3098602"/>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3 agentes propios donde OpenSpec no llegaba: arquitectura, TDD estricto y revisión de código</a:t>
            </a:r>
            <a:endParaRPr lang="en-US" sz="1200" dirty="0"/>
          </a:p>
        </p:txBody>
      </p:sp>
      <p:sp>
        <p:nvSpPr>
          <p:cNvPr id="28" name="Shape 26"/>
          <p:cNvSpPr/>
          <p:nvPr/>
        </p:nvSpPr>
        <p:spPr>
          <a:xfrm>
            <a:off x="812800" y="3391297"/>
            <a:ext cx="10566400" cy="0"/>
          </a:xfrm>
          <a:prstGeom prst="line">
            <a:avLst/>
          </a:prstGeom>
          <a:noFill/>
          <a:ln w="6350">
            <a:solidFill>
              <a:srgbClr val="DDD8CC"/>
            </a:solidFill>
            <a:prstDash val="solid"/>
          </a:ln>
        </p:spPr>
      </p:sp>
      <p:sp>
        <p:nvSpPr>
          <p:cNvPr id="29" name="Text 27"/>
          <p:cNvSpPr/>
          <p:nvPr/>
        </p:nvSpPr>
        <p:spPr>
          <a:xfrm>
            <a:off x="812800" y="3470672"/>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Arial" pitchFamily="34" charset="0"/>
                <a:ea typeface="Arial" pitchFamily="34" charset="-122"/>
                <a:cs typeface="Arial" pitchFamily="34" charset="-120"/>
              </a:rPr>
              <a:t>27 ago</a:t>
            </a:r>
            <a:endParaRPr lang="en-US" sz="1200" dirty="0"/>
          </a:p>
        </p:txBody>
      </p:sp>
      <p:sp>
        <p:nvSpPr>
          <p:cNvPr id="30" name="Text 28"/>
          <p:cNvSpPr/>
          <p:nvPr/>
        </p:nvSpPr>
        <p:spPr>
          <a:xfrm>
            <a:off x="2032000" y="3470672"/>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Contrato frontend–backend corregido; ramas y commits trazables por cambio</a:t>
            </a:r>
            <a:endParaRPr lang="en-US" sz="1200" dirty="0"/>
          </a:p>
        </p:txBody>
      </p:sp>
      <p:sp>
        <p:nvSpPr>
          <p:cNvPr id="31" name="Shape 29"/>
          <p:cNvSpPr/>
          <p:nvPr/>
        </p:nvSpPr>
        <p:spPr>
          <a:xfrm>
            <a:off x="812800" y="3763367"/>
            <a:ext cx="10566400" cy="0"/>
          </a:xfrm>
          <a:prstGeom prst="line">
            <a:avLst/>
          </a:prstGeom>
          <a:noFill/>
          <a:ln w="6350">
            <a:solidFill>
              <a:srgbClr val="DDD8CC"/>
            </a:solidFill>
            <a:prstDash val="solid"/>
          </a:ln>
        </p:spPr>
      </p:sp>
      <p:sp>
        <p:nvSpPr>
          <p:cNvPr id="32" name="Text 30"/>
          <p:cNvSpPr/>
          <p:nvPr/>
        </p:nvSpPr>
        <p:spPr>
          <a:xfrm>
            <a:off x="812800" y="3842742"/>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Arial" pitchFamily="34" charset="0"/>
                <a:ea typeface="Arial" pitchFamily="34" charset="-122"/>
                <a:cs typeface="Arial" pitchFamily="34" charset="-120"/>
              </a:rPr>
              <a:t>28–31 ago</a:t>
            </a:r>
            <a:endParaRPr lang="en-US" sz="1200" dirty="0"/>
          </a:p>
        </p:txBody>
      </p:sp>
      <p:sp>
        <p:nvSpPr>
          <p:cNvPr id="33" name="Text 31"/>
          <p:cNvSpPr/>
          <p:nvPr/>
        </p:nvSpPr>
        <p:spPr>
          <a:xfrm>
            <a:off x="2032000" y="3842742"/>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Estrategia Zero-CLI ante el bloqueo de Node.js en laptops corporativas</a:t>
            </a:r>
            <a:endParaRPr lang="en-US" sz="1200" dirty="0"/>
          </a:p>
        </p:txBody>
      </p:sp>
      <p:sp>
        <p:nvSpPr>
          <p:cNvPr id="34" name="Shape 32"/>
          <p:cNvSpPr/>
          <p:nvPr/>
        </p:nvSpPr>
        <p:spPr>
          <a:xfrm>
            <a:off x="812800" y="4135438"/>
            <a:ext cx="10566400" cy="0"/>
          </a:xfrm>
          <a:prstGeom prst="line">
            <a:avLst/>
          </a:prstGeom>
          <a:noFill/>
          <a:ln w="6350">
            <a:solidFill>
              <a:srgbClr val="DDD8CC"/>
            </a:solidFill>
            <a:prstDash val="solid"/>
          </a:ln>
        </p:spPr>
      </p:sp>
      <p:sp>
        <p:nvSpPr>
          <p:cNvPr id="35" name="Text 33"/>
          <p:cNvSpPr/>
          <p:nvPr/>
        </p:nvSpPr>
        <p:spPr>
          <a:xfrm>
            <a:off x="812800" y="4214813"/>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Arial" pitchFamily="34" charset="0"/>
                <a:ea typeface="Arial" pitchFamily="34" charset="-122"/>
                <a:cs typeface="Arial" pitchFamily="34" charset="-120"/>
              </a:rPr>
              <a:t>2 sep</a:t>
            </a:r>
            <a:endParaRPr lang="en-US" sz="1200" dirty="0"/>
          </a:p>
        </p:txBody>
      </p:sp>
      <p:sp>
        <p:nvSpPr>
          <p:cNvPr id="36" name="Text 34"/>
          <p:cNvSpPr/>
          <p:nvPr/>
        </p:nvSpPr>
        <p:spPr>
          <a:xfrm>
            <a:off x="2032000" y="4214813"/>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Directivas técnicas de Angular 20 para que la IA genere código consistente</a:t>
            </a:r>
            <a:endParaRPr lang="en-US" sz="1200" dirty="0"/>
          </a:p>
        </p:txBody>
      </p:sp>
      <p:sp>
        <p:nvSpPr>
          <p:cNvPr id="37" name="Shape 35"/>
          <p:cNvSpPr/>
          <p:nvPr/>
        </p:nvSpPr>
        <p:spPr>
          <a:xfrm>
            <a:off x="812800" y="4507508"/>
            <a:ext cx="10566400" cy="0"/>
          </a:xfrm>
          <a:prstGeom prst="line">
            <a:avLst/>
          </a:prstGeom>
          <a:noFill/>
          <a:ln w="6350">
            <a:solidFill>
              <a:srgbClr val="DDD8CC"/>
            </a:solidFill>
            <a:prstDash val="solid"/>
          </a:ln>
        </p:spPr>
      </p:sp>
      <p:sp>
        <p:nvSpPr>
          <p:cNvPr id="38" name="Text 36"/>
          <p:cNvSpPr/>
          <p:nvPr/>
        </p:nvSpPr>
        <p:spPr>
          <a:xfrm>
            <a:off x="812800" y="4586883"/>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Arial" pitchFamily="34" charset="0"/>
                <a:ea typeface="Arial" pitchFamily="34" charset="-122"/>
                <a:cs typeface="Arial" pitchFamily="34" charset="-120"/>
              </a:rPr>
              <a:t>4 sep</a:t>
            </a:r>
            <a:endParaRPr lang="en-US" sz="1200" dirty="0"/>
          </a:p>
        </p:txBody>
      </p:sp>
      <p:sp>
        <p:nvSpPr>
          <p:cNvPr id="39" name="Text 37"/>
          <p:cNvSpPr/>
          <p:nvPr/>
        </p:nvSpPr>
        <p:spPr>
          <a:xfrm>
            <a:off x="2032000" y="4586883"/>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Agente de arquitectura con herramientas de edición bloqueadas</a:t>
            </a:r>
            <a:endParaRPr lang="en-US" sz="1200" dirty="0"/>
          </a:p>
        </p:txBody>
      </p:sp>
      <p:sp>
        <p:nvSpPr>
          <p:cNvPr id="40" name="Shape 38"/>
          <p:cNvSpPr/>
          <p:nvPr/>
        </p:nvSpPr>
        <p:spPr>
          <a:xfrm>
            <a:off x="812800" y="4879578"/>
            <a:ext cx="10566400" cy="0"/>
          </a:xfrm>
          <a:prstGeom prst="line">
            <a:avLst/>
          </a:prstGeom>
          <a:noFill/>
          <a:ln w="6350">
            <a:solidFill>
              <a:srgbClr val="DDD8CC"/>
            </a:solidFill>
            <a:prstDash val="solid"/>
          </a:ln>
        </p:spPr>
      </p:sp>
      <p:sp>
        <p:nvSpPr>
          <p:cNvPr id="41" name="Shape 39"/>
          <p:cNvSpPr/>
          <p:nvPr/>
        </p:nvSpPr>
        <p:spPr>
          <a:xfrm>
            <a:off x="812800" y="5251648"/>
            <a:ext cx="10566400" cy="0"/>
          </a:xfrm>
          <a:prstGeom prst="line">
            <a:avLst/>
          </a:prstGeom>
          <a:noFill/>
          <a:ln w="6350">
            <a:solidFill>
              <a:srgbClr val="DDD8CC"/>
            </a:solidFill>
            <a:prstDash val="solid"/>
          </a:ln>
        </p:spPr>
      </p:sp>
      <p:sp>
        <p:nvSpPr>
          <p:cNvPr id="42" name="Text 40"/>
          <p:cNvSpPr/>
          <p:nvPr/>
        </p:nvSpPr>
        <p:spPr>
          <a:xfrm>
            <a:off x="812800" y="4958953"/>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Arial" pitchFamily="34" charset="0"/>
                <a:ea typeface="Arial" pitchFamily="34" charset="-122"/>
                <a:cs typeface="Arial" pitchFamily="34" charset="-120"/>
              </a:rPr>
              <a:t>8 sep</a:t>
            </a:r>
            <a:endParaRPr lang="en-US" sz="1200" dirty="0"/>
          </a:p>
        </p:txBody>
      </p:sp>
      <p:sp>
        <p:nvSpPr>
          <p:cNvPr id="43" name="Text 41"/>
          <p:cNvSpPr/>
          <p:nvPr/>
        </p:nvSpPr>
        <p:spPr>
          <a:xfrm>
            <a:off x="2032000" y="4958953"/>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Arial" pitchFamily="34" charset="0"/>
                <a:ea typeface="Arial" pitchFamily="34" charset="-122"/>
                <a:cs typeface="Arial" pitchFamily="34" charset="-120"/>
              </a:rPr>
              <a:t>Retrospectiva oficial y bitácora de estrategia publicadas</a:t>
            </a:r>
            <a:endParaRPr lang="en-US" sz="1200" dirty="0"/>
          </a:p>
        </p:txBody>
      </p:sp>
      <p:sp>
        <p:nvSpPr>
          <p:cNvPr id="44" name="Text 42"/>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45" name="Text 43"/>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6B7D"/>
                </a:solidFill>
                <a:latin typeface="Arial" pitchFamily="34" charset="0"/>
                <a:ea typeface="Arial" pitchFamily="34" charset="-122"/>
                <a:cs typeface="Arial" pitchFamily="34" charset="-120"/>
              </a:rPr>
              <a:t>MODELO 1.0 · FLUJO DE TRABAJO</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La persona encadena cada paso</a:t>
            </a:r>
            <a:endParaRPr lang="en-US" sz="3200" dirty="0"/>
          </a:p>
        </p:txBody>
      </p:sp>
      <p:pic>
        <p:nvPicPr>
          <p:cNvPr id="16" name="Image 0" descr="Flujo del Modelo 1.0: la persona lanza cada comando y revisa cada resultado">    </p:cNvPr>
          <p:cNvPicPr>
            <a:picLocks noChangeAspect="1"/>
          </p:cNvPicPr>
          <p:nvPr/>
        </p:nvPicPr>
        <p:blipFill>
          <a:blip r:embed="rId1"/>
          <a:srcRect l="-29" r="-29" t="0" b="0"/>
          <a:stretch/>
        </p:blipFill>
        <p:spPr>
          <a:xfrm>
            <a:off x="812800" y="1714500"/>
            <a:ext cx="10566400" cy="3429000"/>
          </a:xfrm>
          <a:prstGeom prst="rect">
            <a:avLst/>
          </a:prstGeom>
        </p:spPr>
      </p:pic>
      <p:sp>
        <p:nvSpPr>
          <p:cNvPr id="17" name="Shape 14"/>
          <p:cNvSpPr/>
          <p:nvPr/>
        </p:nvSpPr>
        <p:spPr>
          <a:xfrm>
            <a:off x="819150" y="5238750"/>
            <a:ext cx="165100" cy="215900"/>
          </a:xfrm>
          <a:prstGeom prst="roundRect">
            <a:avLst>
              <a:gd name="adj" fmla="val 11538"/>
            </a:avLst>
          </a:prstGeom>
          <a:solidFill>
            <a:srgbClr val="FCFBF7"/>
          </a:solidFill>
          <a:ln w="12700">
            <a:solidFill>
              <a:srgbClr val="9AA5B4"/>
            </a:solidFill>
            <a:prstDash val="solid"/>
          </a:ln>
        </p:spPr>
      </p:sp>
      <p:sp>
        <p:nvSpPr>
          <p:cNvPr id="18" name="Text 15"/>
          <p:cNvSpPr/>
          <p:nvPr/>
        </p:nvSpPr>
        <p:spPr>
          <a:xfrm>
            <a:off x="1066800" y="5240040"/>
            <a:ext cx="35583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Comando o agente que la persona lanza a mano</a:t>
            </a:r>
            <a:endParaRPr lang="en-US" sz="1200" dirty="0"/>
          </a:p>
        </p:txBody>
      </p:sp>
      <p:pic>
        <p:nvPicPr>
          <p:cNvPr id="19" name="Image 1" descr="diamond">    </p:cNvPr>
          <p:cNvPicPr>
            <a:picLocks noChangeAspect="1"/>
          </p:cNvPicPr>
          <p:nvPr/>
        </p:nvPicPr>
        <p:blipFill>
          <a:blip r:embed="rId2"/>
          <a:srcRect l="0" r="0" t="0" b="0"/>
          <a:stretch/>
        </p:blipFill>
        <p:spPr>
          <a:xfrm>
            <a:off x="4625181" y="5238750"/>
            <a:ext cx="215900" cy="215900"/>
          </a:xfrm>
          <a:prstGeom prst="rect">
            <a:avLst/>
          </a:prstGeom>
        </p:spPr>
      </p:pic>
      <p:sp>
        <p:nvSpPr>
          <p:cNvPr id="20" name="Text 16"/>
          <p:cNvSpPr/>
          <p:nvPr/>
        </p:nvSpPr>
        <p:spPr>
          <a:xfrm>
            <a:off x="4917281" y="5240040"/>
            <a:ext cx="14537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La persona revisa</a:t>
            </a:r>
            <a:endParaRPr lang="en-US" sz="1200" dirty="0"/>
          </a:p>
        </p:txBody>
      </p:sp>
      <p:sp>
        <p:nvSpPr>
          <p:cNvPr id="21" name="Shape 17"/>
          <p:cNvSpPr/>
          <p:nvPr/>
        </p:nvSpPr>
        <p:spPr>
          <a:xfrm>
            <a:off x="6382742" y="5346700"/>
            <a:ext cx="279400" cy="0"/>
          </a:xfrm>
          <a:prstGeom prst="line">
            <a:avLst/>
          </a:prstGeom>
          <a:noFill/>
          <a:ln w="19050">
            <a:solidFill>
              <a:srgbClr val="8C5A12"/>
            </a:solidFill>
            <a:prstDash val="dash"/>
          </a:ln>
        </p:spPr>
      </p:sp>
      <p:sp>
        <p:nvSpPr>
          <p:cNvPr id="22" name="Text 18"/>
          <p:cNvSpPr/>
          <p:nvPr/>
        </p:nvSpPr>
        <p:spPr>
          <a:xfrm>
            <a:off x="6738342" y="5240040"/>
            <a:ext cx="266336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Si no está bien: corrige y relanza</a:t>
            </a:r>
            <a:endParaRPr lang="en-US" sz="1200" dirty="0"/>
          </a:p>
        </p:txBody>
      </p:sp>
      <p:sp>
        <p:nvSpPr>
          <p:cNvPr id="23" name="Text 19"/>
          <p:cNvSpPr/>
          <p:nvPr/>
        </p:nvSpPr>
        <p:spPr>
          <a:xfrm>
            <a:off x="812800" y="5575300"/>
            <a:ext cx="1088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La persona lanza 7 comandos y revisa 6 veces: es ella quien mueve el flujo.</a:t>
            </a:r>
            <a:endParaRPr lang="en-US" sz="1400" dirty="0"/>
          </a:p>
        </p:txBody>
      </p:sp>
      <p:sp>
        <p:nvSpPr>
          <p:cNvPr id="24" name="Text 20"/>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25" name="Text 21"/>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6B7D"/>
                </a:solidFill>
                <a:latin typeface="Arial" pitchFamily="34" charset="0"/>
                <a:ea typeface="Arial" pitchFamily="34" charset="-122"/>
                <a:cs typeface="Arial" pitchFamily="34" charset="-120"/>
              </a:rPr>
              <a:t>MODELO 1.0 · IMPACTO EN LA CÉLULA</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Qué cambió en la práctica</a:t>
            </a:r>
            <a:endParaRPr lang="en-US" sz="3200" dirty="0"/>
          </a:p>
        </p:txBody>
      </p:sp>
      <p:sp>
        <p:nvSpPr>
          <p:cNvPr id="16" name="Shape 14"/>
          <p:cNvSpPr/>
          <p:nvPr/>
        </p:nvSpPr>
        <p:spPr>
          <a:xfrm>
            <a:off x="815975" y="1908175"/>
            <a:ext cx="3409950" cy="1581150"/>
          </a:xfrm>
          <a:prstGeom prst="roundRect">
            <a:avLst>
              <a:gd name="adj" fmla="val 4618"/>
            </a:avLst>
          </a:prstGeom>
          <a:solidFill>
            <a:srgbClr val="FCFBF7"/>
          </a:solidFill>
          <a:ln w="6350">
            <a:solidFill>
              <a:srgbClr val="DDD8CC"/>
            </a:solidFill>
            <a:prstDash val="solid"/>
          </a:ln>
        </p:spPr>
      </p:sp>
      <p:sp>
        <p:nvSpPr>
          <p:cNvPr id="17" name="Text 15"/>
          <p:cNvSpPr/>
          <p:nvPr/>
        </p:nvSpPr>
        <p:spPr>
          <a:xfrm>
            <a:off x="996950" y="2089150"/>
            <a:ext cx="313944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Contratos antes del código</a:t>
            </a:r>
            <a:endParaRPr lang="en-US" sz="1400" dirty="0"/>
          </a:p>
        </p:txBody>
      </p:sp>
      <p:sp>
        <p:nvSpPr>
          <p:cNvPr id="18" name="Text 16"/>
          <p:cNvSpPr/>
          <p:nvPr/>
        </p:nvSpPr>
        <p:spPr>
          <a:xfrm>
            <a:off x="996950" y="2396480"/>
            <a:ext cx="31394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El contrato entre frontend y backend se define y versiona antes de programar. Se corrigió uno mal documentado (27 ago).</a:t>
            </a:r>
            <a:endParaRPr lang="en-US" sz="1200" dirty="0"/>
          </a:p>
        </p:txBody>
      </p:sp>
      <p:sp>
        <p:nvSpPr>
          <p:cNvPr id="19" name="Shape 17"/>
          <p:cNvSpPr/>
          <p:nvPr/>
        </p:nvSpPr>
        <p:spPr>
          <a:xfrm>
            <a:off x="4384675" y="1908175"/>
            <a:ext cx="3409950" cy="1581150"/>
          </a:xfrm>
          <a:prstGeom prst="roundRect">
            <a:avLst>
              <a:gd name="adj" fmla="val 4618"/>
            </a:avLst>
          </a:prstGeom>
          <a:solidFill>
            <a:srgbClr val="FCFBF7"/>
          </a:solidFill>
          <a:ln w="6350">
            <a:solidFill>
              <a:srgbClr val="DDD8CC"/>
            </a:solidFill>
            <a:prstDash val="solid"/>
          </a:ln>
        </p:spPr>
      </p:sp>
      <p:sp>
        <p:nvSpPr>
          <p:cNvPr id="20" name="Text 18"/>
          <p:cNvSpPr/>
          <p:nvPr/>
        </p:nvSpPr>
        <p:spPr>
          <a:xfrm>
            <a:off x="4565650" y="2089150"/>
            <a:ext cx="313944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HU grandes, cambios pequeños</a:t>
            </a:r>
            <a:endParaRPr lang="en-US" sz="1400" dirty="0"/>
          </a:p>
        </p:txBody>
      </p:sp>
      <p:sp>
        <p:nvSpPr>
          <p:cNvPr id="21" name="Text 19"/>
          <p:cNvSpPr/>
          <p:nvPr/>
        </p:nvSpPr>
        <p:spPr>
          <a:xfrm>
            <a:off x="4565650" y="2396480"/>
            <a:ext cx="31394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Cada historia se divide en cambios verificables por separado: la HU04-1 se dividió en 6.</a:t>
            </a:r>
            <a:endParaRPr lang="en-US" sz="1200" dirty="0"/>
          </a:p>
        </p:txBody>
      </p:sp>
      <p:sp>
        <p:nvSpPr>
          <p:cNvPr id="22" name="Shape 20"/>
          <p:cNvSpPr/>
          <p:nvPr/>
        </p:nvSpPr>
        <p:spPr>
          <a:xfrm>
            <a:off x="7953375" y="1908175"/>
            <a:ext cx="3409950" cy="1581150"/>
          </a:xfrm>
          <a:prstGeom prst="roundRect">
            <a:avLst>
              <a:gd name="adj" fmla="val 4618"/>
            </a:avLst>
          </a:prstGeom>
          <a:solidFill>
            <a:srgbClr val="FCFBF7"/>
          </a:solidFill>
          <a:ln w="6350">
            <a:solidFill>
              <a:srgbClr val="DDD8CC"/>
            </a:solidFill>
            <a:prstDash val="solid"/>
          </a:ln>
        </p:spPr>
      </p:sp>
      <p:sp>
        <p:nvSpPr>
          <p:cNvPr id="23" name="Text 21"/>
          <p:cNvSpPr/>
          <p:nvPr/>
        </p:nvSpPr>
        <p:spPr>
          <a:xfrm>
            <a:off x="8134350" y="2089150"/>
            <a:ext cx="313944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Specs detalladas</a:t>
            </a:r>
            <a:endParaRPr lang="en-US" sz="1400" dirty="0"/>
          </a:p>
        </p:txBody>
      </p:sp>
      <p:sp>
        <p:nvSpPr>
          <p:cNvPr id="24" name="Text 22"/>
          <p:cNvSpPr/>
          <p:nvPr/>
        </p:nvSpPr>
        <p:spPr>
          <a:xfrm>
            <a:off x="8134350" y="2396480"/>
            <a:ext cx="31394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Especificar al detalle reduce las iteraciones con la IA y el consumo de créditos.</a:t>
            </a:r>
            <a:endParaRPr lang="en-US" sz="1200" dirty="0"/>
          </a:p>
        </p:txBody>
      </p:sp>
      <p:sp>
        <p:nvSpPr>
          <p:cNvPr id="25" name="Shape 23"/>
          <p:cNvSpPr/>
          <p:nvPr/>
        </p:nvSpPr>
        <p:spPr>
          <a:xfrm>
            <a:off x="825500" y="3746500"/>
            <a:ext cx="0" cy="863501"/>
          </a:xfrm>
          <a:prstGeom prst="line">
            <a:avLst/>
          </a:prstGeom>
          <a:noFill/>
          <a:ln w="25400">
            <a:solidFill>
              <a:srgbClr val="5B6B7D"/>
            </a:solidFill>
            <a:prstDash val="solid"/>
          </a:ln>
        </p:spPr>
      </p:sp>
      <p:sp>
        <p:nvSpPr>
          <p:cNvPr id="26" name="Text 24"/>
          <p:cNvSpPr/>
          <p:nvPr/>
        </p:nvSpPr>
        <p:spPr>
          <a:xfrm>
            <a:off x="1016000" y="3797300"/>
            <a:ext cx="10674096" cy="52318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233A"/>
                </a:solidFill>
                <a:latin typeface="Georgia" pitchFamily="18" charset="0"/>
                <a:ea typeface="Georgia" pitchFamily="18" charset="-122"/>
                <a:cs typeface="Georgia" pitchFamily="18" charset="-120"/>
              </a:rPr>
              <a:t>«Se debe especificar al detalle para que Copilot entregue todo lo necesario, evitar iteraciones para no demorar el desarrollo y gasto de créditos.»</a:t>
            </a:r>
            <a:endParaRPr lang="en-US" sz="1400" dirty="0"/>
          </a:p>
        </p:txBody>
      </p:sp>
      <p:sp>
        <p:nvSpPr>
          <p:cNvPr id="27" name="Text 25"/>
          <p:cNvSpPr/>
          <p:nvPr/>
        </p:nvSpPr>
        <p:spPr>
          <a:xfrm>
            <a:off x="1016000" y="434588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Registro del equipo · 26 de agosto de 2026</a:t>
            </a:r>
            <a:endParaRPr lang="en-US" sz="1200" dirty="0"/>
          </a:p>
        </p:txBody>
      </p:sp>
      <p:sp>
        <p:nvSpPr>
          <p:cNvPr id="28" name="Text 26"/>
          <p:cNvSpPr/>
          <p:nvPr/>
        </p:nvSpPr>
        <p:spPr>
          <a:xfrm>
            <a:off x="812800" y="4902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También: código Angular consistente, TDD con evidencia ejecutada y commits trazables por cambio.</a:t>
            </a:r>
            <a:endParaRPr lang="en-US" sz="1200" dirty="0"/>
          </a:p>
        </p:txBody>
      </p:sp>
      <p:sp>
        <p:nvSpPr>
          <p:cNvPr id="29" name="Text 27"/>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30" name="Text 28"/>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6B7D"/>
                </a:solidFill>
                <a:latin typeface="Arial" pitchFamily="34" charset="0"/>
                <a:ea typeface="Arial" pitchFamily="34" charset="-122"/>
                <a:cs typeface="Arial" pitchFamily="34" charset="-120"/>
              </a:rPr>
              <a:t>MODELO 1.0 · DATOS DE LA BITÁCORA DEL EQUIPO</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Antes y después de adoptar SDD</a:t>
            </a:r>
            <a:endParaRPr lang="en-US" sz="3200" dirty="0"/>
          </a:p>
        </p:txBody>
      </p:sp>
      <p:sp>
        <p:nvSpPr>
          <p:cNvPr id="16" name="Shape 14"/>
          <p:cNvSpPr/>
          <p:nvPr/>
        </p:nvSpPr>
        <p:spPr>
          <a:xfrm>
            <a:off x="815975" y="1908175"/>
            <a:ext cx="3409950" cy="2787650"/>
          </a:xfrm>
          <a:prstGeom prst="roundRect">
            <a:avLst>
              <a:gd name="adj" fmla="val 3531"/>
            </a:avLst>
          </a:prstGeom>
          <a:solidFill>
            <a:srgbClr val="FCFBF7"/>
          </a:solidFill>
          <a:ln w="6350">
            <a:solidFill>
              <a:srgbClr val="DDD8CC"/>
            </a:solidFill>
            <a:prstDash val="solid"/>
          </a:ln>
        </p:spPr>
      </p:sp>
      <p:sp>
        <p:nvSpPr>
          <p:cNvPr id="17" name="Text 15"/>
          <p:cNvSpPr/>
          <p:nvPr/>
        </p:nvSpPr>
        <p:spPr>
          <a:xfrm>
            <a:off x="1022350" y="2339429"/>
            <a:ext cx="308711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46B76"/>
                </a:solidFill>
                <a:latin typeface="Arial" pitchFamily="34" charset="0"/>
                <a:ea typeface="Arial" pitchFamily="34" charset="-122"/>
                <a:cs typeface="Arial" pitchFamily="34" charset="-120"/>
              </a:rPr>
              <a:t>TAREAS EXITOSAS</a:t>
            </a:r>
            <a:endParaRPr lang="en-US" sz="1200" dirty="0"/>
          </a:p>
        </p:txBody>
      </p:sp>
      <p:sp>
        <p:nvSpPr>
          <p:cNvPr id="18" name="Text 16"/>
          <p:cNvSpPr/>
          <p:nvPr/>
        </p:nvSpPr>
        <p:spPr>
          <a:xfrm>
            <a:off x="1022350" y="2616250"/>
            <a:ext cx="3087116"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B5F8E"/>
                </a:solidFill>
                <a:latin typeface="Georgia" pitchFamily="18" charset="0"/>
                <a:ea typeface="Georgia" pitchFamily="18" charset="-122"/>
                <a:cs typeface="Georgia" pitchFamily="18" charset="-120"/>
              </a:rPr>
              <a:t>83,8 %</a:t>
            </a:r>
            <a:endParaRPr lang="en-US" sz="4800" dirty="0"/>
          </a:p>
        </p:txBody>
      </p:sp>
      <p:sp>
        <p:nvSpPr>
          <p:cNvPr id="19" name="Text 17"/>
          <p:cNvSpPr/>
          <p:nvPr/>
        </p:nvSpPr>
        <p:spPr>
          <a:xfrm>
            <a:off x="1022350" y="3350270"/>
            <a:ext cx="308711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46B76"/>
                </a:solidFill>
                <a:latin typeface="Arial" pitchFamily="34" charset="0"/>
                <a:ea typeface="Arial" pitchFamily="34" charset="-122"/>
                <a:cs typeface="Arial" pitchFamily="34" charset="-120"/>
              </a:rPr>
              <a:t>antes: 62,5 %</a:t>
            </a:r>
            <a:endParaRPr lang="en-US" sz="1400" dirty="0"/>
          </a:p>
        </p:txBody>
      </p:sp>
      <p:sp>
        <p:nvSpPr>
          <p:cNvPr id="20" name="Text 18"/>
          <p:cNvSpPr/>
          <p:nvPr/>
        </p:nvSpPr>
        <p:spPr>
          <a:xfrm>
            <a:off x="1022350" y="3662660"/>
            <a:ext cx="1345803" cy="325090"/>
          </a:xfrm>
          <a:custGeom>
            <a:avLst/>
            <a:gdLst/>
            <a:ahLst/>
            <a:cxnLst/>
            <a:rect l="l" t="t" r="r" b="b"/>
            <a:pathLst>
              <a:path w="1345803" h="325090">
                <a:moveTo>
                  <a:pt x="162545" y="0"/>
                </a:moveTo>
                <a:lnTo>
                  <a:pt x="1183258" y="0"/>
                </a:lnTo>
                <a:arcTo hR="162545" wR="162545" stAng="16200000" swAng="5400000"/>
                <a:lnTo>
                  <a:pt x="1345803" y="162545"/>
                </a:lnTo>
                <a:arcTo hR="162545" wR="162545" stAng="0" swAng="5400000"/>
                <a:lnTo>
                  <a:pt x="162545" y="325090"/>
                </a:lnTo>
                <a:arcTo hR="162545" wR="162545" stAng="5400000" swAng="5400000"/>
                <a:lnTo>
                  <a:pt x="0" y="162545"/>
                </a:lnTo>
                <a:arcTo hR="162545" wR="162545" stAng="10800000" swAng="5400000"/>
                <a:close/>
              </a:path>
            </a:pathLst>
          </a:custGeom>
          <a:solidFill>
            <a:srgbClr val="2B5F8E"/>
          </a:solidFill>
          <a:ln/>
        </p:spPr>
        <p:txBody>
          <a:bodyPr wrap="non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+21,3 puntos</a:t>
            </a:r>
            <a:endParaRPr lang="en-US" sz="1400" dirty="0"/>
          </a:p>
        </p:txBody>
      </p:sp>
      <p:sp>
        <p:nvSpPr>
          <p:cNvPr id="21" name="Text 19"/>
          <p:cNvSpPr/>
          <p:nvPr/>
        </p:nvSpPr>
        <p:spPr>
          <a:xfrm>
            <a:off x="1022350" y="4051250"/>
            <a:ext cx="30871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10 de 16 → 31 de 37 tareas</a:t>
            </a:r>
            <a:endParaRPr lang="en-US" sz="1200" dirty="0"/>
          </a:p>
        </p:txBody>
      </p:sp>
      <p:sp>
        <p:nvSpPr>
          <p:cNvPr id="22" name="Text 20"/>
          <p:cNvSpPr/>
          <p:nvPr/>
        </p:nvSpPr>
        <p:spPr>
          <a:xfrm>
            <a:off x="4483100" y="2306489"/>
            <a:ext cx="710298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46B76"/>
                </a:solidFill>
                <a:latin typeface="Arial" pitchFamily="34" charset="0"/>
                <a:ea typeface="Arial" pitchFamily="34" charset="-122"/>
                <a:cs typeface="Arial" pitchFamily="34" charset="-120"/>
              </a:rPr>
              <a:t>OTROS INDICADORES</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495800" y="2634109"/>
          <a:ext cx="6883400" cy="1663402"/>
        </p:xfrm>
        <a:graphic>
          <a:graphicData uri="http://schemas.openxmlformats.org/drawingml/2006/table">
            <a:tbl>
              <a:tblPr/>
              <a:tblGrid>
                <a:gridCol w="2546858"/>
                <a:gridCol w="1514348"/>
                <a:gridCol w="1514348"/>
                <a:gridCol w="1307846"/>
              </a:tblGrid>
              <a:tr h="332680">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Tareas…</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Antes</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Modelo 1.0</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Cambio</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Con riesgo de calidad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37,5 % (6 de 16)</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16,2 % (6 de 37)</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B5F8E"/>
                          </a:solidFill>
                          <a:latin typeface="Arial" pitchFamily="34" charset="0"/>
                          <a:ea typeface="Arial" pitchFamily="34" charset="-122"/>
                          <a:cs typeface="Arial" pitchFamily="34" charset="-120"/>
                        </a:rPr>
                        <a:t>−21,3 pts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Que inician con análisis</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18,8 % (3 de 16)</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40,5 % (15 de 37)</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2B5F8E"/>
                          </a:solidFill>
                          <a:latin typeface="Arial" pitchFamily="34" charset="0"/>
                          <a:ea typeface="Arial" pitchFamily="34" charset="-122"/>
                          <a:cs typeface="Arial" pitchFamily="34" charset="-120"/>
                        </a:rPr>
                        <a:t>+21,7 pts</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Que toman 2 días o más</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25 % (4 de 16)</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0 % (0 de 37)</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B5F8E"/>
                          </a:solidFill>
                          <a:latin typeface="Arial" pitchFamily="34" charset="0"/>
                          <a:ea typeface="Arial" pitchFamily="34" charset="-122"/>
                          <a:cs typeface="Arial" pitchFamily="34" charset="-120"/>
                        </a:rPr>
                        <a:t>−25 pts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Tiempo promedio por tarea</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 7 h 17 min</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 1 h 16 min</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2B5F8E"/>
                          </a:solidFill>
                          <a:latin typeface="Arial" pitchFamily="34" charset="0"/>
                          <a:ea typeface="Arial" pitchFamily="34" charset="-122"/>
                          <a:cs typeface="Arial" pitchFamily="34" charset="-120"/>
                        </a:rPr>
                        <a:t>−83 %</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bl>
          </a:graphicData>
        </a:graphic>
      </p:graphicFrame>
      <p:sp>
        <p:nvSpPr>
          <p:cNvPr id="24" name="Text 21"/>
          <p:cNvSpPr/>
          <p:nvPr/>
        </p:nvSpPr>
        <p:spPr>
          <a:xfrm>
            <a:off x="812800" y="4902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33A"/>
                </a:solidFill>
                <a:latin typeface="Arial" pitchFamily="34" charset="0"/>
                <a:ea typeface="Arial" pitchFamily="34" charset="-122"/>
                <a:cs typeface="Arial" pitchFamily="34" charset="-120"/>
              </a:rPr>
              <a:t>Medido entre agosto y octubre de 2026, con el Modelo 1.0 en uso diario en la célula.</a:t>
            </a:r>
            <a:endParaRPr lang="en-US" sz="1400" dirty="0"/>
          </a:p>
        </p:txBody>
      </p:sp>
      <p:sp>
        <p:nvSpPr>
          <p:cNvPr id="25" name="Text 22"/>
          <p:cNvSpPr/>
          <p:nvPr/>
        </p:nvSpPr>
        <p:spPr>
          <a:xfrm>
            <a:off x="812800" y="53721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Fuente: bitácora de adopción de IA. Tareas de desarrollo y análisis; antes: mayo – 21 ago (16); Modelo 1.0: 26 ago – 15 oct (37). Datos y tiempos autoinformados: indicador preliminar.</a:t>
            </a:r>
            <a:endParaRPr lang="en-US" sz="1200" dirty="0"/>
          </a:p>
        </p:txBody>
      </p:sp>
      <p:sp>
        <p:nvSpPr>
          <p:cNvPr id="26" name="Text 23"/>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27" name="Text 24"/>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6B7D"/>
                </a:solidFill>
                <a:latin typeface="Arial" pitchFamily="34" charset="0"/>
                <a:ea typeface="Arial" pitchFamily="34" charset="-122"/>
                <a:cs typeface="Arial" pitchFamily="34" charset="-120"/>
              </a:rPr>
              <a:t>COMPARATIVA CON DATOS DE LA BITÁCORA</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Vibe coding frente al Modelo 1.0</a:t>
            </a:r>
            <a:endParaRPr lang="en-US" sz="3200" dirty="0"/>
          </a:p>
        </p:txBody>
      </p:sp>
      <p:sp>
        <p:nvSpPr>
          <p:cNvPr id="16" name="Shape 14"/>
          <p:cNvSpPr/>
          <p:nvPr/>
        </p:nvSpPr>
        <p:spPr>
          <a:xfrm>
            <a:off x="812800" y="1905000"/>
            <a:ext cx="10566400" cy="317500"/>
          </a:xfrm>
          <a:prstGeom prst="roundRect">
            <a:avLst>
              <a:gd name="adj" fmla="val 16000"/>
            </a:avLst>
          </a:prstGeom>
          <a:solidFill>
            <a:srgbClr val="14233A"/>
          </a:solidFill>
          <a:ln/>
        </p:spPr>
      </p:sp>
      <p:sp>
        <p:nvSpPr>
          <p:cNvPr id="17" name="Text 15"/>
          <p:cNvSpPr/>
          <p:nvPr/>
        </p:nvSpPr>
        <p:spPr>
          <a:xfrm>
            <a:off x="965200" y="195709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6F2"/>
                </a:solidFill>
                <a:latin typeface="Arial" pitchFamily="34" charset="0"/>
                <a:ea typeface="Arial" pitchFamily="34" charset="-122"/>
                <a:cs typeface="Arial" pitchFamily="34" charset="-120"/>
              </a:rPr>
              <a:t>Indicador</a:t>
            </a:r>
            <a:endParaRPr lang="en-US" sz="1200" dirty="0"/>
          </a:p>
        </p:txBody>
      </p:sp>
      <p:sp>
        <p:nvSpPr>
          <p:cNvPr id="18" name="Text 16"/>
          <p:cNvSpPr/>
          <p:nvPr/>
        </p:nvSpPr>
        <p:spPr>
          <a:xfrm>
            <a:off x="3962400" y="1957090"/>
            <a:ext cx="35318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9A55A"/>
                </a:solidFill>
                <a:latin typeface="Arial" pitchFamily="34" charset="0"/>
                <a:ea typeface="Arial" pitchFamily="34" charset="-122"/>
                <a:cs typeface="Arial" pitchFamily="34" charset="-120"/>
              </a:rPr>
              <a:t>Etapa 1 · Vibe coding</a:t>
            </a:r>
            <a:endParaRPr lang="en-US" sz="1200" dirty="0"/>
          </a:p>
        </p:txBody>
      </p:sp>
      <p:sp>
        <p:nvSpPr>
          <p:cNvPr id="19" name="Text 17"/>
          <p:cNvSpPr/>
          <p:nvPr/>
        </p:nvSpPr>
        <p:spPr>
          <a:xfrm>
            <a:off x="7594600" y="1957090"/>
            <a:ext cx="37411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DB8E0"/>
                </a:solidFill>
                <a:latin typeface="Arial" pitchFamily="34" charset="0"/>
                <a:ea typeface="Arial" pitchFamily="34" charset="-122"/>
                <a:cs typeface="Arial" pitchFamily="34" charset="-120"/>
              </a:rPr>
              <a:t>Modelo 1.0 · OpenSpec</a:t>
            </a:r>
            <a:endParaRPr lang="en-US" sz="1200" dirty="0"/>
          </a:p>
        </p:txBody>
      </p:sp>
      <p:sp>
        <p:nvSpPr>
          <p:cNvPr id="20" name="Shape 18"/>
          <p:cNvSpPr/>
          <p:nvPr/>
        </p:nvSpPr>
        <p:spPr>
          <a:xfrm>
            <a:off x="812800" y="2298700"/>
            <a:ext cx="10566400" cy="635000"/>
          </a:xfrm>
          <a:prstGeom prst="roundRect">
            <a:avLst>
              <a:gd name="adj" fmla="val 8000"/>
            </a:avLst>
          </a:prstGeom>
          <a:solidFill>
            <a:srgbClr val="FCFBF7"/>
          </a:solidFill>
          <a:ln/>
        </p:spPr>
      </p:sp>
      <p:sp>
        <p:nvSpPr>
          <p:cNvPr id="21" name="Text 19"/>
          <p:cNvSpPr/>
          <p:nvPr/>
        </p:nvSpPr>
        <p:spPr>
          <a:xfrm>
            <a:off x="965200" y="2496195"/>
            <a:ext cx="287782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33A"/>
                </a:solidFill>
                <a:latin typeface="Arial" pitchFamily="34" charset="0"/>
                <a:ea typeface="Arial" pitchFamily="34" charset="-122"/>
                <a:cs typeface="Arial" pitchFamily="34" charset="-120"/>
              </a:rPr>
              <a:t>Tamaño de las tareas</a:t>
            </a:r>
            <a:endParaRPr lang="en-US" sz="1400" dirty="0"/>
          </a:p>
        </p:txBody>
      </p:sp>
      <p:sp>
        <p:nvSpPr>
          <p:cNvPr id="22" name="Text 20"/>
          <p:cNvSpPr/>
          <p:nvPr/>
        </p:nvSpPr>
        <p:spPr>
          <a:xfrm>
            <a:off x="3962400" y="2376190"/>
            <a:ext cx="353187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363"/>
                </a:solidFill>
                <a:latin typeface="Arial" pitchFamily="34" charset="0"/>
                <a:ea typeface="Arial" pitchFamily="34" charset="-122"/>
                <a:cs typeface="Arial" pitchFamily="34" charset="-120"/>
              </a:rPr>
              <a:t>4 de 16 duraban 2 días o más (hasta 1 semana)</a:t>
            </a:r>
            <a:endParaRPr lang="en-US" sz="1400" dirty="0"/>
          </a:p>
        </p:txBody>
      </p:sp>
      <p:sp>
        <p:nvSpPr>
          <p:cNvPr id="23" name="Text 21"/>
          <p:cNvSpPr/>
          <p:nvPr/>
        </p:nvSpPr>
        <p:spPr>
          <a:xfrm>
            <a:off x="7594600" y="2496195"/>
            <a:ext cx="3741166"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4A73"/>
                </a:solidFill>
                <a:latin typeface="Arial" pitchFamily="34" charset="0"/>
                <a:ea typeface="Arial" pitchFamily="34" charset="-122"/>
                <a:cs typeface="Arial" pitchFamily="34" charset="-120"/>
              </a:rPr>
              <a:t>Ninguna superó 1 jornada (máx. 8 h)</a:t>
            </a:r>
            <a:endParaRPr lang="en-US" sz="1400" dirty="0"/>
          </a:p>
        </p:txBody>
      </p:sp>
      <p:sp>
        <p:nvSpPr>
          <p:cNvPr id="24" name="Shape 22"/>
          <p:cNvSpPr/>
          <p:nvPr/>
        </p:nvSpPr>
        <p:spPr>
          <a:xfrm>
            <a:off x="812800" y="3009900"/>
            <a:ext cx="10566400" cy="635000"/>
          </a:xfrm>
          <a:prstGeom prst="roundRect">
            <a:avLst>
              <a:gd name="adj" fmla="val 8000"/>
            </a:avLst>
          </a:prstGeom>
          <a:solidFill>
            <a:srgbClr val="EFECE4"/>
          </a:solidFill>
          <a:ln/>
        </p:spPr>
      </p:sp>
      <p:sp>
        <p:nvSpPr>
          <p:cNvPr id="25" name="Text 23"/>
          <p:cNvSpPr/>
          <p:nvPr/>
        </p:nvSpPr>
        <p:spPr>
          <a:xfrm>
            <a:off x="965200" y="3207395"/>
            <a:ext cx="287782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33A"/>
                </a:solidFill>
                <a:latin typeface="Arial" pitchFamily="34" charset="0"/>
                <a:ea typeface="Arial" pitchFamily="34" charset="-122"/>
                <a:cs typeface="Arial" pitchFamily="34" charset="-120"/>
              </a:rPr>
              <a:t>Tiempo promedio por tarea</a:t>
            </a:r>
            <a:endParaRPr lang="en-US" sz="1400" dirty="0"/>
          </a:p>
        </p:txBody>
      </p:sp>
      <p:sp>
        <p:nvSpPr>
          <p:cNvPr id="26" name="Text 24"/>
          <p:cNvSpPr/>
          <p:nvPr/>
        </p:nvSpPr>
        <p:spPr>
          <a:xfrm>
            <a:off x="3962400" y="3207395"/>
            <a:ext cx="353187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363"/>
                </a:solidFill>
                <a:latin typeface="Arial" pitchFamily="34" charset="0"/>
                <a:ea typeface="Arial" pitchFamily="34" charset="-122"/>
                <a:cs typeface="Arial" pitchFamily="34" charset="-120"/>
              </a:rPr>
              <a:t>≈ 7 h 17 min</a:t>
            </a:r>
            <a:endParaRPr lang="en-US" sz="1400" dirty="0"/>
          </a:p>
        </p:txBody>
      </p:sp>
      <p:sp>
        <p:nvSpPr>
          <p:cNvPr id="27" name="Text 25"/>
          <p:cNvSpPr/>
          <p:nvPr/>
        </p:nvSpPr>
        <p:spPr>
          <a:xfrm>
            <a:off x="7594600" y="3207395"/>
            <a:ext cx="3741166"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4A73"/>
                </a:solidFill>
                <a:latin typeface="Arial" pitchFamily="34" charset="0"/>
                <a:ea typeface="Arial" pitchFamily="34" charset="-122"/>
                <a:cs typeface="Arial" pitchFamily="34" charset="-120"/>
              </a:rPr>
              <a:t>≈ 1 h 16 min</a:t>
            </a:r>
            <a:endParaRPr lang="en-US" sz="1400" dirty="0"/>
          </a:p>
        </p:txBody>
      </p:sp>
      <p:sp>
        <p:nvSpPr>
          <p:cNvPr id="28" name="Shape 26"/>
          <p:cNvSpPr/>
          <p:nvPr/>
        </p:nvSpPr>
        <p:spPr>
          <a:xfrm>
            <a:off x="812800" y="3721100"/>
            <a:ext cx="10566400" cy="635000"/>
          </a:xfrm>
          <a:prstGeom prst="roundRect">
            <a:avLst>
              <a:gd name="adj" fmla="val 8000"/>
            </a:avLst>
          </a:prstGeom>
          <a:solidFill>
            <a:srgbClr val="FCFBF7"/>
          </a:solidFill>
          <a:ln/>
        </p:spPr>
      </p:sp>
      <p:sp>
        <p:nvSpPr>
          <p:cNvPr id="29" name="Text 27"/>
          <p:cNvSpPr/>
          <p:nvPr/>
        </p:nvSpPr>
        <p:spPr>
          <a:xfrm>
            <a:off x="965200" y="3918595"/>
            <a:ext cx="287782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33A"/>
                </a:solidFill>
                <a:latin typeface="Arial" pitchFamily="34" charset="0"/>
                <a:ea typeface="Arial" pitchFamily="34" charset="-122"/>
                <a:cs typeface="Arial" pitchFamily="34" charset="-120"/>
              </a:rPr>
              <a:t>Tareas exitosas</a:t>
            </a:r>
            <a:endParaRPr lang="en-US" sz="1400" dirty="0"/>
          </a:p>
        </p:txBody>
      </p:sp>
      <p:sp>
        <p:nvSpPr>
          <p:cNvPr id="30" name="Text 28"/>
          <p:cNvSpPr/>
          <p:nvPr/>
        </p:nvSpPr>
        <p:spPr>
          <a:xfrm>
            <a:off x="3962400" y="3918595"/>
            <a:ext cx="353187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363"/>
                </a:solidFill>
                <a:latin typeface="Arial" pitchFamily="34" charset="0"/>
                <a:ea typeface="Arial" pitchFamily="34" charset="-122"/>
                <a:cs typeface="Arial" pitchFamily="34" charset="-120"/>
              </a:rPr>
              <a:t>62,5 % (10 de 16)</a:t>
            </a:r>
            <a:endParaRPr lang="en-US" sz="1400" dirty="0"/>
          </a:p>
        </p:txBody>
      </p:sp>
      <p:sp>
        <p:nvSpPr>
          <p:cNvPr id="31" name="Text 29"/>
          <p:cNvSpPr/>
          <p:nvPr/>
        </p:nvSpPr>
        <p:spPr>
          <a:xfrm>
            <a:off x="7594600" y="3918595"/>
            <a:ext cx="3741166"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4A73"/>
                </a:solidFill>
                <a:latin typeface="Arial" pitchFamily="34" charset="0"/>
                <a:ea typeface="Arial" pitchFamily="34" charset="-122"/>
                <a:cs typeface="Arial" pitchFamily="34" charset="-120"/>
              </a:rPr>
              <a:t>83,8 % (31 de 37)</a:t>
            </a:r>
            <a:endParaRPr lang="en-US" sz="1400" dirty="0"/>
          </a:p>
        </p:txBody>
      </p:sp>
      <p:sp>
        <p:nvSpPr>
          <p:cNvPr id="32" name="Shape 30"/>
          <p:cNvSpPr/>
          <p:nvPr/>
        </p:nvSpPr>
        <p:spPr>
          <a:xfrm>
            <a:off x="812800" y="4432300"/>
            <a:ext cx="10566400" cy="635000"/>
          </a:xfrm>
          <a:prstGeom prst="roundRect">
            <a:avLst>
              <a:gd name="adj" fmla="val 8000"/>
            </a:avLst>
          </a:prstGeom>
          <a:solidFill>
            <a:srgbClr val="EFECE4"/>
          </a:solidFill>
          <a:ln/>
        </p:spPr>
      </p:sp>
      <p:sp>
        <p:nvSpPr>
          <p:cNvPr id="33" name="Text 31"/>
          <p:cNvSpPr/>
          <p:nvPr/>
        </p:nvSpPr>
        <p:spPr>
          <a:xfrm>
            <a:off x="965200" y="4629795"/>
            <a:ext cx="287782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33A"/>
                </a:solidFill>
                <a:latin typeface="Arial" pitchFamily="34" charset="0"/>
                <a:ea typeface="Arial" pitchFamily="34" charset="-122"/>
                <a:cs typeface="Arial" pitchFamily="34" charset="-120"/>
              </a:rPr>
              <a:t>Consumo de créditos</a:t>
            </a:r>
            <a:endParaRPr lang="en-US" sz="1400" dirty="0"/>
          </a:p>
        </p:txBody>
      </p:sp>
      <p:sp>
        <p:nvSpPr>
          <p:cNvPr id="34" name="Text 32"/>
          <p:cNvSpPr/>
          <p:nvPr/>
        </p:nvSpPr>
        <p:spPr>
          <a:xfrm>
            <a:off x="3962400" y="4629795"/>
            <a:ext cx="353187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363"/>
                </a:solidFill>
                <a:latin typeface="Arial" pitchFamily="34" charset="0"/>
                <a:ea typeface="Arial" pitchFamily="34" charset="-122"/>
                <a:cs typeface="Arial" pitchFamily="34" charset="-120"/>
              </a:rPr>
              <a:t>Sin medir en 9 de 16 tareas (chat web)</a:t>
            </a:r>
            <a:endParaRPr lang="en-US" sz="1400" dirty="0"/>
          </a:p>
        </p:txBody>
      </p:sp>
      <p:sp>
        <p:nvSpPr>
          <p:cNvPr id="35" name="Text 33"/>
          <p:cNvSpPr/>
          <p:nvPr/>
        </p:nvSpPr>
        <p:spPr>
          <a:xfrm>
            <a:off x="7594600" y="4629795"/>
            <a:ext cx="3741166"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4A73"/>
                </a:solidFill>
                <a:latin typeface="Arial" pitchFamily="34" charset="0"/>
                <a:ea typeface="Arial" pitchFamily="34" charset="-122"/>
                <a:cs typeface="Arial" pitchFamily="34" charset="-120"/>
              </a:rPr>
              <a:t>Registrado en 36 de 37 tareas</a:t>
            </a:r>
            <a:endParaRPr lang="en-US" sz="1400" dirty="0"/>
          </a:p>
        </p:txBody>
      </p:sp>
      <p:sp>
        <p:nvSpPr>
          <p:cNvPr id="36" name="Text 34"/>
          <p:cNvSpPr/>
          <p:nvPr/>
        </p:nvSpPr>
        <p:spPr>
          <a:xfrm>
            <a:off x="812800" y="52705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Las HU se dividen en cambios más pequeños: el menor tiempo refleja tamaño, no la misma tarea hecha más rápido. Créditos sin línea base comparable: se medirán en los pilotos.</a:t>
            </a:r>
            <a:endParaRPr lang="en-US" sz="1200" dirty="0"/>
          </a:p>
        </p:txBody>
      </p:sp>
      <p:sp>
        <p:nvSpPr>
          <p:cNvPr id="37" name="Text 35"/>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38" name="Text 36"/>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DDD8CC"/>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DIFICULTADES DEL CAMINO</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Limitaciones encontradas, con fecha</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5500" y="1861741"/>
          <a:ext cx="10553700" cy="3326805"/>
        </p:xfrm>
        <a:graphic>
          <a:graphicData uri="http://schemas.openxmlformats.org/drawingml/2006/table">
            <a:tbl>
              <a:tblPr/>
              <a:tblGrid>
                <a:gridCol w="1266444"/>
                <a:gridCol w="5276850"/>
                <a:gridCol w="4010406"/>
              </a:tblGrid>
              <a:tr h="332680">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Fecha</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Dificultad</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Respuesta</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r>
              <a:tr h="332680">
                <a:tc>
                  <a:txBody>
                    <a:bodyPr/>
                    <a:lstStyle/>
                    <a:p>
                      <a:pPr indent="0" marL="0">
                        <a:lnSpc>
                          <a:spcPts val="1680"/>
                        </a:lnSpc>
                        <a:buNone/>
                      </a:pPr>
                      <a:r>
                        <a:rPr lang="en-US" sz="1200" dirty="0">
                          <a:solidFill>
                            <a:srgbClr val="646B76"/>
                          </a:solidFill>
                          <a:latin typeface="Arial" pitchFamily="34" charset="0"/>
                          <a:ea typeface="Arial" pitchFamily="34" charset="-122"/>
                          <a:cs typeface="Arial" pitchFamily="34" charset="-120"/>
                        </a:rPr>
                        <a:t>19 may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Chat web: resultados imprecisos y cuota de tokens agotada</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Trabajar en el IDE con agentes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646B76"/>
                          </a:solidFill>
                          <a:latin typeface="Arial" pitchFamily="34" charset="0"/>
                          <a:ea typeface="Arial" pitchFamily="34" charset="-122"/>
                          <a:cs typeface="Arial" pitchFamily="34" charset="-120"/>
                        </a:rPr>
                        <a:t>14 ago</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Resistencia de la célula a un flujo formal</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Adopción incremental, HU medianas</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646B76"/>
                          </a:solidFill>
                          <a:latin typeface="Arial" pitchFamily="34" charset="0"/>
                          <a:ea typeface="Arial" pitchFamily="34" charset="-122"/>
                          <a:cs typeface="Arial" pitchFamily="34" charset="-120"/>
                        </a:rPr>
                        <a:t>21 ago</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Instrucciones en texto: ~80 % de cumplimiento</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Controles automáticos (hooks)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646B76"/>
                          </a:solidFill>
                          <a:latin typeface="Arial" pitchFamily="34" charset="0"/>
                          <a:ea typeface="Arial" pitchFamily="34" charset="-122"/>
                          <a:cs typeface="Arial" pitchFamily="34" charset="-120"/>
                        </a:rPr>
                        <a:t>25 ago</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Sesiones largas*: el exceso de tokens borra decisiones</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Decisiones guardadas en Git</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646B76"/>
                          </a:solidFill>
                          <a:latin typeface="Arial" pitchFamily="34" charset="0"/>
                          <a:ea typeface="Arial" pitchFamily="34" charset="-122"/>
                          <a:cs typeface="Arial" pitchFamily="34" charset="-120"/>
                        </a:rPr>
                        <a:t>28 ago</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Node.js bloqueado en laptops corporativas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Estrategia Zero-CLI</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646B76"/>
                          </a:solidFill>
                          <a:latin typeface="Arial" pitchFamily="34" charset="0"/>
                          <a:ea typeface="Arial" pitchFamily="34" charset="-122"/>
                          <a:cs typeface="Arial" pitchFamily="34" charset="-120"/>
                        </a:rPr>
                        <a:t>7 sep</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Specs vagas que obligan a revisar cada artefacto</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Revisor de specs y 3 aprobaciones</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646B76"/>
                          </a:solidFill>
                          <a:latin typeface="Arial" pitchFamily="34" charset="0"/>
                          <a:ea typeface="Arial" pitchFamily="34" charset="-122"/>
                          <a:cs typeface="Arial" pitchFamily="34" charset="-120"/>
                        </a:rPr>
                        <a:t>9 sep</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Una revisión consumió el 100 % de la cuota de la sesión</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Una sesión por tarea</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646B76"/>
                          </a:solidFill>
                          <a:latin typeface="Arial" pitchFamily="34" charset="0"/>
                          <a:ea typeface="Arial" pitchFamily="34" charset="-122"/>
                          <a:cs typeface="Arial" pitchFamily="34" charset="-120"/>
                        </a:rPr>
                        <a:t>15 oct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Políticas de seguridad bloquean cuentas al correr tests</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8C5A12"/>
                          </a:solidFill>
                          <a:latin typeface="Arial" pitchFamily="34" charset="0"/>
                          <a:ea typeface="Arial" pitchFamily="34" charset="-122"/>
                          <a:cs typeface="Arial" pitchFamily="34" charset="-120"/>
                        </a:rPr>
                        <a:t>Abierto: en análisis con seguridad</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646B76"/>
                          </a:solidFill>
                          <a:latin typeface="Arial" pitchFamily="34" charset="0"/>
                          <a:ea typeface="Arial" pitchFamily="34" charset="-122"/>
                          <a:cs typeface="Arial" pitchFamily="34" charset="-120"/>
                        </a:rPr>
                        <a:t>oct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Prohibición de usar OpenSpec</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Modelo 2.0, estándar propio</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17" name="Text 14"/>
          <p:cNvSpPr/>
          <p:nvPr/>
        </p:nvSpPr>
        <p:spPr>
          <a:xfrm>
            <a:off x="812800" y="544254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 Sesión larga: el consumo de tokens supera la ventana de contexto o la cuota de la sesión. Umbral técnico: por confirmar.</a:t>
            </a:r>
            <a:endParaRPr lang="en-US" sz="1200" dirty="0"/>
          </a:p>
        </p:txBody>
      </p:sp>
      <p:sp>
        <p:nvSpPr>
          <p:cNvPr id="18" name="Text 15"/>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19" name="Text 16"/>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4527D"/>
        </a:solidFill>
      </p:bgPr>
    </p:bg>
    <p:spTree>
      <p:nvGrpSpPr>
        <p:cNvPr id="1" name=""/>
        <p:cNvGrpSpPr/>
        <p:nvPr/>
      </p:nvGrpSpPr>
      <p:grpSpPr>
        <a:xfrm>
          <a:off x="0" y="0"/>
          <a:ext cx="0" cy="0"/>
          <a:chOff x="0" y="0"/>
          <a:chExt cx="0" cy="0"/>
        </a:xfrm>
      </p:grpSpPr>
      <p:sp>
        <p:nvSpPr>
          <p:cNvPr id="2" name="Text 0"/>
          <p:cNvSpPr/>
          <p:nvPr/>
        </p:nvSpPr>
        <p:spPr>
          <a:xfrm>
            <a:off x="812800" y="169688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D6E2EE"/>
                </a:solidFill>
                <a:latin typeface="Arial" pitchFamily="34" charset="0"/>
                <a:ea typeface="Arial" pitchFamily="34" charset="-122"/>
                <a:cs typeface="Arial" pitchFamily="34" charset="-120"/>
              </a:rPr>
              <a:t>LA LECCIÓN DEL MODELO 1.0</a:t>
            </a:r>
            <a:endParaRPr lang="en-US" sz="1400" dirty="0"/>
          </a:p>
        </p:txBody>
      </p:sp>
      <p:sp>
        <p:nvSpPr>
          <p:cNvPr id="3" name="Text 1"/>
          <p:cNvSpPr/>
          <p:nvPr>
            <p:ph type="title"/>
          </p:nvPr>
        </p:nvSpPr>
        <p:spPr>
          <a:xfrm>
            <a:off x="812800" y="2250579"/>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Georgia" pitchFamily="18" charset="0"/>
                <a:ea typeface="Georgia" pitchFamily="18" charset="-122"/>
                <a:cs typeface="Georgia" pitchFamily="18" charset="-120"/>
              </a:rPr>
              <a:t>El método importa más que la herramienta</a:t>
            </a:r>
            <a:endParaRPr lang="en-US" sz="4800" dirty="0"/>
          </a:p>
        </p:txBody>
      </p:sp>
      <p:sp>
        <p:nvSpPr>
          <p:cNvPr id="4" name="Shape 2"/>
          <p:cNvSpPr/>
          <p:nvPr/>
        </p:nvSpPr>
        <p:spPr>
          <a:xfrm>
            <a:off x="825500" y="3872111"/>
            <a:ext cx="0" cy="735261"/>
          </a:xfrm>
          <a:prstGeom prst="line">
            <a:avLst/>
          </a:prstGeom>
          <a:noFill/>
          <a:ln w="25400">
            <a:solidFill>
              <a:srgbClr val="D9A55A"/>
            </a:solidFill>
            <a:prstDash val="solid"/>
          </a:ln>
        </p:spPr>
      </p:sp>
      <p:sp>
        <p:nvSpPr>
          <p:cNvPr id="5" name="Text 3"/>
          <p:cNvSpPr/>
          <p:nvPr/>
        </p:nvSpPr>
        <p:spPr>
          <a:xfrm>
            <a:off x="1041400" y="3922911"/>
            <a:ext cx="10647934" cy="333970"/>
          </a:xfrm>
          <a:prstGeom prst="rect">
            <a:avLst/>
          </a:prstGeom>
          <a:noFill/>
          <a:ln/>
        </p:spPr>
        <p:txBody>
          <a:bodyPr wrap="square" lIns="0" tIns="0" rIns="0" bIns="0" rtlCol="0" anchor="t">
            <a:normAutofit/>
          </a:bodyPr>
          <a:lstStyle/>
          <a:p>
            <a:pPr algn="l" indent="0" marL="0">
              <a:lnSpc>
                <a:spcPts val="2430"/>
              </a:lnSpc>
              <a:buNone/>
            </a:pPr>
            <a:r>
              <a:rPr lang="en-US" sz="1800" i="1" dirty="0">
                <a:solidFill>
                  <a:srgbClr val="F7F6F2"/>
                </a:solidFill>
                <a:latin typeface="Georgia" pitchFamily="18" charset="0"/>
                <a:ea typeface="Georgia" pitchFamily="18" charset="-122"/>
                <a:cs typeface="Georgia" pitchFamily="18" charset="-120"/>
              </a:rPr>
              <a:t>«El proceso metodológico de specs y planes es más importante que el ejecutable físico.»</a:t>
            </a:r>
            <a:endParaRPr lang="en-US" sz="1800" dirty="0"/>
          </a:p>
        </p:txBody>
      </p:sp>
      <p:sp>
        <p:nvSpPr>
          <p:cNvPr id="6" name="Text 4"/>
          <p:cNvSpPr/>
          <p:nvPr/>
        </p:nvSpPr>
        <p:spPr>
          <a:xfrm>
            <a:off x="1041400" y="4307681"/>
            <a:ext cx="1064793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E2EE"/>
                </a:solidFill>
                <a:latin typeface="Arial" pitchFamily="34" charset="0"/>
                <a:ea typeface="Arial" pitchFamily="34" charset="-122"/>
                <a:cs typeface="Arial" pitchFamily="34" charset="-120"/>
              </a:rPr>
              <a:t>Bitácora de estrategia del equipo · 28 de agosto de 2026</a:t>
            </a:r>
            <a:endParaRPr lang="en-US" sz="1400" dirty="0"/>
          </a:p>
        </p:txBody>
      </p:sp>
      <p:sp>
        <p:nvSpPr>
          <p:cNvPr id="7" name="Text 5"/>
          <p:cNvSpPr/>
          <p:nvPr/>
        </p:nvSpPr>
        <p:spPr>
          <a:xfrm>
            <a:off x="812800" y="491217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E2EE"/>
                </a:solidFill>
                <a:latin typeface="Arial" pitchFamily="34" charset="0"/>
                <a:ea typeface="Arial" pitchFamily="34" charset="-122"/>
                <a:cs typeface="Arial" pitchFamily="34" charset="-120"/>
              </a:rPr>
              <a:t>Cuando OpenSpec dejó de ser una opción, la metodología ya era nuestra.</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8DB8E0"/>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8DB8E0"/>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8DB8E0"/>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8DB8E0"/>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7F6F2"/>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8DB8E0"/>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A98A8"/>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3A4B63"/>
          </a:solidFill>
          <a:ln/>
        </p:spPr>
      </p:sp>
      <p:sp>
        <p:nvSpPr>
          <p:cNvPr id="14" name="Text 12"/>
          <p:cNvSpPr/>
          <p:nvPr/>
        </p:nvSpPr>
        <p:spPr>
          <a:xfrm>
            <a:off x="812800" y="2431802"/>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A55A"/>
                </a:solidFill>
                <a:latin typeface="Georgia" pitchFamily="18" charset="0"/>
                <a:ea typeface="Georgia" pitchFamily="18" charset="-122"/>
                <a:cs typeface="Georgia" pitchFamily="18" charset="-120"/>
              </a:rPr>
              <a:t>05</a:t>
            </a:r>
            <a:endParaRPr lang="en-US" sz="4800" dirty="0"/>
          </a:p>
        </p:txBody>
      </p:sp>
      <p:sp>
        <p:nvSpPr>
          <p:cNvPr id="15" name="Text 13"/>
          <p:cNvSpPr/>
          <p:nvPr>
            <p:ph type="title"/>
          </p:nvPr>
        </p:nvSpPr>
        <p:spPr>
          <a:xfrm>
            <a:off x="812800" y="3244602"/>
            <a:ext cx="10883392" cy="68376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Georgia" pitchFamily="18" charset="0"/>
                <a:ea typeface="Georgia" pitchFamily="18" charset="-122"/>
                <a:cs typeface="Georgia" pitchFamily="18" charset="-120"/>
              </a:rPr>
              <a:t>Modelo 2.0</a:t>
            </a:r>
            <a:endParaRPr lang="en-US" sz="4800" dirty="0"/>
          </a:p>
        </p:txBody>
      </p:sp>
      <p:sp>
        <p:nvSpPr>
          <p:cNvPr id="16" name="Text 14"/>
          <p:cNvSpPr/>
          <p:nvPr/>
        </p:nvSpPr>
        <p:spPr>
          <a:xfrm>
            <a:off x="812800" y="4106168"/>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A"/>
                </a:solidFill>
                <a:latin typeface="Arial" pitchFamily="34" charset="0"/>
                <a:ea typeface="Arial" pitchFamily="34" charset="-122"/>
                <a:cs typeface="Arial" pitchFamily="34" charset="-120"/>
              </a:rPr>
              <a:t>Estándar propio, sin herramientas externas · etapa 3 · octubre de 2026.</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2B5F8E"/>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MODELO 2.0 · ETAPA 3 · OCTUBRE 2026</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Por qué un estándar propio</a:t>
            </a:r>
            <a:endParaRPr lang="en-US" sz="3200" dirty="0"/>
          </a:p>
        </p:txBody>
      </p:sp>
      <p:sp>
        <p:nvSpPr>
          <p:cNvPr id="16" name="Shape 14"/>
          <p:cNvSpPr/>
          <p:nvPr/>
        </p:nvSpPr>
        <p:spPr>
          <a:xfrm>
            <a:off x="812800" y="1899841"/>
            <a:ext cx="6299200" cy="1267321"/>
          </a:xfrm>
          <a:prstGeom prst="roundRect">
            <a:avLst>
              <a:gd name="adj" fmla="val 8017"/>
            </a:avLst>
          </a:prstGeom>
          <a:solidFill>
            <a:srgbClr val="14233A"/>
          </a:solidFill>
          <a:ln/>
        </p:spPr>
      </p:sp>
      <p:sp>
        <p:nvSpPr>
          <p:cNvPr id="17" name="Text 15"/>
          <p:cNvSpPr/>
          <p:nvPr/>
        </p:nvSpPr>
        <p:spPr>
          <a:xfrm>
            <a:off x="1016000" y="2426841"/>
            <a:ext cx="1102221"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D9A55A"/>
                </a:solidFill>
                <a:latin typeface="Arial" pitchFamily="34" charset="0"/>
                <a:ea typeface="Arial" pitchFamily="34" charset="-122"/>
                <a:cs typeface="Arial" pitchFamily="34" charset="-120"/>
              </a:rPr>
              <a:t>DETONANTE</a:t>
            </a:r>
            <a:endParaRPr lang="en-US" sz="1200" dirty="0"/>
          </a:p>
        </p:txBody>
      </p:sp>
      <p:sp>
        <p:nvSpPr>
          <p:cNvPr id="18" name="Text 16"/>
          <p:cNvSpPr/>
          <p:nvPr/>
        </p:nvSpPr>
        <p:spPr>
          <a:xfrm>
            <a:off x="2194421" y="2052241"/>
            <a:ext cx="485581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Desde octubre ya no se puede usar OpenSpec ni herramientas similares.</a:t>
            </a:r>
            <a:endParaRPr lang="en-US" sz="1400" dirty="0"/>
          </a:p>
        </p:txBody>
      </p:sp>
      <p:sp>
        <p:nvSpPr>
          <p:cNvPr id="19" name="Text 17"/>
          <p:cNvSpPr/>
          <p:nvPr/>
        </p:nvSpPr>
        <p:spPr>
          <a:xfrm>
            <a:off x="2194421" y="2588121"/>
            <a:ext cx="48558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A"/>
                </a:solidFill>
                <a:latin typeface="Arial" pitchFamily="34" charset="0"/>
                <a:ea typeface="Arial" pitchFamily="34" charset="-122"/>
                <a:cs typeface="Arial" pitchFamily="34" charset="-120"/>
              </a:rPr>
              <a:t>Motivo: restricciones y bloqueos de herramientas en los equipos de la organización.</a:t>
            </a:r>
            <a:endParaRPr lang="en-US" sz="1200" dirty="0"/>
          </a:p>
        </p:txBody>
      </p:sp>
      <p:sp>
        <p:nvSpPr>
          <p:cNvPr id="20" name="Shape 18"/>
          <p:cNvSpPr/>
          <p:nvPr/>
        </p:nvSpPr>
        <p:spPr>
          <a:xfrm>
            <a:off x="815975" y="3322737"/>
            <a:ext cx="6292850" cy="1741041"/>
          </a:xfrm>
          <a:prstGeom prst="roundRect">
            <a:avLst>
              <a:gd name="adj" fmla="val 5653"/>
            </a:avLst>
          </a:prstGeom>
          <a:solidFill>
            <a:srgbClr val="FCFBF7"/>
          </a:solidFill>
          <a:ln w="6350">
            <a:solidFill>
              <a:srgbClr val="DDD8CC"/>
            </a:solidFill>
            <a:prstDash val="solid"/>
          </a:ln>
        </p:spPr>
      </p:sp>
      <p:sp>
        <p:nvSpPr>
          <p:cNvPr id="21" name="Text 19"/>
          <p:cNvSpPr/>
          <p:nvPr/>
        </p:nvSpPr>
        <p:spPr>
          <a:xfrm>
            <a:off x="1022350" y="3529112"/>
            <a:ext cx="605650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Límites del Modelo 1.0</a:t>
            </a:r>
            <a:endParaRPr lang="en-US" sz="1400" dirty="0"/>
          </a:p>
        </p:txBody>
      </p:sp>
      <p:sp>
        <p:nvSpPr>
          <p:cNvPr id="22" name="Text 20"/>
          <p:cNvSpPr/>
          <p:nvPr/>
        </p:nvSpPr>
        <p:spPr>
          <a:xfrm>
            <a:off x="1119632" y="3861842"/>
            <a:ext cx="5951601" cy="102096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A5363"/>
                </a:solidFill>
                <a:latin typeface="Arial" pitchFamily="34" charset="0"/>
                <a:ea typeface="Arial" pitchFamily="34" charset="-122"/>
                <a:cs typeface="Arial" pitchFamily="34" charset="-120"/>
              </a:rPr>
              <a:t>Dependencia de un CLI externo y de Node.js 20.19+</a:t>
            </a:r>
            <a:endParaRPr lang="en-US" sz="1400" dirty="0"/>
          </a:p>
          <a:p>
            <a:pPr algn="l" marL="156718" indent="-156718">
              <a:lnSpc>
                <a:spcPts val="1960"/>
              </a:lnSpc>
              <a:buSzPct val="100000"/>
              <a:buChar char="•"/>
            </a:pPr>
            <a:r>
              <a:rPr lang="en-US" sz="1400" dirty="0">
                <a:solidFill>
                  <a:srgbClr val="4A5363"/>
                </a:solidFill>
                <a:latin typeface="Arial" pitchFamily="34" charset="0"/>
                <a:ea typeface="Arial" pitchFamily="34" charset="-122"/>
                <a:cs typeface="Arial" pitchFamily="34" charset="-120"/>
              </a:rPr>
              <a:t>Revisión humana de cada artefacto</a:t>
            </a:r>
            <a:endParaRPr lang="en-US" sz="1400" dirty="0"/>
          </a:p>
          <a:p>
            <a:pPr algn="l" marL="156718" indent="-156718">
              <a:lnSpc>
                <a:spcPts val="1960"/>
              </a:lnSpc>
              <a:buSzPct val="100000"/>
              <a:buChar char="•"/>
            </a:pPr>
            <a:r>
              <a:rPr lang="en-US" sz="1400" dirty="0">
                <a:solidFill>
                  <a:srgbClr val="4A5363"/>
                </a:solidFill>
                <a:latin typeface="Arial" pitchFamily="34" charset="0"/>
                <a:ea typeface="Arial" pitchFamily="34" charset="-122"/>
                <a:cs typeface="Arial" pitchFamily="34" charset="-120"/>
              </a:rPr>
              <a:t>El desarrollador encadenaba cada paso</a:t>
            </a:r>
            <a:endParaRPr lang="en-US" sz="1400" dirty="0"/>
          </a:p>
          <a:p>
            <a:pPr algn="l" marL="156718" indent="-156718">
              <a:lnSpc>
                <a:spcPts val="1960"/>
              </a:lnSpc>
              <a:buSzPct val="100000"/>
              <a:buChar char="•"/>
            </a:pPr>
            <a:r>
              <a:rPr lang="en-US" sz="1400" dirty="0">
                <a:solidFill>
                  <a:srgbClr val="4A5363"/>
                </a:solidFill>
                <a:latin typeface="Arial" pitchFamily="34" charset="0"/>
                <a:ea typeface="Arial" pitchFamily="34" charset="-122"/>
                <a:cs typeface="Arial" pitchFamily="34" charset="-120"/>
              </a:rPr>
              <a:t>TDD sujeto a la disciplina del agente</a:t>
            </a:r>
            <a:endParaRPr lang="en-US" sz="1400" dirty="0"/>
          </a:p>
        </p:txBody>
      </p:sp>
      <p:sp>
        <p:nvSpPr>
          <p:cNvPr id="23" name="Shape 21"/>
          <p:cNvSpPr/>
          <p:nvPr/>
        </p:nvSpPr>
        <p:spPr>
          <a:xfrm>
            <a:off x="7321550" y="1906191"/>
            <a:ext cx="4051300" cy="3154412"/>
          </a:xfrm>
          <a:prstGeom prst="roundRect">
            <a:avLst>
              <a:gd name="adj" fmla="val 3020"/>
            </a:avLst>
          </a:prstGeom>
          <a:solidFill>
            <a:srgbClr val="FCFBF7"/>
          </a:solidFill>
          <a:ln w="12700">
            <a:solidFill>
              <a:srgbClr val="2B5F8E"/>
            </a:solidFill>
            <a:prstDash val="solid"/>
          </a:ln>
        </p:spPr>
      </p:sp>
      <p:sp>
        <p:nvSpPr>
          <p:cNvPr id="24" name="Text 22"/>
          <p:cNvSpPr/>
          <p:nvPr/>
        </p:nvSpPr>
        <p:spPr>
          <a:xfrm>
            <a:off x="7531100" y="2115741"/>
            <a:ext cx="374116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DECISIÓN</a:t>
            </a:r>
            <a:endParaRPr lang="en-US" sz="1200" dirty="0"/>
          </a:p>
        </p:txBody>
      </p:sp>
      <p:sp>
        <p:nvSpPr>
          <p:cNvPr id="25" name="Text 23"/>
          <p:cNvSpPr/>
          <p:nvPr/>
        </p:nvSpPr>
        <p:spPr>
          <a:xfrm>
            <a:off x="7531100" y="2456061"/>
            <a:ext cx="3741166" cy="8826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4233A"/>
                </a:solidFill>
                <a:latin typeface="Georgia" pitchFamily="18" charset="0"/>
                <a:ea typeface="Georgia" pitchFamily="18" charset="-122"/>
                <a:cs typeface="Georgia" pitchFamily="18" charset="-120"/>
              </a:rPr>
              <a:t>Construir el estándar con las capacidades nativas de GitHub Copilot</a:t>
            </a:r>
            <a:endParaRPr lang="en-US" sz="1800" dirty="0"/>
          </a:p>
        </p:txBody>
      </p:sp>
      <p:sp>
        <p:nvSpPr>
          <p:cNvPr id="26" name="Text 24"/>
          <p:cNvSpPr/>
          <p:nvPr/>
        </p:nvSpPr>
        <p:spPr>
          <a:xfrm>
            <a:off x="7628382" y="3440311"/>
            <a:ext cx="3636264" cy="77207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4A5363"/>
                </a:solidFill>
                <a:latin typeface="Arial" pitchFamily="34" charset="0"/>
                <a:ea typeface="Arial" pitchFamily="34" charset="-122"/>
                <a:cs typeface="Arial" pitchFamily="34" charset="-120"/>
              </a:rPr>
              <a:t>Sin herramientas externas</a:t>
            </a:r>
            <a:endParaRPr lang="en-US" sz="1400" dirty="0"/>
          </a:p>
          <a:p>
            <a:pPr algn="l" marL="156718" indent="-156718">
              <a:lnSpc>
                <a:spcPts val="1960"/>
              </a:lnSpc>
              <a:buSzPct val="100000"/>
              <a:buChar char="•"/>
            </a:pPr>
            <a:r>
              <a:rPr lang="en-US" sz="1400" dirty="0">
                <a:solidFill>
                  <a:srgbClr val="4A5363"/>
                </a:solidFill>
                <a:latin typeface="Arial" pitchFamily="34" charset="0"/>
                <a:ea typeface="Arial" pitchFamily="34" charset="-122"/>
                <a:cs typeface="Arial" pitchFamily="34" charset="-120"/>
              </a:rPr>
              <a:t>Todo versionado en el repositorio</a:t>
            </a:r>
            <a:endParaRPr lang="en-US" sz="1400" dirty="0"/>
          </a:p>
          <a:p>
            <a:pPr algn="l" marL="156718" indent="-156718">
              <a:lnSpc>
                <a:spcPts val="1960"/>
              </a:lnSpc>
              <a:buSzPct val="100000"/>
              <a:buChar char="•"/>
            </a:pPr>
            <a:r>
              <a:rPr lang="en-US" sz="1400" dirty="0">
                <a:solidFill>
                  <a:srgbClr val="4A5363"/>
                </a:solidFill>
                <a:latin typeface="Arial" pitchFamily="34" charset="0"/>
                <a:ea typeface="Arial" pitchFamily="34" charset="-122"/>
                <a:cs typeface="Arial" pitchFamily="34" charset="-120"/>
              </a:rPr>
              <a:t>Conserva lo aprendido en el Modelo 1.0</a:t>
            </a:r>
            <a:endParaRPr lang="en-US" sz="1400" dirty="0"/>
          </a:p>
        </p:txBody>
      </p:sp>
      <p:sp>
        <p:nvSpPr>
          <p:cNvPr id="27" name="Text 25"/>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28" name="Text 26"/>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2B5F8E"/>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MODELO 2.0 · ESTÁNDAR PROPIO</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El estándar en una mirada</a:t>
            </a:r>
            <a:endParaRPr lang="en-US" sz="3200" dirty="0"/>
          </a:p>
        </p:txBody>
      </p:sp>
      <p:sp>
        <p:nvSpPr>
          <p:cNvPr id="16" name="Shape 14"/>
          <p:cNvSpPr/>
          <p:nvPr/>
        </p:nvSpPr>
        <p:spPr>
          <a:xfrm>
            <a:off x="812800" y="1727200"/>
            <a:ext cx="10566400" cy="952500"/>
          </a:xfrm>
          <a:prstGeom prst="roundRect">
            <a:avLst>
              <a:gd name="adj" fmla="val 10667"/>
            </a:avLst>
          </a:prstGeom>
          <a:gradFill rotWithShape="1">
            <a:gsLst>
              <a:gs pos="0">
                <a:srgbClr val="14233A"/>
              </a:gs>
              <a:gs pos="100000">
                <a:srgbClr val="24527D"/>
              </a:gs>
            </a:gsLst>
            <a:lin ang="2700000" scaled="0"/>
          </a:gradFill>
          <a:ln/>
        </p:spPr>
      </p:sp>
      <p:sp>
        <p:nvSpPr>
          <p:cNvPr id="17" name="Text 15"/>
          <p:cNvSpPr/>
          <p:nvPr/>
        </p:nvSpPr>
        <p:spPr>
          <a:xfrm>
            <a:off x="1016000" y="1893590"/>
            <a:ext cx="1485900" cy="42158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D9A55A"/>
                </a:solidFill>
                <a:latin typeface="Arial" pitchFamily="34" charset="0"/>
                <a:ea typeface="Arial" pitchFamily="34" charset="-122"/>
                <a:cs typeface="Arial" pitchFamily="34" charset="-120"/>
              </a:rPr>
              <a:t>RESULTADO DE 7 MESES</a:t>
            </a:r>
            <a:endParaRPr lang="en-US" sz="1200" dirty="0"/>
          </a:p>
        </p:txBody>
      </p:sp>
      <p:sp>
        <p:nvSpPr>
          <p:cNvPr id="18" name="Text 16"/>
          <p:cNvSpPr/>
          <p:nvPr/>
        </p:nvSpPr>
        <p:spPr>
          <a:xfrm>
            <a:off x="1016000" y="2315170"/>
            <a:ext cx="14859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5CFDA"/>
                </a:solidFill>
                <a:latin typeface="Arial" pitchFamily="34" charset="0"/>
                <a:ea typeface="Arial" pitchFamily="34" charset="-122"/>
                <a:cs typeface="Arial" pitchFamily="34" charset="-120"/>
              </a:rPr>
              <a:t>abril – octubre 2026</a:t>
            </a:r>
            <a:endParaRPr lang="en-US" sz="1200" dirty="0"/>
          </a:p>
        </p:txBody>
      </p:sp>
      <p:sp>
        <p:nvSpPr>
          <p:cNvPr id="19" name="Shape 17"/>
          <p:cNvSpPr/>
          <p:nvPr/>
        </p:nvSpPr>
        <p:spPr>
          <a:xfrm>
            <a:off x="2606675" y="1910110"/>
            <a:ext cx="0" cy="586680"/>
          </a:xfrm>
          <a:prstGeom prst="line">
            <a:avLst/>
          </a:prstGeom>
          <a:noFill/>
          <a:ln w="6350">
            <a:solidFill>
              <a:srgbClr val="3A5A7E"/>
            </a:solidFill>
            <a:prstDash val="solid"/>
          </a:ln>
        </p:spPr>
      </p:sp>
      <p:sp>
        <p:nvSpPr>
          <p:cNvPr id="20" name="Text 18"/>
          <p:cNvSpPr/>
          <p:nvPr/>
        </p:nvSpPr>
        <p:spPr>
          <a:xfrm>
            <a:off x="2749550" y="1910110"/>
            <a:ext cx="1489670" cy="38859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7F6F2"/>
                </a:solidFill>
                <a:latin typeface="Georgia" pitchFamily="18" charset="0"/>
                <a:ea typeface="Georgia" pitchFamily="18" charset="-122"/>
                <a:cs typeface="Georgia" pitchFamily="18" charset="-120"/>
              </a:rPr>
              <a:t>11 + 2</a:t>
            </a:r>
            <a:endParaRPr lang="en-US" sz="2600" dirty="0"/>
          </a:p>
        </p:txBody>
      </p:sp>
      <p:sp>
        <p:nvSpPr>
          <p:cNvPr id="21" name="Text 19"/>
          <p:cNvSpPr/>
          <p:nvPr/>
        </p:nvSpPr>
        <p:spPr>
          <a:xfrm>
            <a:off x="2749550" y="2298700"/>
            <a:ext cx="148967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5CFDA"/>
                </a:solidFill>
                <a:latin typeface="Arial" pitchFamily="34" charset="0"/>
                <a:ea typeface="Arial" pitchFamily="34" charset="-122"/>
                <a:cs typeface="Arial" pitchFamily="34" charset="-120"/>
              </a:rPr>
              <a:t>agentes y jueces</a:t>
            </a:r>
            <a:endParaRPr lang="en-US" sz="1200" dirty="0"/>
          </a:p>
        </p:txBody>
      </p:sp>
      <p:sp>
        <p:nvSpPr>
          <p:cNvPr id="22" name="Shape 20"/>
          <p:cNvSpPr/>
          <p:nvPr/>
        </p:nvSpPr>
        <p:spPr>
          <a:xfrm>
            <a:off x="4331295" y="1910110"/>
            <a:ext cx="0" cy="586680"/>
          </a:xfrm>
          <a:prstGeom prst="line">
            <a:avLst/>
          </a:prstGeom>
          <a:noFill/>
          <a:ln w="6350">
            <a:solidFill>
              <a:srgbClr val="3A5A7E"/>
            </a:solidFill>
            <a:prstDash val="solid"/>
          </a:ln>
        </p:spPr>
      </p:sp>
      <p:sp>
        <p:nvSpPr>
          <p:cNvPr id="23" name="Text 21"/>
          <p:cNvSpPr/>
          <p:nvPr/>
        </p:nvSpPr>
        <p:spPr>
          <a:xfrm>
            <a:off x="4474170" y="1910110"/>
            <a:ext cx="1489720" cy="38859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7F6F2"/>
                </a:solidFill>
                <a:latin typeface="Georgia" pitchFamily="18" charset="0"/>
                <a:ea typeface="Georgia" pitchFamily="18" charset="-122"/>
                <a:cs typeface="Georgia" pitchFamily="18" charset="-120"/>
              </a:rPr>
              <a:t>17</a:t>
            </a:r>
            <a:endParaRPr lang="en-US" sz="2600" dirty="0"/>
          </a:p>
        </p:txBody>
      </p:sp>
      <p:sp>
        <p:nvSpPr>
          <p:cNvPr id="24" name="Text 22"/>
          <p:cNvSpPr/>
          <p:nvPr/>
        </p:nvSpPr>
        <p:spPr>
          <a:xfrm>
            <a:off x="4474170" y="2298700"/>
            <a:ext cx="148972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5CFDA"/>
                </a:solidFill>
                <a:latin typeface="Arial" pitchFamily="34" charset="0"/>
                <a:ea typeface="Arial" pitchFamily="34" charset="-122"/>
                <a:cs typeface="Arial" pitchFamily="34" charset="-120"/>
              </a:rPr>
              <a:t>skills</a:t>
            </a:r>
            <a:endParaRPr lang="en-US" sz="1200" dirty="0"/>
          </a:p>
        </p:txBody>
      </p:sp>
      <p:sp>
        <p:nvSpPr>
          <p:cNvPr id="25" name="Shape 23"/>
          <p:cNvSpPr/>
          <p:nvPr/>
        </p:nvSpPr>
        <p:spPr>
          <a:xfrm>
            <a:off x="6055965" y="1910110"/>
            <a:ext cx="0" cy="586680"/>
          </a:xfrm>
          <a:prstGeom prst="line">
            <a:avLst/>
          </a:prstGeom>
          <a:noFill/>
          <a:ln w="6350">
            <a:solidFill>
              <a:srgbClr val="3A5A7E"/>
            </a:solidFill>
            <a:prstDash val="solid"/>
          </a:ln>
        </p:spPr>
      </p:sp>
      <p:sp>
        <p:nvSpPr>
          <p:cNvPr id="26" name="Text 24"/>
          <p:cNvSpPr/>
          <p:nvPr/>
        </p:nvSpPr>
        <p:spPr>
          <a:xfrm>
            <a:off x="6198840" y="1910110"/>
            <a:ext cx="1489720" cy="38859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7F6F2"/>
                </a:solidFill>
                <a:latin typeface="Georgia" pitchFamily="18" charset="0"/>
                <a:ea typeface="Georgia" pitchFamily="18" charset="-122"/>
                <a:cs typeface="Georgia" pitchFamily="18" charset="-120"/>
              </a:rPr>
              <a:t>17</a:t>
            </a:r>
            <a:endParaRPr lang="en-US" sz="2600" dirty="0"/>
          </a:p>
        </p:txBody>
      </p:sp>
      <p:sp>
        <p:nvSpPr>
          <p:cNvPr id="27" name="Text 25"/>
          <p:cNvSpPr/>
          <p:nvPr/>
        </p:nvSpPr>
        <p:spPr>
          <a:xfrm>
            <a:off x="6198840" y="2298700"/>
            <a:ext cx="148972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5CFDA"/>
                </a:solidFill>
                <a:latin typeface="Arial" pitchFamily="34" charset="0"/>
                <a:ea typeface="Arial" pitchFamily="34" charset="-122"/>
                <a:cs typeface="Arial" pitchFamily="34" charset="-120"/>
              </a:rPr>
              <a:t>comandos /sdd</a:t>
            </a:r>
            <a:endParaRPr lang="en-US" sz="1200" dirty="0"/>
          </a:p>
        </p:txBody>
      </p:sp>
      <p:sp>
        <p:nvSpPr>
          <p:cNvPr id="28" name="Shape 26"/>
          <p:cNvSpPr/>
          <p:nvPr/>
        </p:nvSpPr>
        <p:spPr>
          <a:xfrm>
            <a:off x="7780635" y="1811040"/>
            <a:ext cx="0" cy="784771"/>
          </a:xfrm>
          <a:prstGeom prst="line">
            <a:avLst/>
          </a:prstGeom>
          <a:noFill/>
          <a:ln w="6350">
            <a:solidFill>
              <a:srgbClr val="3A5A7E"/>
            </a:solidFill>
            <a:prstDash val="solid"/>
          </a:ln>
        </p:spPr>
      </p:sp>
      <p:sp>
        <p:nvSpPr>
          <p:cNvPr id="29" name="Text 27"/>
          <p:cNvSpPr/>
          <p:nvPr/>
        </p:nvSpPr>
        <p:spPr>
          <a:xfrm>
            <a:off x="7923510" y="1811040"/>
            <a:ext cx="1489720" cy="38859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7F6F2"/>
                </a:solidFill>
                <a:latin typeface="Georgia" pitchFamily="18" charset="0"/>
                <a:ea typeface="Georgia" pitchFamily="18" charset="-122"/>
                <a:cs typeface="Georgia" pitchFamily="18" charset="-120"/>
              </a:rPr>
              <a:t>3</a:t>
            </a:r>
            <a:endParaRPr lang="en-US" sz="2600" dirty="0"/>
          </a:p>
        </p:txBody>
      </p:sp>
      <p:sp>
        <p:nvSpPr>
          <p:cNvPr id="30" name="Text 28"/>
          <p:cNvSpPr/>
          <p:nvPr/>
        </p:nvSpPr>
        <p:spPr>
          <a:xfrm>
            <a:off x="7923510" y="2199630"/>
            <a:ext cx="148972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5CFDA"/>
                </a:solidFill>
                <a:latin typeface="Arial" pitchFamily="34" charset="0"/>
                <a:ea typeface="Arial" pitchFamily="34" charset="-122"/>
                <a:cs typeface="Arial" pitchFamily="34" charset="-120"/>
              </a:rPr>
              <a:t>aprobaciones humanas</a:t>
            </a:r>
            <a:endParaRPr lang="en-US" sz="1200" dirty="0"/>
          </a:p>
        </p:txBody>
      </p:sp>
      <p:sp>
        <p:nvSpPr>
          <p:cNvPr id="31" name="Shape 29"/>
          <p:cNvSpPr/>
          <p:nvPr/>
        </p:nvSpPr>
        <p:spPr>
          <a:xfrm>
            <a:off x="9505305" y="1811040"/>
            <a:ext cx="0" cy="784771"/>
          </a:xfrm>
          <a:prstGeom prst="line">
            <a:avLst/>
          </a:prstGeom>
          <a:noFill/>
          <a:ln w="6350">
            <a:solidFill>
              <a:srgbClr val="3A5A7E"/>
            </a:solidFill>
            <a:prstDash val="solid"/>
          </a:ln>
        </p:spPr>
      </p:sp>
      <p:sp>
        <p:nvSpPr>
          <p:cNvPr id="32" name="Text 30"/>
          <p:cNvSpPr/>
          <p:nvPr/>
        </p:nvSpPr>
        <p:spPr>
          <a:xfrm>
            <a:off x="9648180" y="1811040"/>
            <a:ext cx="1489720" cy="38859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7F6F2"/>
                </a:solidFill>
                <a:latin typeface="Georgia" pitchFamily="18" charset="0"/>
                <a:ea typeface="Georgia" pitchFamily="18" charset="-122"/>
                <a:cs typeface="Georgia" pitchFamily="18" charset="-120"/>
              </a:rPr>
              <a:t>0</a:t>
            </a:r>
            <a:endParaRPr lang="en-US" sz="2600" dirty="0"/>
          </a:p>
        </p:txBody>
      </p:sp>
      <p:sp>
        <p:nvSpPr>
          <p:cNvPr id="33" name="Text 31"/>
          <p:cNvSpPr/>
          <p:nvPr/>
        </p:nvSpPr>
        <p:spPr>
          <a:xfrm>
            <a:off x="9648180" y="2199630"/>
            <a:ext cx="148972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5CFDA"/>
                </a:solidFill>
                <a:latin typeface="Arial" pitchFamily="34" charset="0"/>
                <a:ea typeface="Arial" pitchFamily="34" charset="-122"/>
                <a:cs typeface="Arial" pitchFamily="34" charset="-120"/>
              </a:rPr>
              <a:t>herramientas externas</a:t>
            </a:r>
            <a:endParaRPr lang="en-US" sz="1200" dirty="0"/>
          </a:p>
        </p:txBody>
      </p:sp>
      <p:sp>
        <p:nvSpPr>
          <p:cNvPr id="34" name="Shape 32"/>
          <p:cNvSpPr/>
          <p:nvPr/>
        </p:nvSpPr>
        <p:spPr>
          <a:xfrm>
            <a:off x="815975" y="2809875"/>
            <a:ext cx="2520950" cy="1416050"/>
          </a:xfrm>
          <a:prstGeom prst="roundRect">
            <a:avLst>
              <a:gd name="adj" fmla="val 5157"/>
            </a:avLst>
          </a:prstGeom>
          <a:solidFill>
            <a:srgbClr val="FCFBF7"/>
          </a:solidFill>
          <a:ln w="6350">
            <a:solidFill>
              <a:srgbClr val="DDD8CC"/>
            </a:solidFill>
            <a:prstDash val="solid"/>
          </a:ln>
        </p:spPr>
      </p:sp>
      <p:sp>
        <p:nvSpPr>
          <p:cNvPr id="35" name="Text 33"/>
          <p:cNvSpPr/>
          <p:nvPr/>
        </p:nvSpPr>
        <p:spPr>
          <a:xfrm>
            <a:off x="971550" y="2940050"/>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FLUJO</a:t>
            </a:r>
            <a:endParaRPr lang="en-US" sz="1200" dirty="0"/>
          </a:p>
        </p:txBody>
      </p:sp>
      <p:sp>
        <p:nvSpPr>
          <p:cNvPr id="36" name="Text 34"/>
          <p:cNvSpPr/>
          <p:nvPr/>
        </p:nvSpPr>
        <p:spPr>
          <a:xfrm>
            <a:off x="971550" y="3204170"/>
            <a:ext cx="227609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Orquestador</a:t>
            </a:r>
            <a:endParaRPr lang="en-US" sz="1400" dirty="0"/>
          </a:p>
        </p:txBody>
      </p:sp>
      <p:sp>
        <p:nvSpPr>
          <p:cNvPr id="37" name="Text 35"/>
          <p:cNvSpPr/>
          <p:nvPr/>
        </p:nvSpPr>
        <p:spPr>
          <a:xfrm>
            <a:off x="971550" y="3477220"/>
            <a:ext cx="227609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Arial" pitchFamily="34" charset="0"/>
                <a:ea typeface="Arial" pitchFamily="34" charset="-122"/>
                <a:cs typeface="Arial" pitchFamily="34" charset="-120"/>
              </a:rPr>
              <a:t>Coordina 10 especialistas, uno por cada etapa del flujo</a:t>
            </a:r>
            <a:endParaRPr lang="en-US" sz="1200" dirty="0"/>
          </a:p>
        </p:txBody>
      </p:sp>
      <p:sp>
        <p:nvSpPr>
          <p:cNvPr id="38" name="Shape 36"/>
          <p:cNvSpPr/>
          <p:nvPr/>
        </p:nvSpPr>
        <p:spPr>
          <a:xfrm>
            <a:off x="3495675" y="2809875"/>
            <a:ext cx="2520950" cy="1416050"/>
          </a:xfrm>
          <a:prstGeom prst="roundRect">
            <a:avLst>
              <a:gd name="adj" fmla="val 5157"/>
            </a:avLst>
          </a:prstGeom>
          <a:solidFill>
            <a:srgbClr val="FCFBF7"/>
          </a:solidFill>
          <a:ln w="6350">
            <a:solidFill>
              <a:srgbClr val="DDD8CC"/>
            </a:solidFill>
            <a:prstDash val="solid"/>
          </a:ln>
        </p:spPr>
      </p:sp>
      <p:sp>
        <p:nvSpPr>
          <p:cNvPr id="39" name="Text 37"/>
          <p:cNvSpPr/>
          <p:nvPr/>
        </p:nvSpPr>
        <p:spPr>
          <a:xfrm>
            <a:off x="3651250" y="2940050"/>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ESPECIFICACIÓN</a:t>
            </a:r>
            <a:endParaRPr lang="en-US" sz="1200" dirty="0"/>
          </a:p>
        </p:txBody>
      </p:sp>
      <p:sp>
        <p:nvSpPr>
          <p:cNvPr id="40" name="Text 38"/>
          <p:cNvSpPr/>
          <p:nvPr/>
        </p:nvSpPr>
        <p:spPr>
          <a:xfrm>
            <a:off x="3651250" y="3204170"/>
            <a:ext cx="227609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Specs en EARS</a:t>
            </a:r>
            <a:endParaRPr lang="en-US" sz="1400" dirty="0"/>
          </a:p>
        </p:txBody>
      </p:sp>
      <p:sp>
        <p:nvSpPr>
          <p:cNvPr id="41" name="Text 39"/>
          <p:cNvSpPr/>
          <p:nvPr/>
        </p:nvSpPr>
        <p:spPr>
          <a:xfrm>
            <a:off x="3651250" y="3477220"/>
            <a:ext cx="227609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Arial" pitchFamily="34" charset="0"/>
                <a:ea typeface="Arial" pitchFamily="34" charset="-122"/>
                <a:cs typeface="Arial" pitchFamily="34" charset="-120"/>
              </a:rPr>
              <a:t>Requisitos verificables y clarificación antes del Gate 1</a:t>
            </a:r>
            <a:endParaRPr lang="en-US" sz="1200" dirty="0"/>
          </a:p>
        </p:txBody>
      </p:sp>
      <p:sp>
        <p:nvSpPr>
          <p:cNvPr id="42" name="Shape 40"/>
          <p:cNvSpPr/>
          <p:nvPr/>
        </p:nvSpPr>
        <p:spPr>
          <a:xfrm>
            <a:off x="6175375" y="2809875"/>
            <a:ext cx="2520950" cy="1416050"/>
          </a:xfrm>
          <a:prstGeom prst="roundRect">
            <a:avLst>
              <a:gd name="adj" fmla="val 5157"/>
            </a:avLst>
          </a:prstGeom>
          <a:solidFill>
            <a:srgbClr val="FCFBF7"/>
          </a:solidFill>
          <a:ln w="6350">
            <a:solidFill>
              <a:srgbClr val="DDD8CC"/>
            </a:solidFill>
            <a:prstDash val="solid"/>
          </a:ln>
        </p:spPr>
      </p:sp>
      <p:sp>
        <p:nvSpPr>
          <p:cNvPr id="43" name="Text 41"/>
          <p:cNvSpPr/>
          <p:nvPr/>
        </p:nvSpPr>
        <p:spPr>
          <a:xfrm>
            <a:off x="6330950" y="2940050"/>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CALIDAD</a:t>
            </a:r>
            <a:endParaRPr lang="en-US" sz="1200" dirty="0"/>
          </a:p>
        </p:txBody>
      </p:sp>
      <p:sp>
        <p:nvSpPr>
          <p:cNvPr id="44" name="Text 42"/>
          <p:cNvSpPr/>
          <p:nvPr/>
        </p:nvSpPr>
        <p:spPr>
          <a:xfrm>
            <a:off x="6330950" y="3204170"/>
            <a:ext cx="227609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TDD con roles</a:t>
            </a:r>
            <a:endParaRPr lang="en-US" sz="1400" dirty="0"/>
          </a:p>
        </p:txBody>
      </p:sp>
      <p:sp>
        <p:nvSpPr>
          <p:cNvPr id="45" name="Text 43"/>
          <p:cNvSpPr/>
          <p:nvPr/>
        </p:nvSpPr>
        <p:spPr>
          <a:xfrm>
            <a:off x="6330950" y="3477220"/>
            <a:ext cx="227609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Arial" pitchFamily="34" charset="0"/>
                <a:ea typeface="Arial" pitchFamily="34" charset="-122"/>
                <a:cs typeface="Arial" pitchFamily="34" charset="-120"/>
              </a:rPr>
              <a:t>Un agente escribe las pruebas; otro el código, sin tocarlas</a:t>
            </a:r>
            <a:endParaRPr lang="en-US" sz="1200" dirty="0"/>
          </a:p>
        </p:txBody>
      </p:sp>
      <p:sp>
        <p:nvSpPr>
          <p:cNvPr id="46" name="Shape 44"/>
          <p:cNvSpPr/>
          <p:nvPr/>
        </p:nvSpPr>
        <p:spPr>
          <a:xfrm>
            <a:off x="8855075" y="2809875"/>
            <a:ext cx="2520950" cy="1416050"/>
          </a:xfrm>
          <a:prstGeom prst="roundRect">
            <a:avLst>
              <a:gd name="adj" fmla="val 5157"/>
            </a:avLst>
          </a:prstGeom>
          <a:solidFill>
            <a:srgbClr val="FCFBF7"/>
          </a:solidFill>
          <a:ln w="6350">
            <a:solidFill>
              <a:srgbClr val="DDD8CC"/>
            </a:solidFill>
            <a:prstDash val="solid"/>
          </a:ln>
        </p:spPr>
      </p:sp>
      <p:sp>
        <p:nvSpPr>
          <p:cNvPr id="47" name="Text 45"/>
          <p:cNvSpPr/>
          <p:nvPr/>
        </p:nvSpPr>
        <p:spPr>
          <a:xfrm>
            <a:off x="9010650" y="2940050"/>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REVISIÓN</a:t>
            </a:r>
            <a:endParaRPr lang="en-US" sz="1200" dirty="0"/>
          </a:p>
        </p:txBody>
      </p:sp>
      <p:sp>
        <p:nvSpPr>
          <p:cNvPr id="48" name="Text 46"/>
          <p:cNvSpPr/>
          <p:nvPr/>
        </p:nvSpPr>
        <p:spPr>
          <a:xfrm>
            <a:off x="9010650" y="3204170"/>
            <a:ext cx="227609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Juicio dual</a:t>
            </a:r>
            <a:endParaRPr lang="en-US" sz="1400" dirty="0"/>
          </a:p>
        </p:txBody>
      </p:sp>
      <p:sp>
        <p:nvSpPr>
          <p:cNvPr id="49" name="Text 47"/>
          <p:cNvSpPr/>
          <p:nvPr/>
        </p:nvSpPr>
        <p:spPr>
          <a:xfrm>
            <a:off x="9010650" y="3477220"/>
            <a:ext cx="227609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Arial" pitchFamily="34" charset="0"/>
                <a:ea typeface="Arial" pitchFamily="34" charset="-122"/>
                <a:cs typeface="Arial" pitchFamily="34" charset="-120"/>
              </a:rPr>
              <a:t>Dos jueces de modelos distintos revisan a ciegas el cambio</a:t>
            </a:r>
            <a:endParaRPr lang="en-US" sz="1200" dirty="0"/>
          </a:p>
        </p:txBody>
      </p:sp>
      <p:sp>
        <p:nvSpPr>
          <p:cNvPr id="50" name="Shape 48"/>
          <p:cNvSpPr/>
          <p:nvPr/>
        </p:nvSpPr>
        <p:spPr>
          <a:xfrm>
            <a:off x="815975" y="4333875"/>
            <a:ext cx="2520950" cy="1416050"/>
          </a:xfrm>
          <a:prstGeom prst="roundRect">
            <a:avLst>
              <a:gd name="adj" fmla="val 5157"/>
            </a:avLst>
          </a:prstGeom>
          <a:solidFill>
            <a:srgbClr val="FCFBF7"/>
          </a:solidFill>
          <a:ln w="6350">
            <a:solidFill>
              <a:srgbClr val="DDD8CC"/>
            </a:solidFill>
            <a:prstDash val="solid"/>
          </a:ln>
        </p:spPr>
      </p:sp>
      <p:sp>
        <p:nvSpPr>
          <p:cNvPr id="51" name="Text 49"/>
          <p:cNvSpPr/>
          <p:nvPr/>
        </p:nvSpPr>
        <p:spPr>
          <a:xfrm>
            <a:off x="971550" y="4464050"/>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SEGURIDAD</a:t>
            </a:r>
            <a:endParaRPr lang="en-US" sz="1200" dirty="0"/>
          </a:p>
        </p:txBody>
      </p:sp>
      <p:sp>
        <p:nvSpPr>
          <p:cNvPr id="52" name="Text 50"/>
          <p:cNvSpPr/>
          <p:nvPr/>
        </p:nvSpPr>
        <p:spPr>
          <a:xfrm>
            <a:off x="971550" y="4728170"/>
            <a:ext cx="227609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Seguridad integrada</a:t>
            </a:r>
            <a:endParaRPr lang="en-US" sz="1400" dirty="0"/>
          </a:p>
        </p:txBody>
      </p:sp>
      <p:sp>
        <p:nvSpPr>
          <p:cNvPr id="53" name="Text 51"/>
          <p:cNvSpPr/>
          <p:nvPr/>
        </p:nvSpPr>
        <p:spPr>
          <a:xfrm>
            <a:off x="971550" y="5001220"/>
            <a:ext cx="227609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Arial" pitchFamily="34" charset="0"/>
                <a:ea typeface="Arial" pitchFamily="34" charset="-122"/>
                <a:cs typeface="Arial" pitchFamily="34" charset="-120"/>
              </a:rPr>
              <a:t>11 controles base de OWASP, CWE y NIST: informa, no bloquea</a:t>
            </a:r>
            <a:endParaRPr lang="en-US" sz="1200" dirty="0"/>
          </a:p>
        </p:txBody>
      </p:sp>
      <p:sp>
        <p:nvSpPr>
          <p:cNvPr id="54" name="Shape 52"/>
          <p:cNvSpPr/>
          <p:nvPr/>
        </p:nvSpPr>
        <p:spPr>
          <a:xfrm>
            <a:off x="3495675" y="4333875"/>
            <a:ext cx="2520950" cy="1416050"/>
          </a:xfrm>
          <a:prstGeom prst="roundRect">
            <a:avLst>
              <a:gd name="adj" fmla="val 5157"/>
            </a:avLst>
          </a:prstGeom>
          <a:solidFill>
            <a:srgbClr val="FCFBF7"/>
          </a:solidFill>
          <a:ln w="6350">
            <a:solidFill>
              <a:srgbClr val="DDD8CC"/>
            </a:solidFill>
            <a:prstDash val="solid"/>
          </a:ln>
        </p:spPr>
      </p:sp>
      <p:sp>
        <p:nvSpPr>
          <p:cNvPr id="55" name="Text 53"/>
          <p:cNvSpPr/>
          <p:nvPr/>
        </p:nvSpPr>
        <p:spPr>
          <a:xfrm>
            <a:off x="3651250" y="4464050"/>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CONTROL</a:t>
            </a:r>
            <a:endParaRPr lang="en-US" sz="1200" dirty="0"/>
          </a:p>
        </p:txBody>
      </p:sp>
      <p:sp>
        <p:nvSpPr>
          <p:cNvPr id="56" name="Text 54"/>
          <p:cNvSpPr/>
          <p:nvPr/>
        </p:nvSpPr>
        <p:spPr>
          <a:xfrm>
            <a:off x="3651250" y="4728170"/>
            <a:ext cx="227609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Guardarraíles</a:t>
            </a:r>
            <a:endParaRPr lang="en-US" sz="1400" dirty="0"/>
          </a:p>
        </p:txBody>
      </p:sp>
      <p:sp>
        <p:nvSpPr>
          <p:cNvPr id="57" name="Text 55"/>
          <p:cNvSpPr/>
          <p:nvPr/>
        </p:nvSpPr>
        <p:spPr>
          <a:xfrm>
            <a:off x="3651250" y="5001220"/>
            <a:ext cx="227609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Arial" pitchFamily="34" charset="0"/>
                <a:ea typeface="Arial" pitchFamily="34" charset="-122"/>
                <a:cs typeface="Arial" pitchFamily="34" charset="-120"/>
              </a:rPr>
              <a:t>Hooks con permisos por ruta y comandos prohibidos por agente</a:t>
            </a:r>
            <a:endParaRPr lang="en-US" sz="1200" dirty="0"/>
          </a:p>
        </p:txBody>
      </p:sp>
      <p:sp>
        <p:nvSpPr>
          <p:cNvPr id="58" name="Shape 56"/>
          <p:cNvSpPr/>
          <p:nvPr/>
        </p:nvSpPr>
        <p:spPr>
          <a:xfrm>
            <a:off x="6175375" y="4333875"/>
            <a:ext cx="2520950" cy="1416050"/>
          </a:xfrm>
          <a:prstGeom prst="roundRect">
            <a:avLst>
              <a:gd name="adj" fmla="val 5157"/>
            </a:avLst>
          </a:prstGeom>
          <a:solidFill>
            <a:srgbClr val="FCFBF7"/>
          </a:solidFill>
          <a:ln w="6350">
            <a:solidFill>
              <a:srgbClr val="DDD8CC"/>
            </a:solidFill>
            <a:prstDash val="solid"/>
          </a:ln>
        </p:spPr>
      </p:sp>
      <p:sp>
        <p:nvSpPr>
          <p:cNvPr id="59" name="Text 57"/>
          <p:cNvSpPr/>
          <p:nvPr/>
        </p:nvSpPr>
        <p:spPr>
          <a:xfrm>
            <a:off x="6330950" y="4464050"/>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CONTEXTO</a:t>
            </a:r>
            <a:endParaRPr lang="en-US" sz="1200" dirty="0"/>
          </a:p>
        </p:txBody>
      </p:sp>
      <p:sp>
        <p:nvSpPr>
          <p:cNvPr id="60" name="Text 58"/>
          <p:cNvSpPr/>
          <p:nvPr/>
        </p:nvSpPr>
        <p:spPr>
          <a:xfrm>
            <a:off x="6330950" y="4728170"/>
            <a:ext cx="227609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Memoria del proyecto</a:t>
            </a:r>
            <a:endParaRPr lang="en-US" sz="1400" dirty="0"/>
          </a:p>
        </p:txBody>
      </p:sp>
      <p:sp>
        <p:nvSpPr>
          <p:cNvPr id="61" name="Text 59"/>
          <p:cNvSpPr/>
          <p:nvPr/>
        </p:nvSpPr>
        <p:spPr>
          <a:xfrm>
            <a:off x="6330950" y="5001220"/>
            <a:ext cx="227609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Arial" pitchFamily="34" charset="0"/>
                <a:ea typeface="Arial" pitchFamily="34" charset="-122"/>
                <a:cs typeface="Arial" pitchFamily="34" charset="-120"/>
              </a:rPr>
              <a:t>Constitución y decisiones que persisten entre sesiones</a:t>
            </a:r>
            <a:endParaRPr lang="en-US" sz="1200" dirty="0"/>
          </a:p>
        </p:txBody>
      </p:sp>
      <p:sp>
        <p:nvSpPr>
          <p:cNvPr id="62" name="Shape 60"/>
          <p:cNvSpPr/>
          <p:nvPr/>
        </p:nvSpPr>
        <p:spPr>
          <a:xfrm>
            <a:off x="8855075" y="4333875"/>
            <a:ext cx="2520950" cy="1416050"/>
          </a:xfrm>
          <a:prstGeom prst="roundRect">
            <a:avLst>
              <a:gd name="adj" fmla="val 5157"/>
            </a:avLst>
          </a:prstGeom>
          <a:solidFill>
            <a:srgbClr val="FCFBF7"/>
          </a:solidFill>
          <a:ln w="6350">
            <a:solidFill>
              <a:srgbClr val="DDD8CC"/>
            </a:solidFill>
            <a:prstDash val="solid"/>
          </a:ln>
        </p:spPr>
      </p:sp>
      <p:sp>
        <p:nvSpPr>
          <p:cNvPr id="63" name="Text 61"/>
          <p:cNvSpPr/>
          <p:nvPr/>
        </p:nvSpPr>
        <p:spPr>
          <a:xfrm>
            <a:off x="9010650" y="4464050"/>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STACK</a:t>
            </a:r>
            <a:endParaRPr lang="en-US" sz="1200" dirty="0"/>
          </a:p>
        </p:txBody>
      </p:sp>
      <p:sp>
        <p:nvSpPr>
          <p:cNvPr id="64" name="Text 62"/>
          <p:cNvSpPr/>
          <p:nvPr/>
        </p:nvSpPr>
        <p:spPr>
          <a:xfrm>
            <a:off x="9010650" y="4728170"/>
            <a:ext cx="227609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Perfiles por stack</a:t>
            </a:r>
            <a:endParaRPr lang="en-US" sz="1400" dirty="0"/>
          </a:p>
        </p:txBody>
      </p:sp>
      <p:sp>
        <p:nvSpPr>
          <p:cNvPr id="65" name="Text 63"/>
          <p:cNvSpPr/>
          <p:nvPr/>
        </p:nvSpPr>
        <p:spPr>
          <a:xfrm>
            <a:off x="9010650" y="5001220"/>
            <a:ext cx="227609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Arial" pitchFamily="34" charset="0"/>
                <a:ea typeface="Arial" pitchFamily="34" charset="-122"/>
                <a:cs typeface="Arial" pitchFamily="34" charset="-120"/>
              </a:rPr>
              <a:t>Angular 20 y .NET 10, con una regla de diseño simple</a:t>
            </a:r>
            <a:endParaRPr lang="en-US" sz="1200" dirty="0"/>
          </a:p>
        </p:txBody>
      </p:sp>
      <p:sp>
        <p:nvSpPr>
          <p:cNvPr id="66" name="Text 64"/>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67" name="Text 65"/>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2B5F8E"/>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MODELO 2.0 · FLUJO DE TRABAJO</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La persona decide, el orquestador encadena</a:t>
            </a:r>
            <a:endParaRPr lang="en-US" sz="3200" dirty="0"/>
          </a:p>
        </p:txBody>
      </p:sp>
      <p:pic>
        <p:nvPicPr>
          <p:cNvPr id="16" name="Image 0" descr="Flujo del Modelo 2.0: el orquestador encadena a los especialistas y la persona aprueba en 3 gates">    </p:cNvPr>
          <p:cNvPicPr>
            <a:picLocks noChangeAspect="1"/>
          </p:cNvPicPr>
          <p:nvPr/>
        </p:nvPicPr>
        <p:blipFill>
          <a:blip r:embed="rId1"/>
          <a:srcRect l="-29" r="-29" t="0" b="0"/>
          <a:stretch/>
        </p:blipFill>
        <p:spPr>
          <a:xfrm>
            <a:off x="812800" y="1714500"/>
            <a:ext cx="10566400" cy="3429000"/>
          </a:xfrm>
          <a:prstGeom prst="rect">
            <a:avLst/>
          </a:prstGeom>
        </p:spPr>
      </p:pic>
      <p:sp>
        <p:nvSpPr>
          <p:cNvPr id="17" name="Shape 14"/>
          <p:cNvSpPr/>
          <p:nvPr/>
        </p:nvSpPr>
        <p:spPr>
          <a:xfrm>
            <a:off x="819150" y="5238750"/>
            <a:ext cx="215900" cy="215900"/>
          </a:xfrm>
          <a:prstGeom prst="roundRect">
            <a:avLst>
              <a:gd name="adj" fmla="val 8824"/>
            </a:avLst>
          </a:prstGeom>
          <a:solidFill>
            <a:srgbClr val="E6EEF6"/>
          </a:solidFill>
          <a:ln w="12700">
            <a:solidFill>
              <a:srgbClr val="2B5F8E"/>
            </a:solidFill>
            <a:prstDash val="solid"/>
          </a:ln>
        </p:spPr>
      </p:sp>
      <p:sp>
        <p:nvSpPr>
          <p:cNvPr id="18" name="Text 15"/>
          <p:cNvSpPr/>
          <p:nvPr/>
        </p:nvSpPr>
        <p:spPr>
          <a:xfrm>
            <a:off x="1117600" y="5240040"/>
            <a:ext cx="27871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Especialista que lanza el orquestador</a:t>
            </a:r>
            <a:endParaRPr lang="en-US" sz="1200" dirty="0"/>
          </a:p>
        </p:txBody>
      </p:sp>
      <p:pic>
        <p:nvPicPr>
          <p:cNvPr id="19" name="Image 1" descr="diamond">    </p:cNvPr>
          <p:cNvPicPr>
            <a:picLocks noChangeAspect="1"/>
          </p:cNvPicPr>
          <p:nvPr/>
        </p:nvPicPr>
        <p:blipFill>
          <a:blip r:embed="rId2"/>
          <a:srcRect l="0" r="0" t="0" b="0"/>
          <a:stretch/>
        </p:blipFill>
        <p:spPr>
          <a:xfrm>
            <a:off x="3904754" y="5238750"/>
            <a:ext cx="215900" cy="215900"/>
          </a:xfrm>
          <a:prstGeom prst="rect">
            <a:avLst/>
          </a:prstGeom>
        </p:spPr>
      </p:pic>
      <p:sp>
        <p:nvSpPr>
          <p:cNvPr id="20" name="Text 16"/>
          <p:cNvSpPr/>
          <p:nvPr/>
        </p:nvSpPr>
        <p:spPr>
          <a:xfrm>
            <a:off x="4196854" y="5240040"/>
            <a:ext cx="16182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La persona aprueba</a:t>
            </a:r>
            <a:endParaRPr lang="en-US" sz="1200" dirty="0"/>
          </a:p>
        </p:txBody>
      </p:sp>
      <p:sp>
        <p:nvSpPr>
          <p:cNvPr id="21" name="Shape 17"/>
          <p:cNvSpPr/>
          <p:nvPr/>
        </p:nvSpPr>
        <p:spPr>
          <a:xfrm>
            <a:off x="5815112" y="5346700"/>
            <a:ext cx="279400" cy="0"/>
          </a:xfrm>
          <a:prstGeom prst="line">
            <a:avLst/>
          </a:prstGeom>
          <a:noFill/>
          <a:ln w="19050">
            <a:solidFill>
              <a:srgbClr val="2B5F8E"/>
            </a:solidFill>
            <a:prstDash val="dash"/>
          </a:ln>
        </p:spPr>
      </p:sp>
      <p:sp>
        <p:nvSpPr>
          <p:cNvPr id="22" name="Text 18"/>
          <p:cNvSpPr/>
          <p:nvPr/>
        </p:nvSpPr>
        <p:spPr>
          <a:xfrm>
            <a:off x="6170712" y="5240040"/>
            <a:ext cx="34255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Ciclo automático: por tarea o para corregir</a:t>
            </a:r>
            <a:endParaRPr lang="en-US" sz="1200" dirty="0"/>
          </a:p>
        </p:txBody>
      </p:sp>
      <p:sp>
        <p:nvSpPr>
          <p:cNvPr id="23" name="Text 19"/>
          <p:cNvSpPr/>
          <p:nvPr/>
        </p:nvSpPr>
        <p:spPr>
          <a:xfrm>
            <a:off x="812800" y="5575300"/>
            <a:ext cx="1088339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La persona entrega la HU y aprueba en 3 gates; el resto lo encadena el orquestador.</a:t>
            </a:r>
            <a:endParaRPr lang="en-US" sz="1400" dirty="0"/>
          </a:p>
        </p:txBody>
      </p:sp>
      <p:sp>
        <p:nvSpPr>
          <p:cNvPr id="24" name="Text 20"/>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25" name="Text 21"/>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2B5F8E"/>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12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MODELO 1.0 FRENTE A MODELO 2.0</a:t>
            </a:r>
            <a:endParaRPr lang="en-US" sz="1200" dirty="0"/>
          </a:p>
        </p:txBody>
      </p:sp>
      <p:sp>
        <p:nvSpPr>
          <p:cNvPr id="15" name="Text 13"/>
          <p:cNvSpPr/>
          <p:nvPr>
            <p:ph type="title"/>
          </p:nvPr>
        </p:nvSpPr>
        <p:spPr>
          <a:xfrm>
            <a:off x="812800" y="1127125"/>
            <a:ext cx="10883392" cy="491381"/>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33A"/>
                </a:solidFill>
                <a:latin typeface="Georgia" pitchFamily="18" charset="0"/>
                <a:ea typeface="Georgia" pitchFamily="18" charset="-122"/>
                <a:cs typeface="Georgia" pitchFamily="18" charset="-120"/>
              </a:rPr>
              <a:t>De 3 a 11 agentes: quién actúa en cada etapa</a:t>
            </a:r>
            <a:endParaRPr lang="en-US" sz="319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5500" y="1859806"/>
          <a:ext cx="10553700" cy="3982194"/>
        </p:xfrm>
        <a:graphic>
          <a:graphicData uri="http://schemas.openxmlformats.org/drawingml/2006/table">
            <a:tbl>
              <a:tblPr/>
              <a:tblGrid>
                <a:gridCol w="3166110"/>
                <a:gridCol w="3693795"/>
                <a:gridCol w="3693795"/>
              </a:tblGrid>
              <a:tr h="331837">
                <a:tc>
                  <a:txBody>
                    <a:bodyPr/>
                    <a:lstStyle/>
                    <a:p>
                      <a:pPr indent="0" marL="0">
                        <a:lnSpc>
                          <a:spcPts val="1675"/>
                        </a:lnSpc>
                        <a:buNone/>
                      </a:pPr>
                      <a:r>
                        <a:rPr lang="en-US" sz="1196" b="1" dirty="0">
                          <a:solidFill>
                            <a:srgbClr val="F7F6F2"/>
                          </a:solidFill>
                          <a:latin typeface="Arial" pitchFamily="34" charset="0"/>
                          <a:ea typeface="Arial" pitchFamily="34" charset="-122"/>
                          <a:cs typeface="Arial" pitchFamily="34" charset="-120"/>
                        </a:rPr>
                        <a:t>Etapa del ciclo</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75"/>
                        </a:lnSpc>
                        <a:buNone/>
                      </a:pPr>
                      <a:r>
                        <a:rPr lang="en-US" sz="1196" b="1" dirty="0">
                          <a:solidFill>
                            <a:srgbClr val="C5CFDA"/>
                          </a:solidFill>
                          <a:latin typeface="Arial" pitchFamily="34" charset="0"/>
                          <a:ea typeface="Arial" pitchFamily="34" charset="-122"/>
                          <a:cs typeface="Arial" pitchFamily="34" charset="-120"/>
                        </a:rPr>
                        <a:t>Modelo 1.0 · 3 agentes</a:t>
                      </a:r>
                      <a:endParaRPr lang="en-US" sz="1196" dirty="0">
                        <a:latin typeface="Arial" charset="0"/>
                        <a:ea typeface="Arial" charset="0"/>
                        <a:cs typeface="Arial" charset="0"/>
                      </a:endParaRPr>
                    </a:p>
                  </a:txBody>
                  <a:tcPr marL="53173" marR="53173" marT="53173" marB="53173"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75"/>
                        </a:lnSpc>
                        <a:buNone/>
                      </a:pPr>
                      <a:r>
                        <a:rPr lang="en-US" sz="1196" b="1" dirty="0">
                          <a:solidFill>
                            <a:srgbClr val="8DB8E0"/>
                          </a:solidFill>
                          <a:latin typeface="Arial" pitchFamily="34" charset="0"/>
                          <a:ea typeface="Arial" pitchFamily="34" charset="-122"/>
                          <a:cs typeface="Arial" pitchFamily="34" charset="-120"/>
                        </a:rPr>
                        <a:t>Modelo 2.0 · 11 agentes</a:t>
                      </a:r>
                      <a:endParaRPr lang="en-US" sz="1196" dirty="0">
                        <a:latin typeface="Arial" charset="0"/>
                        <a:ea typeface="Arial" charset="0"/>
                        <a:cs typeface="Arial" charset="0"/>
                      </a:endParaRPr>
                    </a:p>
                  </a:txBody>
                  <a:tcPr marL="53173" marR="53173" marT="53173" marB="53173"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r>
              <a:tr h="33183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Coordinación del flujo</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646B76"/>
                          </a:solidFill>
                          <a:latin typeface="Arial" pitchFamily="34" charset="0"/>
                          <a:ea typeface="Arial" pitchFamily="34" charset="-122"/>
                          <a:cs typeface="Arial" pitchFamily="34" charset="-120"/>
                        </a:rPr>
                        <a:t>El desarrollador, paso a paso</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sdd-orchestrator</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183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Exploración del código</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75"/>
                        </a:lnSpc>
                        <a:buNone/>
                      </a:pPr>
                      <a:r>
                        <a:rPr lang="en-US" sz="1196" dirty="0">
                          <a:solidFill>
                            <a:srgbClr val="646B76"/>
                          </a:solidFill>
                          <a:latin typeface="Arial" pitchFamily="34" charset="0"/>
                          <a:ea typeface="Arial" pitchFamily="34" charset="-122"/>
                          <a:cs typeface="Arial" pitchFamily="34" charset="-120"/>
                        </a:rPr>
                        <a:t>Comando explore de OpenSpec</a:t>
                      </a:r>
                      <a:endParaRPr lang="en-US" sz="1196" dirty="0">
                        <a:latin typeface="Arial" charset="0"/>
                        <a:ea typeface="Arial" charset="0"/>
                        <a:cs typeface="Arial" charset="0"/>
                      </a:endParaRPr>
                    </a:p>
                  </a:txBody>
                  <a:tcPr marL="53173" marR="53173" marT="53173" marB="53173"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sdd-explorer</a:t>
                      </a:r>
                      <a:endParaRPr lang="en-US" sz="1196" dirty="0">
                        <a:latin typeface="Arial" charset="0"/>
                        <a:ea typeface="Arial" charset="0"/>
                        <a:cs typeface="Arial" charset="0"/>
                      </a:endParaRPr>
                    </a:p>
                  </a:txBody>
                  <a:tcPr marL="53173" marR="53173" marT="53173" marB="53173"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183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Especificación</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646B76"/>
                          </a:solidFill>
                          <a:latin typeface="Arial" pitchFamily="34" charset="0"/>
                          <a:ea typeface="Arial" pitchFamily="34" charset="-122"/>
                          <a:cs typeface="Arial" pitchFamily="34" charset="-120"/>
                        </a:rPr>
                        <a:t>Comando propose de OpenSpec</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sdd-spec-writer</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183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Revisión de la spec</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75"/>
                        </a:lnSpc>
                        <a:buNone/>
                      </a:pPr>
                      <a:r>
                        <a:rPr lang="en-US" sz="1196" dirty="0">
                          <a:solidFill>
                            <a:srgbClr val="646B76"/>
                          </a:solidFill>
                          <a:latin typeface="Arial" pitchFamily="34" charset="0"/>
                          <a:ea typeface="Arial" pitchFamily="34" charset="-122"/>
                          <a:cs typeface="Arial" pitchFamily="34" charset="-120"/>
                        </a:rPr>
                        <a:t>Revisión humana</a:t>
                      </a:r>
                      <a:endParaRPr lang="en-US" sz="1196" dirty="0">
                        <a:latin typeface="Arial" charset="0"/>
                        <a:ea typeface="Arial" charset="0"/>
                        <a:cs typeface="Arial" charset="0"/>
                      </a:endParaRPr>
                    </a:p>
                  </a:txBody>
                  <a:tcPr marL="53173" marR="53173" marT="53173" marB="53173"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sdd-spec-reviewer + aprobación 1</a:t>
                      </a:r>
                      <a:endParaRPr lang="en-US" sz="1196" dirty="0">
                        <a:latin typeface="Arial" charset="0"/>
                        <a:ea typeface="Arial" charset="0"/>
                        <a:cs typeface="Arial" charset="0"/>
                      </a:endParaRPr>
                    </a:p>
                  </a:txBody>
                  <a:tcPr marL="53173" marR="53173" marT="53173" marB="53173"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183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Diseño técnico</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Agente architecture</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sdd-architect</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183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Plan de tareas</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75"/>
                        </a:lnSpc>
                        <a:buNone/>
                      </a:pPr>
                      <a:r>
                        <a:rPr lang="en-US" sz="1196" dirty="0">
                          <a:solidFill>
                            <a:srgbClr val="646B76"/>
                          </a:solidFill>
                          <a:latin typeface="Arial" pitchFamily="34" charset="0"/>
                          <a:ea typeface="Arial" pitchFamily="34" charset="-122"/>
                          <a:cs typeface="Arial" pitchFamily="34" charset="-120"/>
                        </a:rPr>
                        <a:t>OpenSpec (tasks.md)</a:t>
                      </a:r>
                      <a:endParaRPr lang="en-US" sz="1196" dirty="0">
                        <a:latin typeface="Arial" charset="0"/>
                        <a:ea typeface="Arial" charset="0"/>
                        <a:cs typeface="Arial" charset="0"/>
                      </a:endParaRPr>
                    </a:p>
                  </a:txBody>
                  <a:tcPr marL="53173" marR="53173" marT="53173" marB="53173"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sdd-task-planner + aprobación 2</a:t>
                      </a:r>
                      <a:endParaRPr lang="en-US" sz="1196" dirty="0">
                        <a:latin typeface="Arial" charset="0"/>
                        <a:ea typeface="Arial" charset="0"/>
                        <a:cs typeface="Arial" charset="0"/>
                      </a:endParaRPr>
                    </a:p>
                  </a:txBody>
                  <a:tcPr marL="53173" marR="53173" marT="53173" marB="53173"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183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Pruebas primero (RED)</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Agente tdd-apply</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tdd-test-author</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183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Código (GREEN y REFACTOR)</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Agente tdd-apply</a:t>
                      </a:r>
                      <a:endParaRPr lang="en-US" sz="1196" dirty="0">
                        <a:latin typeface="Arial" charset="0"/>
                        <a:ea typeface="Arial" charset="0"/>
                        <a:cs typeface="Arial" charset="0"/>
                      </a:endParaRPr>
                    </a:p>
                  </a:txBody>
                  <a:tcPr marL="53173" marR="53173" marT="53173" marB="53173"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tdd-implementer</a:t>
                      </a:r>
                      <a:endParaRPr lang="en-US" sz="1196" dirty="0">
                        <a:latin typeface="Arial" charset="0"/>
                        <a:ea typeface="Arial" charset="0"/>
                        <a:cs typeface="Arial" charset="0"/>
                      </a:endParaRPr>
                    </a:p>
                  </a:txBody>
                  <a:tcPr marL="53173" marR="53173" marT="53173" marB="53173"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188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Revisión de código</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Agente code-review</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code-reviewer</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188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Verificación</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75"/>
                        </a:lnSpc>
                        <a:buNone/>
                      </a:pPr>
                      <a:r>
                        <a:rPr lang="en-US" sz="1196" dirty="0">
                          <a:solidFill>
                            <a:srgbClr val="646B76"/>
                          </a:solidFill>
                          <a:latin typeface="Arial" pitchFamily="34" charset="0"/>
                          <a:ea typeface="Arial" pitchFamily="34" charset="-122"/>
                          <a:cs typeface="Arial" pitchFamily="34" charset="-120"/>
                        </a:rPr>
                        <a:t>Skill strict-verify</a:t>
                      </a:r>
                      <a:endParaRPr lang="en-US" sz="1196" dirty="0">
                        <a:latin typeface="Arial" charset="0"/>
                        <a:ea typeface="Arial" charset="0"/>
                        <a:cs typeface="Arial" charset="0"/>
                      </a:endParaRPr>
                    </a:p>
                  </a:txBody>
                  <a:tcPr marL="53173" marR="53173" marT="53173" marB="53173"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sdd-verifier</a:t>
                      </a:r>
                      <a:endParaRPr lang="en-US" sz="1196" dirty="0">
                        <a:latin typeface="Arial" charset="0"/>
                        <a:ea typeface="Arial" charset="0"/>
                        <a:cs typeface="Arial" charset="0"/>
                      </a:endParaRPr>
                    </a:p>
                  </a:txBody>
                  <a:tcPr marL="53173" marR="53173" marT="53173" marB="53173"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1887">
                <a:tc>
                  <a:txBody>
                    <a:bodyPr/>
                    <a:lstStyle/>
                    <a:p>
                      <a:pPr indent="0" marL="0">
                        <a:lnSpc>
                          <a:spcPts val="1675"/>
                        </a:lnSpc>
                        <a:buNone/>
                      </a:pPr>
                      <a:r>
                        <a:rPr lang="en-US" sz="1196" dirty="0">
                          <a:solidFill>
                            <a:srgbClr val="14233A"/>
                          </a:solidFill>
                          <a:latin typeface="Arial" pitchFamily="34" charset="0"/>
                          <a:ea typeface="Arial" pitchFamily="34" charset="-122"/>
                          <a:cs typeface="Arial" pitchFamily="34" charset="-120"/>
                        </a:rPr>
                        <a:t>Cierre y trazabilidad</a:t>
                      </a:r>
                      <a:endParaRPr lang="en-US" sz="1196" dirty="0">
                        <a:latin typeface="Arial" charset="0"/>
                        <a:ea typeface="Arial" charset="0"/>
                        <a:cs typeface="Arial" charset="0"/>
                      </a:endParaRPr>
                    </a:p>
                  </a:txBody>
                  <a:tcPr marL="53173" marR="53173" marT="53173" marB="53173"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646B76"/>
                          </a:solidFill>
                          <a:latin typeface="Arial" pitchFamily="34" charset="0"/>
                          <a:ea typeface="Arial" pitchFamily="34" charset="-122"/>
                          <a:cs typeface="Arial" pitchFamily="34" charset="-120"/>
                        </a:rPr>
                        <a:t>Comando archive de OpenSpec</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75"/>
                        </a:lnSpc>
                        <a:buNone/>
                      </a:pPr>
                      <a:r>
                        <a:rPr lang="en-US" sz="1196" dirty="0">
                          <a:solidFill>
                            <a:srgbClr val="1F4A73"/>
                          </a:solidFill>
                          <a:latin typeface="Arial" pitchFamily="34" charset="0"/>
                          <a:ea typeface="Arial" pitchFamily="34" charset="-122"/>
                          <a:cs typeface="Arial" pitchFamily="34" charset="-120"/>
                        </a:rPr>
                        <a:t>sdd-archivist + aprobación 3</a:t>
                      </a:r>
                      <a:endParaRPr lang="en-US" sz="1196" dirty="0">
                        <a:latin typeface="Arial" charset="0"/>
                        <a:ea typeface="Arial" charset="0"/>
                        <a:cs typeface="Arial" charset="0"/>
                      </a:endParaRPr>
                    </a:p>
                  </a:txBody>
                  <a:tcPr marL="53173" marR="53173" marT="53173" marB="53173"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17" name="Text 14"/>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18" name="Text 15"/>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2B5F8E"/>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COMPARATIVA ENTRE ETAPAS</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Tres etapas, siete dimensiones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10553700" cy="2661444"/>
        </p:xfrm>
        <a:graphic>
          <a:graphicData uri="http://schemas.openxmlformats.org/drawingml/2006/table">
            <a:tbl>
              <a:tblPr/>
              <a:tblGrid>
                <a:gridCol w="2005203"/>
                <a:gridCol w="2849499"/>
                <a:gridCol w="2849499"/>
                <a:gridCol w="2849499"/>
              </a:tblGrid>
              <a:tr h="332680">
                <a:tc>
                  <a:txBody>
                    <a:bodyPr/>
                    <a:lstStyle/>
                    <a:p>
                      <a:pPr indent="0" marL="0">
                        <a:lnSpc>
                          <a:spcPts val="1680"/>
                        </a:lnSpc>
                        <a:buNone/>
                      </a:pPr>
                      <a:r>
                        <a:rPr lang="en-US" sz="1200" b="1" dirty="0">
                          <a:solidFill>
                            <a:srgbClr val="F7F6F2"/>
                          </a:solidFill>
                          <a:latin typeface="Arial" pitchFamily="34" charset="0"/>
                          <a:ea typeface="Arial" pitchFamily="34" charset="-122"/>
                          <a:cs typeface="Arial" pitchFamily="34" charset="-120"/>
                        </a:rPr>
                        <a:t>Dimensión</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D9A55A"/>
                          </a:solidFill>
                          <a:latin typeface="Arial" pitchFamily="34" charset="0"/>
                          <a:ea typeface="Arial" pitchFamily="34" charset="-122"/>
                          <a:cs typeface="Arial" pitchFamily="34" charset="-120"/>
                        </a:rPr>
                        <a:t>Etapa 1 · Vibe coding</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C5CFDA"/>
                          </a:solidFill>
                          <a:latin typeface="Arial" pitchFamily="34" charset="0"/>
                          <a:ea typeface="Arial" pitchFamily="34" charset="-122"/>
                          <a:cs typeface="Arial" pitchFamily="34" charset="-120"/>
                        </a:rPr>
                        <a:t>Modelo 1.0 · OpenSpec</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8DB8E0"/>
                          </a:solidFill>
                          <a:latin typeface="Arial" pitchFamily="34" charset="0"/>
                          <a:ea typeface="Arial" pitchFamily="34" charset="-122"/>
                          <a:cs typeface="Arial" pitchFamily="34" charset="-120"/>
                        </a:rPr>
                        <a:t>Modelo 2.0 (propio)</a:t>
                      </a:r>
                      <a:endParaRPr lang="en-US" sz="1200" dirty="0">
                        <a:latin typeface="Arial" charset="0"/>
                        <a:ea typeface="Arial" charset="0"/>
                        <a:cs typeface="Arial"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Especificación</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Ninguna: pedido libre</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Delta specs de OpenSpec</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Spec propia en EARS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Orquestación</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Cada uno a su manera</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El desarrollador, paso a paso</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Orquestador + 3 aprobaciones</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Pruebas (TDD)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Exigido por instrucción</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Impuesto por roles y hooks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Verificación</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A criterio de cada uno</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Heurística + evidencia</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Independiente, por requisito</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Trazabilidad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Dispersa en chats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Cambio citado en commits</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HU → requisito → tarea → test</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Dependencias</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Chats web sueltos</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OpenSpec CLI + Node.js 20.19+</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Solo GitHub Copilot</a:t>
                      </a:r>
                      <a:endParaRPr lang="en-US" sz="1200" dirty="0">
                        <a:latin typeface="Arial" charset="0"/>
                        <a:ea typeface="Arial" charset="0"/>
                        <a:cs typeface="Arial"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14233A"/>
                          </a:solidFill>
                          <a:latin typeface="Arial" pitchFamily="34" charset="0"/>
                          <a:ea typeface="Arial" pitchFamily="34" charset="-122"/>
                          <a:cs typeface="Arial" pitchFamily="34" charset="-120"/>
                        </a:rPr>
                        <a:t>Gobierno</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Bajo</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Arial" pitchFamily="34" charset="0"/>
                          <a:ea typeface="Arial" pitchFamily="34" charset="-122"/>
                          <a:cs typeface="Arial" pitchFamily="34" charset="-120"/>
                        </a:rPr>
                        <a:t>Compartido con la herramienta</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Arial" pitchFamily="34" charset="0"/>
                          <a:ea typeface="Arial" pitchFamily="34" charset="-122"/>
                          <a:cs typeface="Arial" pitchFamily="34" charset="-120"/>
                        </a:rPr>
                        <a:t>Total, en manos del equipo</a:t>
                      </a:r>
                      <a:endParaRPr lang="en-US" sz="1200" dirty="0">
                        <a:latin typeface="Arial" charset="0"/>
                        <a:ea typeface="Arial" charset="0"/>
                        <a:cs typeface="Arial"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17" name="Text 14"/>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18" name="Text 15"/>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2B5F8E"/>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DDD8CC"/>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MODELO 2.0 · BENEFICIOS ESPERADOS</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Hipótesis: qué esperamos lograr</a:t>
            </a:r>
            <a:endParaRPr lang="en-US" sz="3200" dirty="0"/>
          </a:p>
        </p:txBody>
      </p:sp>
      <p:sp>
        <p:nvSpPr>
          <p:cNvPr id="16" name="Shape 14"/>
          <p:cNvSpPr/>
          <p:nvPr/>
        </p:nvSpPr>
        <p:spPr>
          <a:xfrm>
            <a:off x="812800" y="1905000"/>
            <a:ext cx="10566400" cy="812800"/>
          </a:xfrm>
          <a:prstGeom prst="roundRect">
            <a:avLst>
              <a:gd name="adj" fmla="val 12500"/>
            </a:avLst>
          </a:prstGeom>
          <a:solidFill>
            <a:srgbClr val="14233A"/>
          </a:solidFill>
          <a:ln/>
        </p:spPr>
      </p:sp>
      <p:sp>
        <p:nvSpPr>
          <p:cNvPr id="17" name="Text 15"/>
          <p:cNvSpPr/>
          <p:nvPr/>
        </p:nvSpPr>
        <p:spPr>
          <a:xfrm>
            <a:off x="1016000" y="2204740"/>
            <a:ext cx="978098"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D9A55A"/>
                </a:solidFill>
                <a:latin typeface="Arial" pitchFamily="34" charset="0"/>
                <a:ea typeface="Arial" pitchFamily="34" charset="-122"/>
                <a:cs typeface="Arial" pitchFamily="34" charset="-120"/>
              </a:rPr>
              <a:t>HIPÓTESIS</a:t>
            </a:r>
            <a:endParaRPr lang="en-US" sz="1200" dirty="0"/>
          </a:p>
        </p:txBody>
      </p:sp>
      <p:sp>
        <p:nvSpPr>
          <p:cNvPr id="18" name="Text 16"/>
          <p:cNvSpPr/>
          <p:nvPr/>
        </p:nvSpPr>
        <p:spPr>
          <a:xfrm>
            <a:off x="2095698" y="2062510"/>
            <a:ext cx="935271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Con un especialista por etapa y controles automáticos, entregaremos más rápido, con menos retrabajo y créditos, y con resultados más fiables.</a:t>
            </a:r>
            <a:endParaRPr lang="en-US" sz="1400" dirty="0"/>
          </a:p>
        </p:txBody>
      </p:sp>
      <p:sp>
        <p:nvSpPr>
          <p:cNvPr id="19" name="Shape 17"/>
          <p:cNvSpPr/>
          <p:nvPr/>
        </p:nvSpPr>
        <p:spPr>
          <a:xfrm>
            <a:off x="815975" y="2949575"/>
            <a:ext cx="2520950" cy="2089150"/>
          </a:xfrm>
          <a:prstGeom prst="roundRect">
            <a:avLst>
              <a:gd name="adj" fmla="val 3495"/>
            </a:avLst>
          </a:prstGeom>
          <a:solidFill>
            <a:srgbClr val="FCFBF7"/>
          </a:solidFill>
          <a:ln w="6350">
            <a:solidFill>
              <a:srgbClr val="DDD8CC"/>
            </a:solidFill>
            <a:prstDash val="solid"/>
          </a:ln>
        </p:spPr>
      </p:sp>
      <p:sp>
        <p:nvSpPr>
          <p:cNvPr id="20" name="Text 18"/>
          <p:cNvSpPr/>
          <p:nvPr/>
        </p:nvSpPr>
        <p:spPr>
          <a:xfrm>
            <a:off x="971550" y="3105150"/>
            <a:ext cx="227609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Calidad del código</a:t>
            </a:r>
            <a:endParaRPr lang="en-US" sz="1400" dirty="0"/>
          </a:p>
        </p:txBody>
      </p:sp>
      <p:sp>
        <p:nvSpPr>
          <p:cNvPr id="21" name="Text 19"/>
          <p:cNvSpPr/>
          <p:nvPr/>
        </p:nvSpPr>
        <p:spPr>
          <a:xfrm>
            <a:off x="971550" y="3399780"/>
            <a:ext cx="22760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Cada requisito con su test y una verificación independiente.</a:t>
            </a:r>
            <a:endParaRPr lang="en-US" sz="1200" dirty="0"/>
          </a:p>
        </p:txBody>
      </p:sp>
      <p:sp>
        <p:nvSpPr>
          <p:cNvPr id="22" name="Text 20"/>
          <p:cNvSpPr/>
          <p:nvPr/>
        </p:nvSpPr>
        <p:spPr>
          <a:xfrm>
            <a:off x="971550" y="4179689"/>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SE MIDE CON</a:t>
            </a:r>
            <a:endParaRPr lang="en-US" sz="1200" dirty="0"/>
          </a:p>
        </p:txBody>
      </p:sp>
      <p:sp>
        <p:nvSpPr>
          <p:cNvPr id="23" name="Text 21"/>
          <p:cNvSpPr/>
          <p:nvPr/>
        </p:nvSpPr>
        <p:spPr>
          <a:xfrm>
            <a:off x="971550" y="4456509"/>
            <a:ext cx="22760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A73"/>
                </a:solidFill>
                <a:latin typeface="Arial" pitchFamily="34" charset="0"/>
                <a:ea typeface="Arial" pitchFamily="34" charset="-122"/>
                <a:cs typeface="Arial" pitchFamily="34" charset="-120"/>
              </a:rPr>
              <a:t>Defectos en QA y retrabajo por HU</a:t>
            </a:r>
            <a:endParaRPr lang="en-US" sz="1200" dirty="0"/>
          </a:p>
        </p:txBody>
      </p:sp>
      <p:sp>
        <p:nvSpPr>
          <p:cNvPr id="24" name="Shape 22"/>
          <p:cNvSpPr/>
          <p:nvPr/>
        </p:nvSpPr>
        <p:spPr>
          <a:xfrm>
            <a:off x="3495675" y="2949575"/>
            <a:ext cx="2520950" cy="2089150"/>
          </a:xfrm>
          <a:prstGeom prst="roundRect">
            <a:avLst>
              <a:gd name="adj" fmla="val 3495"/>
            </a:avLst>
          </a:prstGeom>
          <a:solidFill>
            <a:srgbClr val="FCFBF7"/>
          </a:solidFill>
          <a:ln w="6350">
            <a:solidFill>
              <a:srgbClr val="DDD8CC"/>
            </a:solidFill>
            <a:prstDash val="solid"/>
          </a:ln>
        </p:spPr>
      </p:sp>
      <p:sp>
        <p:nvSpPr>
          <p:cNvPr id="25" name="Text 23"/>
          <p:cNvSpPr/>
          <p:nvPr/>
        </p:nvSpPr>
        <p:spPr>
          <a:xfrm>
            <a:off x="3651250" y="3105150"/>
            <a:ext cx="227609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Velocidad</a:t>
            </a:r>
            <a:endParaRPr lang="en-US" sz="1400" dirty="0"/>
          </a:p>
        </p:txBody>
      </p:sp>
      <p:sp>
        <p:nvSpPr>
          <p:cNvPr id="26" name="Text 24"/>
          <p:cNvSpPr/>
          <p:nvPr/>
        </p:nvSpPr>
        <p:spPr>
          <a:xfrm>
            <a:off x="3651250" y="3399780"/>
            <a:ext cx="22760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Specs claras y tareas de 20 a 30 minutos: menos iteraciones.</a:t>
            </a:r>
            <a:endParaRPr lang="en-US" sz="1200" dirty="0"/>
          </a:p>
        </p:txBody>
      </p:sp>
      <p:sp>
        <p:nvSpPr>
          <p:cNvPr id="27" name="Text 25"/>
          <p:cNvSpPr/>
          <p:nvPr/>
        </p:nvSpPr>
        <p:spPr>
          <a:xfrm>
            <a:off x="3651250" y="4393009"/>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SE MIDE CON</a:t>
            </a:r>
            <a:endParaRPr lang="en-US" sz="1200" dirty="0"/>
          </a:p>
        </p:txBody>
      </p:sp>
      <p:sp>
        <p:nvSpPr>
          <p:cNvPr id="28" name="Text 26"/>
          <p:cNvSpPr/>
          <p:nvPr/>
        </p:nvSpPr>
        <p:spPr>
          <a:xfrm>
            <a:off x="3651250" y="4669830"/>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A73"/>
                </a:solidFill>
                <a:latin typeface="Arial" pitchFamily="34" charset="0"/>
                <a:ea typeface="Arial" pitchFamily="34" charset="-122"/>
                <a:cs typeface="Arial" pitchFamily="34" charset="-120"/>
              </a:rPr>
              <a:t>Tiempo por HU e iteraciones</a:t>
            </a:r>
            <a:endParaRPr lang="en-US" sz="1200" dirty="0"/>
          </a:p>
        </p:txBody>
      </p:sp>
      <p:sp>
        <p:nvSpPr>
          <p:cNvPr id="29" name="Shape 27"/>
          <p:cNvSpPr/>
          <p:nvPr/>
        </p:nvSpPr>
        <p:spPr>
          <a:xfrm>
            <a:off x="6175375" y="2949575"/>
            <a:ext cx="2520950" cy="2089150"/>
          </a:xfrm>
          <a:prstGeom prst="roundRect">
            <a:avLst>
              <a:gd name="adj" fmla="val 3495"/>
            </a:avLst>
          </a:prstGeom>
          <a:solidFill>
            <a:srgbClr val="FCFBF7"/>
          </a:solidFill>
          <a:ln w="6350">
            <a:solidFill>
              <a:srgbClr val="DDD8CC"/>
            </a:solidFill>
            <a:prstDash val="solid"/>
          </a:ln>
        </p:spPr>
      </p:sp>
      <p:sp>
        <p:nvSpPr>
          <p:cNvPr id="30" name="Text 28"/>
          <p:cNvSpPr/>
          <p:nvPr/>
        </p:nvSpPr>
        <p:spPr>
          <a:xfrm>
            <a:off x="6330950" y="3105150"/>
            <a:ext cx="227609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Consumo de tokens</a:t>
            </a:r>
            <a:endParaRPr lang="en-US" sz="1400" dirty="0"/>
          </a:p>
        </p:txBody>
      </p:sp>
      <p:sp>
        <p:nvSpPr>
          <p:cNvPr id="31" name="Text 29"/>
          <p:cNvSpPr/>
          <p:nvPr/>
        </p:nvSpPr>
        <p:spPr>
          <a:xfrm>
            <a:off x="6330950" y="3399780"/>
            <a:ext cx="22760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Contexto acotado por agente y sesiones cortas por tarea.</a:t>
            </a:r>
            <a:endParaRPr lang="en-US" sz="1200" dirty="0"/>
          </a:p>
        </p:txBody>
      </p:sp>
      <p:sp>
        <p:nvSpPr>
          <p:cNvPr id="32" name="Text 30"/>
          <p:cNvSpPr/>
          <p:nvPr/>
        </p:nvSpPr>
        <p:spPr>
          <a:xfrm>
            <a:off x="6330950" y="4393009"/>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SE MIDE CON</a:t>
            </a:r>
            <a:endParaRPr lang="en-US" sz="1200" dirty="0"/>
          </a:p>
        </p:txBody>
      </p:sp>
      <p:sp>
        <p:nvSpPr>
          <p:cNvPr id="33" name="Text 31"/>
          <p:cNvSpPr/>
          <p:nvPr/>
        </p:nvSpPr>
        <p:spPr>
          <a:xfrm>
            <a:off x="6330950" y="4669830"/>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A73"/>
                </a:solidFill>
                <a:latin typeface="Arial" pitchFamily="34" charset="0"/>
                <a:ea typeface="Arial" pitchFamily="34" charset="-122"/>
                <a:cs typeface="Arial" pitchFamily="34" charset="-120"/>
              </a:rPr>
              <a:t>Créditos consumidos por HU</a:t>
            </a:r>
            <a:endParaRPr lang="en-US" sz="1200" dirty="0"/>
          </a:p>
        </p:txBody>
      </p:sp>
      <p:sp>
        <p:nvSpPr>
          <p:cNvPr id="34" name="Shape 32"/>
          <p:cNvSpPr/>
          <p:nvPr/>
        </p:nvSpPr>
        <p:spPr>
          <a:xfrm>
            <a:off x="8855075" y="2949575"/>
            <a:ext cx="2520950" cy="2089150"/>
          </a:xfrm>
          <a:prstGeom prst="roundRect">
            <a:avLst>
              <a:gd name="adj" fmla="val 3495"/>
            </a:avLst>
          </a:prstGeom>
          <a:solidFill>
            <a:srgbClr val="FCFBF7"/>
          </a:solidFill>
          <a:ln w="6350">
            <a:solidFill>
              <a:srgbClr val="DDD8CC"/>
            </a:solidFill>
            <a:prstDash val="solid"/>
          </a:ln>
        </p:spPr>
      </p:sp>
      <p:sp>
        <p:nvSpPr>
          <p:cNvPr id="35" name="Text 33"/>
          <p:cNvSpPr/>
          <p:nvPr/>
        </p:nvSpPr>
        <p:spPr>
          <a:xfrm>
            <a:off x="9010650" y="3105150"/>
            <a:ext cx="227609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Confianza</a:t>
            </a:r>
            <a:endParaRPr lang="en-US" sz="1400" dirty="0"/>
          </a:p>
        </p:txBody>
      </p:sp>
      <p:sp>
        <p:nvSpPr>
          <p:cNvPr id="36" name="Text 34"/>
          <p:cNvSpPr/>
          <p:nvPr/>
        </p:nvSpPr>
        <p:spPr>
          <a:xfrm>
            <a:off x="9010650" y="3399780"/>
            <a:ext cx="22760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Evidencia ejecutada y trazabilidad de requisito a test.</a:t>
            </a:r>
            <a:endParaRPr lang="en-US" sz="1200" dirty="0"/>
          </a:p>
        </p:txBody>
      </p:sp>
      <p:sp>
        <p:nvSpPr>
          <p:cNvPr id="37" name="Text 35"/>
          <p:cNvSpPr/>
          <p:nvPr/>
        </p:nvSpPr>
        <p:spPr>
          <a:xfrm>
            <a:off x="9010650" y="4179689"/>
            <a:ext cx="227609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SE MIDE CON</a:t>
            </a:r>
            <a:endParaRPr lang="en-US" sz="1200" dirty="0"/>
          </a:p>
        </p:txBody>
      </p:sp>
      <p:sp>
        <p:nvSpPr>
          <p:cNvPr id="38" name="Text 36"/>
          <p:cNvSpPr/>
          <p:nvPr/>
        </p:nvSpPr>
        <p:spPr>
          <a:xfrm>
            <a:off x="9010650" y="4456509"/>
            <a:ext cx="22760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A73"/>
                </a:solidFill>
                <a:latin typeface="Arial" pitchFamily="34" charset="0"/>
                <a:ea typeface="Arial" pitchFamily="34" charset="-122"/>
                <a:cs typeface="Arial" pitchFamily="34" charset="-120"/>
              </a:rPr>
              <a:t>Requisitos verificados con evidencia</a:t>
            </a:r>
            <a:endParaRPr lang="en-US" sz="1200" dirty="0"/>
          </a:p>
        </p:txBody>
      </p:sp>
      <p:sp>
        <p:nvSpPr>
          <p:cNvPr id="39" name="Text 37"/>
          <p:cNvSpPr/>
          <p:nvPr/>
        </p:nvSpPr>
        <p:spPr>
          <a:xfrm>
            <a:off x="812800" y="52451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A vigilar: los sistemas multiagente pueden consumir hasta ~15× más tokens que un chat (Anthropic, 2025). Por eso se mide.</a:t>
            </a:r>
            <a:endParaRPr lang="en-US" sz="1200" dirty="0"/>
          </a:p>
        </p:txBody>
      </p:sp>
      <p:sp>
        <p:nvSpPr>
          <p:cNvPr id="40" name="Text 38"/>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41" name="Text 39"/>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8DB8E0"/>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8DB8E0"/>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8DB8E0"/>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8DB8E0"/>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C5CFDA"/>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8DB8E0"/>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7F6F2"/>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8DB8E0"/>
          </a:solidFill>
          <a:ln/>
        </p:spPr>
      </p:sp>
      <p:sp>
        <p:nvSpPr>
          <p:cNvPr id="14" name="Text 12"/>
          <p:cNvSpPr/>
          <p:nvPr/>
        </p:nvSpPr>
        <p:spPr>
          <a:xfrm>
            <a:off x="812800" y="2431802"/>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A55A"/>
                </a:solidFill>
                <a:latin typeface="Georgia" pitchFamily="18" charset="0"/>
                <a:ea typeface="Georgia" pitchFamily="18" charset="-122"/>
                <a:cs typeface="Georgia" pitchFamily="18" charset="-120"/>
              </a:rPr>
              <a:t>06</a:t>
            </a:r>
            <a:endParaRPr lang="en-US" sz="4800" dirty="0"/>
          </a:p>
        </p:txBody>
      </p:sp>
      <p:sp>
        <p:nvSpPr>
          <p:cNvPr id="15" name="Text 13"/>
          <p:cNvSpPr/>
          <p:nvPr>
            <p:ph type="title"/>
          </p:nvPr>
        </p:nvSpPr>
        <p:spPr>
          <a:xfrm>
            <a:off x="812800" y="3244602"/>
            <a:ext cx="10883392" cy="68376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Georgia" pitchFamily="18" charset="0"/>
                <a:ea typeface="Georgia" pitchFamily="18" charset="-122"/>
                <a:cs typeface="Georgia" pitchFamily="18" charset="-120"/>
              </a:rPr>
              <a:t>Próximos pasos</a:t>
            </a:r>
            <a:endParaRPr lang="en-US" sz="4800" dirty="0"/>
          </a:p>
        </p:txBody>
      </p:sp>
      <p:sp>
        <p:nvSpPr>
          <p:cNvPr id="16" name="Text 14"/>
          <p:cNvSpPr/>
          <p:nvPr/>
        </p:nvSpPr>
        <p:spPr>
          <a:xfrm>
            <a:off x="812800" y="4106168"/>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A"/>
                </a:solidFill>
                <a:latin typeface="Arial" pitchFamily="34" charset="0"/>
                <a:ea typeface="Arial" pitchFamily="34" charset="-122"/>
                <a:cs typeface="Arial" pitchFamily="34" charset="-120"/>
              </a:rPr>
              <a:t>La IA en todo el ciclo, riesgos y propuesta a jefatura.</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2B5F8E"/>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2B5F8E"/>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PRÓXIMO HORIZONTE · CICLO DE VIDA DE UNA INICIATIVA</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La IA más allá del desarrollo</a:t>
            </a:r>
            <a:endParaRPr lang="en-US" sz="3200" dirty="0"/>
          </a:p>
        </p:txBody>
      </p:sp>
      <p:sp>
        <p:nvSpPr>
          <p:cNvPr id="16" name="Shape 14"/>
          <p:cNvSpPr/>
          <p:nvPr/>
        </p:nvSpPr>
        <p:spPr>
          <a:xfrm>
            <a:off x="812800" y="1917700"/>
            <a:ext cx="1676400" cy="0"/>
          </a:xfrm>
          <a:prstGeom prst="line">
            <a:avLst/>
          </a:prstGeom>
          <a:noFill/>
          <a:ln w="25400">
            <a:solidFill>
              <a:srgbClr val="C9A46A"/>
            </a:solidFill>
            <a:prstDash val="solid"/>
          </a:ln>
        </p:spPr>
      </p:sp>
      <p:sp>
        <p:nvSpPr>
          <p:cNvPr id="17" name="Text 15"/>
          <p:cNvSpPr/>
          <p:nvPr/>
        </p:nvSpPr>
        <p:spPr>
          <a:xfrm>
            <a:off x="812800" y="20193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1</a:t>
            </a:r>
            <a:endParaRPr lang="en-US" sz="1200" dirty="0"/>
          </a:p>
        </p:txBody>
      </p:sp>
      <p:sp>
        <p:nvSpPr>
          <p:cNvPr id="18" name="Text 16"/>
          <p:cNvSpPr/>
          <p:nvPr/>
        </p:nvSpPr>
        <p:spPr>
          <a:xfrm>
            <a:off x="812800" y="2308820"/>
            <a:ext cx="1727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Hipótesis</a:t>
            </a:r>
            <a:endParaRPr lang="en-US" sz="1400" dirty="0"/>
          </a:p>
        </p:txBody>
      </p:sp>
      <p:sp>
        <p:nvSpPr>
          <p:cNvPr id="19" name="Text 17"/>
          <p:cNvSpPr/>
          <p:nvPr/>
        </p:nvSpPr>
        <p:spPr>
          <a:xfrm>
            <a:off x="812800" y="2607270"/>
            <a:ext cx="1092051" cy="289520"/>
          </a:xfrm>
          <a:custGeom>
            <a:avLst/>
            <a:gdLst/>
            <a:ahLst/>
            <a:cxnLst/>
            <a:rect l="l" t="t" r="r" b="b"/>
            <a:pathLst>
              <a:path w="1092051" h="289520">
                <a:moveTo>
                  <a:pt x="144760" y="0"/>
                </a:moveTo>
                <a:lnTo>
                  <a:pt x="947291" y="0"/>
                </a:lnTo>
                <a:arcTo hR="144760" wR="144760" stAng="16200000" swAng="5400000"/>
                <a:lnTo>
                  <a:pt x="1092051" y="144760"/>
                </a:lnTo>
                <a:arcTo hR="144760" wR="144760" stAng="0" swAng="5400000"/>
                <a:lnTo>
                  <a:pt x="144760" y="289520"/>
                </a:lnTo>
                <a:arcTo hR="144760" wR="144760" stAng="5400000" swAng="5400000"/>
                <a:lnTo>
                  <a:pt x="0" y="144760"/>
                </a:lnTo>
                <a:arcTo hR="144760" wR="1447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C5A12"/>
                </a:solidFill>
                <a:latin typeface="Arial" pitchFamily="34" charset="0"/>
                <a:ea typeface="Arial" pitchFamily="34" charset="-122"/>
                <a:cs typeface="Arial" pitchFamily="34" charset="-120"/>
              </a:rPr>
              <a:t>Oportunidad</a:t>
            </a:r>
            <a:endParaRPr lang="en-US" sz="1200" dirty="0"/>
          </a:p>
        </p:txBody>
      </p:sp>
      <p:sp>
        <p:nvSpPr>
          <p:cNvPr id="20" name="Text 18"/>
          <p:cNvSpPr/>
          <p:nvPr/>
        </p:nvSpPr>
        <p:spPr>
          <a:xfrm>
            <a:off x="812800" y="2972991"/>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Contrastar supuestos y explorar alternativas</a:t>
            </a:r>
            <a:endParaRPr lang="en-US" sz="1200" dirty="0"/>
          </a:p>
        </p:txBody>
      </p:sp>
      <p:sp>
        <p:nvSpPr>
          <p:cNvPr id="21" name="Shape 19"/>
          <p:cNvSpPr/>
          <p:nvPr/>
        </p:nvSpPr>
        <p:spPr>
          <a:xfrm>
            <a:off x="2590800" y="1917700"/>
            <a:ext cx="1676400" cy="0"/>
          </a:xfrm>
          <a:prstGeom prst="line">
            <a:avLst/>
          </a:prstGeom>
          <a:noFill/>
          <a:ln w="25400">
            <a:solidFill>
              <a:srgbClr val="8DB8E0"/>
            </a:solidFill>
            <a:prstDash val="solid"/>
          </a:ln>
        </p:spPr>
      </p:sp>
      <p:sp>
        <p:nvSpPr>
          <p:cNvPr id="22" name="Text 20"/>
          <p:cNvSpPr/>
          <p:nvPr/>
        </p:nvSpPr>
        <p:spPr>
          <a:xfrm>
            <a:off x="2590800" y="20193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2</a:t>
            </a:r>
            <a:endParaRPr lang="en-US" sz="1200" dirty="0"/>
          </a:p>
        </p:txBody>
      </p:sp>
      <p:sp>
        <p:nvSpPr>
          <p:cNvPr id="23" name="Text 21"/>
          <p:cNvSpPr/>
          <p:nvPr/>
        </p:nvSpPr>
        <p:spPr>
          <a:xfrm>
            <a:off x="2590800" y="2308820"/>
            <a:ext cx="1727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Caso de negocio</a:t>
            </a:r>
            <a:endParaRPr lang="en-US" sz="1400" dirty="0"/>
          </a:p>
        </p:txBody>
      </p:sp>
      <p:sp>
        <p:nvSpPr>
          <p:cNvPr id="24" name="Text 22"/>
          <p:cNvSpPr/>
          <p:nvPr/>
        </p:nvSpPr>
        <p:spPr>
          <a:xfrm>
            <a:off x="2590800" y="2607270"/>
            <a:ext cx="1058267" cy="289520"/>
          </a:xfrm>
          <a:custGeom>
            <a:avLst/>
            <a:gdLst/>
            <a:ahLst/>
            <a:cxnLst/>
            <a:rect l="l" t="t" r="r" b="b"/>
            <a:pathLst>
              <a:path w="1058267" h="289520">
                <a:moveTo>
                  <a:pt x="144760" y="0"/>
                </a:moveTo>
                <a:lnTo>
                  <a:pt x="913507" y="0"/>
                </a:lnTo>
                <a:arcTo hR="144760" wR="144760" stAng="16200000" swAng="5400000"/>
                <a:lnTo>
                  <a:pt x="1058267"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EF6"/>
          </a:solidFill>
          <a:ln/>
        </p:spPr>
        <p:txBody>
          <a:bodyPr wrap="none" lIns="0" tIns="0" rIns="0" bIns="0" rtlCol="0" anchor="ctr">
            <a:normAutofit/>
          </a:bodyPr>
          <a:lstStyle/>
          <a:p>
            <a:pPr algn="ctr" indent="0" marL="0">
              <a:lnSpc>
                <a:spcPts val="1680"/>
              </a:lnSpc>
              <a:buNone/>
            </a:pPr>
            <a:r>
              <a:rPr lang="en-US" sz="1200" b="1" dirty="0">
                <a:solidFill>
                  <a:srgbClr val="1F4A73"/>
                </a:solidFill>
                <a:latin typeface="Arial" pitchFamily="34" charset="0"/>
                <a:ea typeface="Arial" pitchFamily="34" charset="-122"/>
                <a:cs typeface="Arial" pitchFamily="34" charset="-120"/>
              </a:rPr>
              <a:t>Uso puntual</a:t>
            </a:r>
            <a:endParaRPr lang="en-US" sz="1200" dirty="0"/>
          </a:p>
        </p:txBody>
      </p:sp>
      <p:sp>
        <p:nvSpPr>
          <p:cNvPr id="25" name="Text 23"/>
          <p:cNvSpPr/>
          <p:nvPr/>
        </p:nvSpPr>
        <p:spPr>
          <a:xfrm>
            <a:off x="2590800" y="2972991"/>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Ficha de iniciativa y pitch con Copilot (sep)</a:t>
            </a:r>
            <a:endParaRPr lang="en-US" sz="1200" dirty="0"/>
          </a:p>
        </p:txBody>
      </p:sp>
      <p:sp>
        <p:nvSpPr>
          <p:cNvPr id="26" name="Shape 24"/>
          <p:cNvSpPr/>
          <p:nvPr/>
        </p:nvSpPr>
        <p:spPr>
          <a:xfrm>
            <a:off x="4368800" y="1917700"/>
            <a:ext cx="1676400" cy="0"/>
          </a:xfrm>
          <a:prstGeom prst="line">
            <a:avLst/>
          </a:prstGeom>
          <a:noFill/>
          <a:ln w="25400">
            <a:solidFill>
              <a:srgbClr val="C9A46A"/>
            </a:solidFill>
            <a:prstDash val="solid"/>
          </a:ln>
        </p:spPr>
      </p:sp>
      <p:sp>
        <p:nvSpPr>
          <p:cNvPr id="27" name="Text 25"/>
          <p:cNvSpPr/>
          <p:nvPr/>
        </p:nvSpPr>
        <p:spPr>
          <a:xfrm>
            <a:off x="4368800" y="20193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3</a:t>
            </a:r>
            <a:endParaRPr lang="en-US" sz="1200" dirty="0"/>
          </a:p>
        </p:txBody>
      </p:sp>
      <p:sp>
        <p:nvSpPr>
          <p:cNvPr id="28" name="Text 26"/>
          <p:cNvSpPr/>
          <p:nvPr/>
        </p:nvSpPr>
        <p:spPr>
          <a:xfrm>
            <a:off x="4368800" y="2308820"/>
            <a:ext cx="1727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Maquetas</a:t>
            </a:r>
            <a:endParaRPr lang="en-US" sz="1400" dirty="0"/>
          </a:p>
        </p:txBody>
      </p:sp>
      <p:sp>
        <p:nvSpPr>
          <p:cNvPr id="29" name="Text 27"/>
          <p:cNvSpPr/>
          <p:nvPr/>
        </p:nvSpPr>
        <p:spPr>
          <a:xfrm>
            <a:off x="4368800" y="2607270"/>
            <a:ext cx="1092051" cy="289520"/>
          </a:xfrm>
          <a:custGeom>
            <a:avLst/>
            <a:gdLst/>
            <a:ahLst/>
            <a:cxnLst/>
            <a:rect l="l" t="t" r="r" b="b"/>
            <a:pathLst>
              <a:path w="1092051" h="289520">
                <a:moveTo>
                  <a:pt x="144760" y="0"/>
                </a:moveTo>
                <a:lnTo>
                  <a:pt x="947291" y="0"/>
                </a:lnTo>
                <a:arcTo hR="144760" wR="144760" stAng="16200000" swAng="5400000"/>
                <a:lnTo>
                  <a:pt x="1092051" y="144760"/>
                </a:lnTo>
                <a:arcTo hR="144760" wR="144760" stAng="0" swAng="5400000"/>
                <a:lnTo>
                  <a:pt x="144760" y="289520"/>
                </a:lnTo>
                <a:arcTo hR="144760" wR="144760" stAng="5400000" swAng="5400000"/>
                <a:lnTo>
                  <a:pt x="0" y="144760"/>
                </a:lnTo>
                <a:arcTo hR="144760" wR="1447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C5A12"/>
                </a:solidFill>
                <a:latin typeface="Arial" pitchFamily="34" charset="0"/>
                <a:ea typeface="Arial" pitchFamily="34" charset="-122"/>
                <a:cs typeface="Arial" pitchFamily="34" charset="-120"/>
              </a:rPr>
              <a:t>Oportunidad</a:t>
            </a:r>
            <a:endParaRPr lang="en-US" sz="1200" dirty="0"/>
          </a:p>
        </p:txBody>
      </p:sp>
      <p:sp>
        <p:nvSpPr>
          <p:cNvPr id="30" name="Text 28"/>
          <p:cNvSpPr/>
          <p:nvPr/>
        </p:nvSpPr>
        <p:spPr>
          <a:xfrm>
            <a:off x="4368800" y="2972991"/>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Conectar los diseños con la IA del frontend</a:t>
            </a:r>
            <a:endParaRPr lang="en-US" sz="1200" dirty="0"/>
          </a:p>
        </p:txBody>
      </p:sp>
      <p:sp>
        <p:nvSpPr>
          <p:cNvPr id="31" name="Shape 29"/>
          <p:cNvSpPr/>
          <p:nvPr/>
        </p:nvSpPr>
        <p:spPr>
          <a:xfrm>
            <a:off x="6146800" y="1917700"/>
            <a:ext cx="1676400" cy="0"/>
          </a:xfrm>
          <a:prstGeom prst="line">
            <a:avLst/>
          </a:prstGeom>
          <a:noFill/>
          <a:ln w="25400">
            <a:solidFill>
              <a:srgbClr val="8DB8E0"/>
            </a:solidFill>
            <a:prstDash val="solid"/>
          </a:ln>
        </p:spPr>
      </p:sp>
      <p:sp>
        <p:nvSpPr>
          <p:cNvPr id="32" name="Text 30"/>
          <p:cNvSpPr/>
          <p:nvPr/>
        </p:nvSpPr>
        <p:spPr>
          <a:xfrm>
            <a:off x="6146800" y="20193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4</a:t>
            </a:r>
            <a:endParaRPr lang="en-US" sz="1200" dirty="0"/>
          </a:p>
        </p:txBody>
      </p:sp>
      <p:sp>
        <p:nvSpPr>
          <p:cNvPr id="33" name="Text 31"/>
          <p:cNvSpPr/>
          <p:nvPr/>
        </p:nvSpPr>
        <p:spPr>
          <a:xfrm>
            <a:off x="6146800" y="2308820"/>
            <a:ext cx="17272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Historias de usuario</a:t>
            </a:r>
            <a:endParaRPr lang="en-US" sz="1400" dirty="0"/>
          </a:p>
        </p:txBody>
      </p:sp>
      <p:sp>
        <p:nvSpPr>
          <p:cNvPr id="34" name="Text 32"/>
          <p:cNvSpPr/>
          <p:nvPr/>
        </p:nvSpPr>
        <p:spPr>
          <a:xfrm>
            <a:off x="6146800" y="2829520"/>
            <a:ext cx="1058267" cy="289520"/>
          </a:xfrm>
          <a:custGeom>
            <a:avLst/>
            <a:gdLst/>
            <a:ahLst/>
            <a:cxnLst/>
            <a:rect l="l" t="t" r="r" b="b"/>
            <a:pathLst>
              <a:path w="1058267" h="289520">
                <a:moveTo>
                  <a:pt x="144760" y="0"/>
                </a:moveTo>
                <a:lnTo>
                  <a:pt x="913507" y="0"/>
                </a:lnTo>
                <a:arcTo hR="144760" wR="144760" stAng="16200000" swAng="5400000"/>
                <a:lnTo>
                  <a:pt x="1058267"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EF6"/>
          </a:solidFill>
          <a:ln/>
        </p:spPr>
        <p:txBody>
          <a:bodyPr wrap="none" lIns="0" tIns="0" rIns="0" bIns="0" rtlCol="0" anchor="ctr">
            <a:normAutofit/>
          </a:bodyPr>
          <a:lstStyle/>
          <a:p>
            <a:pPr algn="ctr" indent="0" marL="0">
              <a:lnSpc>
                <a:spcPts val="1680"/>
              </a:lnSpc>
              <a:buNone/>
            </a:pPr>
            <a:r>
              <a:rPr lang="en-US" sz="1200" b="1" dirty="0">
                <a:solidFill>
                  <a:srgbClr val="1F4A73"/>
                </a:solidFill>
                <a:latin typeface="Arial" pitchFamily="34" charset="0"/>
                <a:ea typeface="Arial" pitchFamily="34" charset="-122"/>
                <a:cs typeface="Arial" pitchFamily="34" charset="-120"/>
              </a:rPr>
              <a:t>Uso puntual</a:t>
            </a:r>
            <a:endParaRPr lang="en-US" sz="1200" dirty="0"/>
          </a:p>
        </p:txBody>
      </p:sp>
      <p:sp>
        <p:nvSpPr>
          <p:cNvPr id="35" name="Text 33"/>
          <p:cNvSpPr/>
          <p:nvPr/>
        </p:nvSpPr>
        <p:spPr>
          <a:xfrm>
            <a:off x="6146800" y="3195241"/>
            <a:ext cx="1727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HU redactadas con Copilot (may); base de la spec</a:t>
            </a:r>
            <a:endParaRPr lang="en-US" sz="1200" dirty="0"/>
          </a:p>
        </p:txBody>
      </p:sp>
      <p:sp>
        <p:nvSpPr>
          <p:cNvPr id="36" name="Shape 34"/>
          <p:cNvSpPr/>
          <p:nvPr/>
        </p:nvSpPr>
        <p:spPr>
          <a:xfrm>
            <a:off x="7924800" y="1917700"/>
            <a:ext cx="1676400" cy="0"/>
          </a:xfrm>
          <a:prstGeom prst="line">
            <a:avLst/>
          </a:prstGeom>
          <a:noFill/>
          <a:ln w="25400">
            <a:solidFill>
              <a:srgbClr val="C9A46A"/>
            </a:solidFill>
            <a:prstDash val="solid"/>
          </a:ln>
        </p:spPr>
      </p:sp>
      <p:sp>
        <p:nvSpPr>
          <p:cNvPr id="37" name="Text 35"/>
          <p:cNvSpPr/>
          <p:nvPr/>
        </p:nvSpPr>
        <p:spPr>
          <a:xfrm>
            <a:off x="7924800" y="20193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5</a:t>
            </a:r>
            <a:endParaRPr lang="en-US" sz="1200" dirty="0"/>
          </a:p>
        </p:txBody>
      </p:sp>
      <p:sp>
        <p:nvSpPr>
          <p:cNvPr id="38" name="Text 36"/>
          <p:cNvSpPr/>
          <p:nvPr/>
        </p:nvSpPr>
        <p:spPr>
          <a:xfrm>
            <a:off x="7924800" y="2308820"/>
            <a:ext cx="1727200" cy="46990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Experiencia de usuario</a:t>
            </a:r>
            <a:endParaRPr lang="en-US" sz="1400" dirty="0"/>
          </a:p>
        </p:txBody>
      </p:sp>
      <p:sp>
        <p:nvSpPr>
          <p:cNvPr id="39" name="Text 37"/>
          <p:cNvSpPr/>
          <p:nvPr/>
        </p:nvSpPr>
        <p:spPr>
          <a:xfrm>
            <a:off x="7924800" y="2829520"/>
            <a:ext cx="1092051" cy="289520"/>
          </a:xfrm>
          <a:custGeom>
            <a:avLst/>
            <a:gdLst/>
            <a:ahLst/>
            <a:cxnLst/>
            <a:rect l="l" t="t" r="r" b="b"/>
            <a:pathLst>
              <a:path w="1092051" h="289520">
                <a:moveTo>
                  <a:pt x="144760" y="0"/>
                </a:moveTo>
                <a:lnTo>
                  <a:pt x="947291" y="0"/>
                </a:lnTo>
                <a:arcTo hR="144760" wR="144760" stAng="16200000" swAng="5400000"/>
                <a:lnTo>
                  <a:pt x="1092051" y="144760"/>
                </a:lnTo>
                <a:arcTo hR="144760" wR="144760" stAng="0" swAng="5400000"/>
                <a:lnTo>
                  <a:pt x="144760" y="289520"/>
                </a:lnTo>
                <a:arcTo hR="144760" wR="144760" stAng="5400000" swAng="5400000"/>
                <a:lnTo>
                  <a:pt x="0" y="144760"/>
                </a:lnTo>
                <a:arcTo hR="144760" wR="1447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C5A12"/>
                </a:solidFill>
                <a:latin typeface="Arial" pitchFamily="34" charset="0"/>
                <a:ea typeface="Arial" pitchFamily="34" charset="-122"/>
                <a:cs typeface="Arial" pitchFamily="34" charset="-120"/>
              </a:rPr>
              <a:t>Oportunidad</a:t>
            </a:r>
            <a:endParaRPr lang="en-US" sz="1200" dirty="0"/>
          </a:p>
        </p:txBody>
      </p:sp>
      <p:sp>
        <p:nvSpPr>
          <p:cNvPr id="40" name="Text 38"/>
          <p:cNvSpPr/>
          <p:nvPr/>
        </p:nvSpPr>
        <p:spPr>
          <a:xfrm>
            <a:off x="7924800" y="3195241"/>
            <a:ext cx="1727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Validar flujos con prototipos antes de construir</a:t>
            </a:r>
            <a:endParaRPr lang="en-US" sz="1200" dirty="0"/>
          </a:p>
        </p:txBody>
      </p:sp>
      <p:sp>
        <p:nvSpPr>
          <p:cNvPr id="41" name="Shape 39"/>
          <p:cNvSpPr/>
          <p:nvPr/>
        </p:nvSpPr>
        <p:spPr>
          <a:xfrm>
            <a:off x="9702800" y="1917700"/>
            <a:ext cx="1676400" cy="0"/>
          </a:xfrm>
          <a:prstGeom prst="line">
            <a:avLst/>
          </a:prstGeom>
          <a:noFill/>
          <a:ln w="25400">
            <a:solidFill>
              <a:srgbClr val="2B5F8E"/>
            </a:solidFill>
            <a:prstDash val="solid"/>
          </a:ln>
        </p:spPr>
      </p:sp>
      <p:sp>
        <p:nvSpPr>
          <p:cNvPr id="42" name="Text 40"/>
          <p:cNvSpPr/>
          <p:nvPr/>
        </p:nvSpPr>
        <p:spPr>
          <a:xfrm>
            <a:off x="9702800" y="2019300"/>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6</a:t>
            </a:r>
            <a:endParaRPr lang="en-US" sz="1200" dirty="0"/>
          </a:p>
        </p:txBody>
      </p:sp>
      <p:sp>
        <p:nvSpPr>
          <p:cNvPr id="43" name="Text 41"/>
          <p:cNvSpPr/>
          <p:nvPr/>
        </p:nvSpPr>
        <p:spPr>
          <a:xfrm>
            <a:off x="9702800" y="2308820"/>
            <a:ext cx="17272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33A"/>
                </a:solidFill>
                <a:latin typeface="Arial" pitchFamily="34" charset="0"/>
                <a:ea typeface="Arial" pitchFamily="34" charset="-122"/>
                <a:cs typeface="Arial" pitchFamily="34" charset="-120"/>
              </a:rPr>
              <a:t>Desarrollo</a:t>
            </a:r>
            <a:endParaRPr lang="en-US" sz="1400" dirty="0"/>
          </a:p>
        </p:txBody>
      </p:sp>
      <p:sp>
        <p:nvSpPr>
          <p:cNvPr id="44" name="Text 42"/>
          <p:cNvSpPr/>
          <p:nvPr/>
        </p:nvSpPr>
        <p:spPr>
          <a:xfrm>
            <a:off x="9702800" y="2607270"/>
            <a:ext cx="965349" cy="289520"/>
          </a:xfrm>
          <a:custGeom>
            <a:avLst/>
            <a:gdLst/>
            <a:ahLst/>
            <a:cxnLst/>
            <a:rect l="l" t="t" r="r" b="b"/>
            <a:pathLst>
              <a:path w="965349" h="289520">
                <a:moveTo>
                  <a:pt x="144760" y="0"/>
                </a:moveTo>
                <a:lnTo>
                  <a:pt x="820589" y="0"/>
                </a:lnTo>
                <a:arcTo hR="144760" wR="144760" stAng="16200000" swAng="5400000"/>
                <a:lnTo>
                  <a:pt x="965349" y="144760"/>
                </a:lnTo>
                <a:arcTo hR="144760" wR="144760" stAng="0" swAng="5400000"/>
                <a:lnTo>
                  <a:pt x="144760" y="289520"/>
                </a:lnTo>
                <a:arcTo hR="144760" wR="144760" stAng="5400000" swAng="5400000"/>
                <a:lnTo>
                  <a:pt x="0" y="144760"/>
                </a:lnTo>
                <a:arcTo hR="144760" wR="144760" stAng="10800000" swAng="5400000"/>
                <a:close/>
              </a:path>
            </a:pathLst>
          </a:custGeom>
          <a:solidFill>
            <a:srgbClr val="2B5F8E"/>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Arial" pitchFamily="34" charset="0"/>
                <a:ea typeface="Arial" pitchFamily="34" charset="-122"/>
                <a:cs typeface="Arial" pitchFamily="34" charset="-120"/>
              </a:rPr>
              <a:t>Modelo 2.0</a:t>
            </a:r>
            <a:endParaRPr lang="en-US" sz="1200" dirty="0"/>
          </a:p>
        </p:txBody>
      </p:sp>
      <p:sp>
        <p:nvSpPr>
          <p:cNvPr id="45" name="Text 43"/>
          <p:cNvSpPr/>
          <p:nvPr/>
        </p:nvSpPr>
        <p:spPr>
          <a:xfrm>
            <a:off x="9702800" y="2972991"/>
            <a:ext cx="17272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Spec, TDD y verificación con agentes especializados</a:t>
            </a:r>
            <a:endParaRPr lang="en-US" sz="1200" dirty="0"/>
          </a:p>
        </p:txBody>
      </p:sp>
      <p:sp>
        <p:nvSpPr>
          <p:cNvPr id="46" name="Text 44"/>
          <p:cNvSpPr/>
          <p:nvPr/>
        </p:nvSpPr>
        <p:spPr>
          <a:xfrm>
            <a:off x="815975" y="4321175"/>
            <a:ext cx="10560050" cy="560040"/>
          </a:xfrm>
          <a:prstGeom prst="roundRect">
            <a:avLst>
              <a:gd name="adj" fmla="val 13039"/>
            </a:avLst>
          </a:prstGeom>
          <a:solidFill>
            <a:srgbClr val="FCFBF7"/>
          </a:solidFill>
          <a:ln w="6350">
            <a:solidFill>
              <a:srgbClr val="DDD8CC"/>
            </a:solidFill>
            <a:prstDash val="solid"/>
          </a:ln>
        </p:spPr>
        <p:txBody>
          <a:bodyPr wrap="square" lIns="184987" tIns="134187" rIns="0" bIns="108787" rtlCol="0" anchor="t">
            <a:normAutofit/>
          </a:bodyPr>
          <a:lstStyle/>
          <a:p>
            <a:pPr algn="l" indent="0" marL="0">
              <a:lnSpc>
                <a:spcPts val="1960"/>
              </a:lnSpc>
              <a:buNone/>
            </a:pPr>
            <a:r>
              <a:rPr lang="en-US" sz="1400" dirty="0">
                <a:solidFill>
                  <a:srgbClr val="14233A"/>
                </a:solidFill>
                <a:latin typeface="Arial" pitchFamily="34" charset="0"/>
                <a:ea typeface="Arial" pitchFamily="34" charset="-122"/>
                <a:cs typeface="Arial" pitchFamily="34" charset="-120"/>
              </a:rPr>
              <a:t>Oportunidad: llevar el mismo método (especificar, validar y medir) a las etapas previas al desarrollo.</a:t>
            </a:r>
            <a:endParaRPr lang="en-US" sz="1400" dirty="0"/>
          </a:p>
        </p:txBody>
      </p:sp>
      <p:sp>
        <p:nvSpPr>
          <p:cNvPr id="47" name="Text 45"/>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48" name="Text 46"/>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2B5F8E"/>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2B5F8E"/>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RIESGOS</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Riesgos identificados y mitigaciones</a:t>
            </a:r>
            <a:endParaRPr lang="en-US" sz="3200" dirty="0"/>
          </a:p>
        </p:txBody>
      </p:sp>
      <p:sp>
        <p:nvSpPr>
          <p:cNvPr id="16" name="Text 14"/>
          <p:cNvSpPr/>
          <p:nvPr/>
        </p:nvSpPr>
        <p:spPr>
          <a:xfrm>
            <a:off x="812800" y="1790700"/>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C5A12"/>
                </a:solidFill>
                <a:latin typeface="Arial" pitchFamily="34" charset="0"/>
                <a:ea typeface="Arial" pitchFamily="34" charset="-122"/>
                <a:cs typeface="Arial" pitchFamily="34" charset="-120"/>
              </a:rPr>
              <a:t>RIESGO</a:t>
            </a:r>
            <a:endParaRPr lang="en-US" sz="1200" dirty="0"/>
          </a:p>
        </p:txBody>
      </p:sp>
      <p:sp>
        <p:nvSpPr>
          <p:cNvPr id="17" name="Text 15"/>
          <p:cNvSpPr/>
          <p:nvPr/>
        </p:nvSpPr>
        <p:spPr>
          <a:xfrm>
            <a:off x="5740400" y="1790700"/>
            <a:ext cx="580796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F8E"/>
                </a:solidFill>
                <a:latin typeface="Arial" pitchFamily="34" charset="0"/>
                <a:ea typeface="Arial" pitchFamily="34" charset="-122"/>
                <a:cs typeface="Arial" pitchFamily="34" charset="-120"/>
              </a:rPr>
              <a:t>MITIGACIÓN</a:t>
            </a:r>
            <a:endParaRPr lang="en-US" sz="1200" dirty="0"/>
          </a:p>
        </p:txBody>
      </p:sp>
      <p:sp>
        <p:nvSpPr>
          <p:cNvPr id="18" name="Shape 16"/>
          <p:cNvSpPr/>
          <p:nvPr/>
        </p:nvSpPr>
        <p:spPr>
          <a:xfrm>
            <a:off x="812800" y="2095500"/>
            <a:ext cx="4572000" cy="736600"/>
          </a:xfrm>
          <a:prstGeom prst="roundRect">
            <a:avLst>
              <a:gd name="adj" fmla="val 10345"/>
            </a:avLst>
          </a:prstGeom>
          <a:solidFill>
            <a:srgbClr val="FBF4E8"/>
          </a:solidFill>
          <a:ln/>
        </p:spPr>
      </p:sp>
      <p:sp>
        <p:nvSpPr>
          <p:cNvPr id="19" name="Shape 17"/>
          <p:cNvSpPr/>
          <p:nvPr/>
        </p:nvSpPr>
        <p:spPr>
          <a:xfrm>
            <a:off x="812800" y="2095500"/>
            <a:ext cx="4572000" cy="736600"/>
          </a:xfrm>
          <a:custGeom>
            <a:avLst/>
            <a:gdLst/>
            <a:ahLst/>
            <a:cxnLst/>
            <a:rect l="l" t="t" r="r" b="b"/>
            <a:pathLst>
              <a:path w="4572000" h="736600">
                <a:moveTo>
                  <a:pt x="76200" y="736600"/>
                </a:moveTo>
                <a:lnTo>
                  <a:pt x="76200" y="736600"/>
                </a:lnTo>
                <a:arcTo hR="76200" wR="76200" stAng="5400000" swAng="5400000"/>
                <a:lnTo>
                  <a:pt x="0" y="76200"/>
                </a:lnTo>
                <a:arcTo hR="76200" wR="76200" stAng="10800000" swAng="5400000"/>
                <a:lnTo>
                  <a:pt x="76200" y="0"/>
                </a:lnTo>
                <a:arcTo hR="76200" wR="50800" stAng="16200000" swAng="-5400000"/>
                <a:lnTo>
                  <a:pt x="25400" y="660400"/>
                </a:lnTo>
                <a:arcTo hR="76200" wR="50800" stAng="10800000" swAng="-5400000"/>
                <a:close/>
              </a:path>
            </a:pathLst>
          </a:custGeom>
          <a:solidFill>
            <a:srgbClr val="8C5A12"/>
          </a:solidFill>
          <a:ln/>
        </p:spPr>
      </p:sp>
      <p:sp>
        <p:nvSpPr>
          <p:cNvPr id="20" name="Text 18"/>
          <p:cNvSpPr/>
          <p:nvPr/>
        </p:nvSpPr>
        <p:spPr>
          <a:xfrm>
            <a:off x="990600" y="22987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8C5A12"/>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Georgia" pitchFamily="18" charset="0"/>
                <a:ea typeface="Georgia" pitchFamily="18" charset="-122"/>
                <a:cs typeface="Georgia" pitchFamily="18" charset="-120"/>
              </a:rPr>
              <a:t>1</a:t>
            </a:r>
            <a:endParaRPr lang="en-US" sz="1400" dirty="0"/>
          </a:p>
        </p:txBody>
      </p:sp>
      <p:sp>
        <p:nvSpPr>
          <p:cNvPr id="21" name="Text 19"/>
          <p:cNvSpPr/>
          <p:nvPr/>
        </p:nvSpPr>
        <p:spPr>
          <a:xfrm>
            <a:off x="1447800" y="2241252"/>
            <a:ext cx="389813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ADOPCIÓN</a:t>
            </a:r>
            <a:endParaRPr lang="en-US" sz="1200" dirty="0"/>
          </a:p>
        </p:txBody>
      </p:sp>
      <p:sp>
        <p:nvSpPr>
          <p:cNvPr id="22" name="Text 20"/>
          <p:cNvSpPr/>
          <p:nvPr/>
        </p:nvSpPr>
        <p:spPr>
          <a:xfrm>
            <a:off x="1447800" y="2479973"/>
            <a:ext cx="389813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33A"/>
                </a:solidFill>
                <a:latin typeface="Arial" pitchFamily="34" charset="0"/>
                <a:ea typeface="Arial" pitchFamily="34" charset="-122"/>
                <a:cs typeface="Arial" pitchFamily="34" charset="-120"/>
              </a:rPr>
              <a:t>Curva de aprendizaje y resistencia al cambio</a:t>
            </a:r>
            <a:endParaRPr lang="en-US" sz="1300" dirty="0"/>
          </a:p>
        </p:txBody>
      </p:sp>
      <p:pic>
        <p:nvPicPr>
          <p:cNvPr id="23" name="Image 0" descr="arrow-right">    </p:cNvPr>
          <p:cNvPicPr>
            <a:picLocks noChangeAspect="1"/>
          </p:cNvPicPr>
          <p:nvPr/>
        </p:nvPicPr>
        <p:blipFill>
          <a:blip r:embed="rId1"/>
          <a:srcRect l="0" r="0" t="0" b="0"/>
          <a:stretch/>
        </p:blipFill>
        <p:spPr>
          <a:xfrm>
            <a:off x="5473700" y="2419350"/>
            <a:ext cx="177800" cy="88900"/>
          </a:xfrm>
          <a:prstGeom prst="rect">
            <a:avLst/>
          </a:prstGeom>
        </p:spPr>
      </p:pic>
      <p:sp>
        <p:nvSpPr>
          <p:cNvPr id="24" name="Shape 21"/>
          <p:cNvSpPr/>
          <p:nvPr/>
        </p:nvSpPr>
        <p:spPr>
          <a:xfrm>
            <a:off x="5743575" y="2098675"/>
            <a:ext cx="5632450" cy="730250"/>
          </a:xfrm>
          <a:prstGeom prst="roundRect">
            <a:avLst>
              <a:gd name="adj" fmla="val 10000"/>
            </a:avLst>
          </a:prstGeom>
          <a:solidFill>
            <a:srgbClr val="FCFBF7"/>
          </a:solidFill>
          <a:ln w="6350">
            <a:solidFill>
              <a:srgbClr val="DDD8CC"/>
            </a:solidFill>
            <a:prstDash val="solid"/>
          </a:ln>
        </p:spPr>
      </p:sp>
      <p:sp>
        <p:nvSpPr>
          <p:cNvPr id="25" name="Text 22"/>
          <p:cNvSpPr/>
          <p:nvPr/>
        </p:nvSpPr>
        <p:spPr>
          <a:xfrm>
            <a:off x="5905500" y="2305050"/>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solidFill>
            <a:srgbClr val="E6EEF6"/>
          </a:solidFill>
          <a:ln w="12700">
            <a:solidFill>
              <a:srgbClr val="2B5F8E"/>
            </a:solidFill>
            <a:prstDash val="solid"/>
          </a:ln>
        </p:spPr>
        <p:txBody>
          <a:bodyPr wrap="square" lIns="6350" tIns="6350" rIns="6350" bIns="6350" rtlCol="0" anchor="ctr">
            <a:normAutofit/>
          </a:bodyPr>
          <a:lstStyle/>
          <a:p>
            <a:pPr algn="ctr" indent="0" marL="0">
              <a:lnSpc>
                <a:spcPts val="1960"/>
              </a:lnSpc>
              <a:buNone/>
            </a:pPr>
            <a:r>
              <a:rPr lang="en-US" sz="1400" b="1" dirty="0">
                <a:solidFill>
                  <a:srgbClr val="2B5F8E"/>
                </a:solidFill>
                <a:latin typeface="Arial" pitchFamily="34" charset="0"/>
                <a:ea typeface="Arial" pitchFamily="34" charset="-122"/>
                <a:cs typeface="Arial" pitchFamily="34" charset="-120"/>
              </a:rPr>
              <a:t>✓</a:t>
            </a:r>
            <a:endParaRPr lang="en-US" sz="1400" dirty="0"/>
          </a:p>
        </p:txBody>
      </p:sp>
      <p:sp>
        <p:nvSpPr>
          <p:cNvPr id="26" name="Text 23"/>
          <p:cNvSpPr/>
          <p:nvPr/>
        </p:nvSpPr>
        <p:spPr>
          <a:xfrm>
            <a:off x="6356350" y="2249190"/>
            <a:ext cx="501002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33A"/>
                </a:solidFill>
                <a:latin typeface="Arial" pitchFamily="34" charset="0"/>
                <a:ea typeface="Arial" pitchFamily="34" charset="-122"/>
                <a:cs typeface="Arial" pitchFamily="34" charset="-120"/>
              </a:rPr>
              <a:t>Pilotos acotados, guía de uso y comandos que conducen cada etapa</a:t>
            </a:r>
            <a:endParaRPr lang="en-US" sz="1300" dirty="0"/>
          </a:p>
        </p:txBody>
      </p:sp>
      <p:sp>
        <p:nvSpPr>
          <p:cNvPr id="27" name="Shape 24"/>
          <p:cNvSpPr/>
          <p:nvPr/>
        </p:nvSpPr>
        <p:spPr>
          <a:xfrm>
            <a:off x="812800" y="2895600"/>
            <a:ext cx="4572000" cy="736600"/>
          </a:xfrm>
          <a:prstGeom prst="roundRect">
            <a:avLst>
              <a:gd name="adj" fmla="val 10345"/>
            </a:avLst>
          </a:prstGeom>
          <a:solidFill>
            <a:srgbClr val="FBF4E8"/>
          </a:solidFill>
          <a:ln/>
        </p:spPr>
      </p:sp>
      <p:sp>
        <p:nvSpPr>
          <p:cNvPr id="28" name="Shape 25"/>
          <p:cNvSpPr/>
          <p:nvPr/>
        </p:nvSpPr>
        <p:spPr>
          <a:xfrm>
            <a:off x="812800" y="2895600"/>
            <a:ext cx="4572000" cy="736600"/>
          </a:xfrm>
          <a:custGeom>
            <a:avLst/>
            <a:gdLst/>
            <a:ahLst/>
            <a:cxnLst/>
            <a:rect l="l" t="t" r="r" b="b"/>
            <a:pathLst>
              <a:path w="4572000" h="736600">
                <a:moveTo>
                  <a:pt x="76200" y="736600"/>
                </a:moveTo>
                <a:lnTo>
                  <a:pt x="76200" y="736600"/>
                </a:lnTo>
                <a:arcTo hR="76200" wR="76200" stAng="5400000" swAng="5400000"/>
                <a:lnTo>
                  <a:pt x="0" y="76200"/>
                </a:lnTo>
                <a:arcTo hR="76200" wR="76200" stAng="10800000" swAng="5400000"/>
                <a:lnTo>
                  <a:pt x="76200" y="0"/>
                </a:lnTo>
                <a:arcTo hR="76200" wR="50800" stAng="16200000" swAng="-5400000"/>
                <a:lnTo>
                  <a:pt x="25400" y="660400"/>
                </a:lnTo>
                <a:arcTo hR="76200" wR="50800" stAng="10800000" swAng="-5400000"/>
                <a:close/>
              </a:path>
            </a:pathLst>
          </a:custGeom>
          <a:solidFill>
            <a:srgbClr val="8C5A12"/>
          </a:solidFill>
          <a:ln/>
        </p:spPr>
      </p:sp>
      <p:sp>
        <p:nvSpPr>
          <p:cNvPr id="29" name="Text 26"/>
          <p:cNvSpPr/>
          <p:nvPr/>
        </p:nvSpPr>
        <p:spPr>
          <a:xfrm>
            <a:off x="990600" y="30988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8C5A12"/>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Georgia" pitchFamily="18" charset="0"/>
                <a:ea typeface="Georgia" pitchFamily="18" charset="-122"/>
                <a:cs typeface="Georgia" pitchFamily="18" charset="-120"/>
              </a:rPr>
              <a:t>2</a:t>
            </a:r>
            <a:endParaRPr lang="en-US" sz="1400" dirty="0"/>
          </a:p>
        </p:txBody>
      </p:sp>
      <p:sp>
        <p:nvSpPr>
          <p:cNvPr id="30" name="Text 27"/>
          <p:cNvSpPr/>
          <p:nvPr/>
        </p:nvSpPr>
        <p:spPr>
          <a:xfrm>
            <a:off x="1447800" y="3041352"/>
            <a:ext cx="389813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HERRAMIENTA</a:t>
            </a:r>
            <a:endParaRPr lang="en-US" sz="1200" dirty="0"/>
          </a:p>
        </p:txBody>
      </p:sp>
      <p:sp>
        <p:nvSpPr>
          <p:cNvPr id="31" name="Text 28"/>
          <p:cNvSpPr/>
          <p:nvPr/>
        </p:nvSpPr>
        <p:spPr>
          <a:xfrm>
            <a:off x="1447800" y="3280073"/>
            <a:ext cx="389813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33A"/>
                </a:solidFill>
                <a:latin typeface="Arial" pitchFamily="34" charset="0"/>
                <a:ea typeface="Arial" pitchFamily="34" charset="-122"/>
                <a:cs typeface="Arial" pitchFamily="34" charset="-120"/>
              </a:rPr>
              <a:t>Funciones de Copilot aún en vista previa</a:t>
            </a:r>
            <a:endParaRPr lang="en-US" sz="1300" dirty="0"/>
          </a:p>
        </p:txBody>
      </p:sp>
      <p:pic>
        <p:nvPicPr>
          <p:cNvPr id="32" name="Image 1" descr="arrow-right">    </p:cNvPr>
          <p:cNvPicPr>
            <a:picLocks noChangeAspect="1"/>
          </p:cNvPicPr>
          <p:nvPr/>
        </p:nvPicPr>
        <p:blipFill>
          <a:blip r:embed="rId2"/>
          <a:srcRect l="0" r="0" t="0" b="0"/>
          <a:stretch/>
        </p:blipFill>
        <p:spPr>
          <a:xfrm>
            <a:off x="5473700" y="3219450"/>
            <a:ext cx="177800" cy="88900"/>
          </a:xfrm>
          <a:prstGeom prst="rect">
            <a:avLst/>
          </a:prstGeom>
        </p:spPr>
      </p:pic>
      <p:sp>
        <p:nvSpPr>
          <p:cNvPr id="33" name="Shape 29"/>
          <p:cNvSpPr/>
          <p:nvPr/>
        </p:nvSpPr>
        <p:spPr>
          <a:xfrm>
            <a:off x="5743575" y="2898775"/>
            <a:ext cx="5632450" cy="730250"/>
          </a:xfrm>
          <a:prstGeom prst="roundRect">
            <a:avLst>
              <a:gd name="adj" fmla="val 10000"/>
            </a:avLst>
          </a:prstGeom>
          <a:solidFill>
            <a:srgbClr val="FCFBF7"/>
          </a:solidFill>
          <a:ln w="6350">
            <a:solidFill>
              <a:srgbClr val="DDD8CC"/>
            </a:solidFill>
            <a:prstDash val="solid"/>
          </a:ln>
        </p:spPr>
      </p:sp>
      <p:sp>
        <p:nvSpPr>
          <p:cNvPr id="34" name="Text 30"/>
          <p:cNvSpPr/>
          <p:nvPr/>
        </p:nvSpPr>
        <p:spPr>
          <a:xfrm>
            <a:off x="5905500" y="3105150"/>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solidFill>
            <a:srgbClr val="E6EEF6"/>
          </a:solidFill>
          <a:ln w="12700">
            <a:solidFill>
              <a:srgbClr val="2B5F8E"/>
            </a:solidFill>
            <a:prstDash val="solid"/>
          </a:ln>
        </p:spPr>
        <p:txBody>
          <a:bodyPr wrap="square" lIns="6350" tIns="6350" rIns="6350" bIns="6350" rtlCol="0" anchor="ctr">
            <a:normAutofit/>
          </a:bodyPr>
          <a:lstStyle/>
          <a:p>
            <a:pPr algn="ctr" indent="0" marL="0">
              <a:lnSpc>
                <a:spcPts val="1960"/>
              </a:lnSpc>
              <a:buNone/>
            </a:pPr>
            <a:r>
              <a:rPr lang="en-US" sz="1400" b="1" dirty="0">
                <a:solidFill>
                  <a:srgbClr val="2B5F8E"/>
                </a:solidFill>
                <a:latin typeface="Arial" pitchFamily="34" charset="0"/>
                <a:ea typeface="Arial" pitchFamily="34" charset="-122"/>
                <a:cs typeface="Arial" pitchFamily="34" charset="-120"/>
              </a:rPr>
              <a:t>✓</a:t>
            </a:r>
            <a:endParaRPr lang="en-US" sz="1400" dirty="0"/>
          </a:p>
        </p:txBody>
      </p:sp>
      <p:sp>
        <p:nvSpPr>
          <p:cNvPr id="35" name="Text 31"/>
          <p:cNvSpPr/>
          <p:nvPr/>
        </p:nvSpPr>
        <p:spPr>
          <a:xfrm>
            <a:off x="6356350" y="3156595"/>
            <a:ext cx="501002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33A"/>
                </a:solidFill>
                <a:latin typeface="Arial" pitchFamily="34" charset="0"/>
                <a:ea typeface="Arial" pitchFamily="34" charset="-122"/>
                <a:cs typeface="Arial" pitchFamily="34" charset="-120"/>
              </a:rPr>
              <a:t>Control en cinco capas: si una falla, las demás siguen activas</a:t>
            </a:r>
            <a:endParaRPr lang="en-US" sz="1300" dirty="0"/>
          </a:p>
        </p:txBody>
      </p:sp>
      <p:sp>
        <p:nvSpPr>
          <p:cNvPr id="36" name="Shape 32"/>
          <p:cNvSpPr/>
          <p:nvPr/>
        </p:nvSpPr>
        <p:spPr>
          <a:xfrm>
            <a:off x="812800" y="3695700"/>
            <a:ext cx="4572000" cy="736600"/>
          </a:xfrm>
          <a:prstGeom prst="roundRect">
            <a:avLst>
              <a:gd name="adj" fmla="val 10345"/>
            </a:avLst>
          </a:prstGeom>
          <a:solidFill>
            <a:srgbClr val="FBF4E8"/>
          </a:solidFill>
          <a:ln/>
        </p:spPr>
      </p:sp>
      <p:sp>
        <p:nvSpPr>
          <p:cNvPr id="37" name="Shape 33"/>
          <p:cNvSpPr/>
          <p:nvPr/>
        </p:nvSpPr>
        <p:spPr>
          <a:xfrm>
            <a:off x="812800" y="3695700"/>
            <a:ext cx="4572000" cy="736600"/>
          </a:xfrm>
          <a:custGeom>
            <a:avLst/>
            <a:gdLst/>
            <a:ahLst/>
            <a:cxnLst/>
            <a:rect l="l" t="t" r="r" b="b"/>
            <a:pathLst>
              <a:path w="4572000" h="736600">
                <a:moveTo>
                  <a:pt x="76200" y="736600"/>
                </a:moveTo>
                <a:lnTo>
                  <a:pt x="76200" y="736600"/>
                </a:lnTo>
                <a:arcTo hR="76200" wR="76200" stAng="5400000" swAng="5400000"/>
                <a:lnTo>
                  <a:pt x="0" y="76200"/>
                </a:lnTo>
                <a:arcTo hR="76200" wR="76200" stAng="10800000" swAng="5400000"/>
                <a:lnTo>
                  <a:pt x="76200" y="0"/>
                </a:lnTo>
                <a:arcTo hR="76200" wR="50800" stAng="16200000" swAng="-5400000"/>
                <a:lnTo>
                  <a:pt x="25400" y="660400"/>
                </a:lnTo>
                <a:arcTo hR="76200" wR="50800" stAng="10800000" swAng="-5400000"/>
                <a:close/>
              </a:path>
            </a:pathLst>
          </a:custGeom>
          <a:solidFill>
            <a:srgbClr val="8C5A12"/>
          </a:solidFill>
          <a:ln/>
        </p:spPr>
      </p:sp>
      <p:sp>
        <p:nvSpPr>
          <p:cNvPr id="38" name="Text 34"/>
          <p:cNvSpPr/>
          <p:nvPr/>
        </p:nvSpPr>
        <p:spPr>
          <a:xfrm>
            <a:off x="990600" y="38989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8C5A12"/>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Georgia" pitchFamily="18" charset="0"/>
                <a:ea typeface="Georgia" pitchFamily="18" charset="-122"/>
                <a:cs typeface="Georgia" pitchFamily="18" charset="-120"/>
              </a:rPr>
              <a:t>3</a:t>
            </a:r>
            <a:endParaRPr lang="en-US" sz="1400" dirty="0"/>
          </a:p>
        </p:txBody>
      </p:sp>
      <p:sp>
        <p:nvSpPr>
          <p:cNvPr id="39" name="Text 35"/>
          <p:cNvSpPr/>
          <p:nvPr/>
        </p:nvSpPr>
        <p:spPr>
          <a:xfrm>
            <a:off x="1447800" y="3841452"/>
            <a:ext cx="389813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COSTO</a:t>
            </a:r>
            <a:endParaRPr lang="en-US" sz="1200" dirty="0"/>
          </a:p>
        </p:txBody>
      </p:sp>
      <p:sp>
        <p:nvSpPr>
          <p:cNvPr id="40" name="Text 36"/>
          <p:cNvSpPr/>
          <p:nvPr/>
        </p:nvSpPr>
        <p:spPr>
          <a:xfrm>
            <a:off x="1447800" y="4080173"/>
            <a:ext cx="389813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33A"/>
                </a:solidFill>
                <a:latin typeface="Arial" pitchFamily="34" charset="0"/>
                <a:ea typeface="Arial" pitchFamily="34" charset="-122"/>
                <a:cs typeface="Arial" pitchFamily="34" charset="-120"/>
              </a:rPr>
              <a:t>Más consumo de tokens al usar más agentes</a:t>
            </a:r>
            <a:endParaRPr lang="en-US" sz="1300" dirty="0"/>
          </a:p>
        </p:txBody>
      </p:sp>
      <p:pic>
        <p:nvPicPr>
          <p:cNvPr id="41" name="Image 2" descr="arrow-right">    </p:cNvPr>
          <p:cNvPicPr>
            <a:picLocks noChangeAspect="1"/>
          </p:cNvPicPr>
          <p:nvPr/>
        </p:nvPicPr>
        <p:blipFill>
          <a:blip r:embed="rId3"/>
          <a:srcRect l="0" r="0" t="0" b="0"/>
          <a:stretch/>
        </p:blipFill>
        <p:spPr>
          <a:xfrm>
            <a:off x="5473700" y="4019550"/>
            <a:ext cx="177800" cy="88900"/>
          </a:xfrm>
          <a:prstGeom prst="rect">
            <a:avLst/>
          </a:prstGeom>
        </p:spPr>
      </p:pic>
      <p:sp>
        <p:nvSpPr>
          <p:cNvPr id="42" name="Shape 37"/>
          <p:cNvSpPr/>
          <p:nvPr/>
        </p:nvSpPr>
        <p:spPr>
          <a:xfrm>
            <a:off x="5743575" y="3698875"/>
            <a:ext cx="5632450" cy="730250"/>
          </a:xfrm>
          <a:prstGeom prst="roundRect">
            <a:avLst>
              <a:gd name="adj" fmla="val 10000"/>
            </a:avLst>
          </a:prstGeom>
          <a:solidFill>
            <a:srgbClr val="FCFBF7"/>
          </a:solidFill>
          <a:ln w="6350">
            <a:solidFill>
              <a:srgbClr val="DDD8CC"/>
            </a:solidFill>
            <a:prstDash val="solid"/>
          </a:ln>
        </p:spPr>
      </p:sp>
      <p:sp>
        <p:nvSpPr>
          <p:cNvPr id="43" name="Text 38"/>
          <p:cNvSpPr/>
          <p:nvPr/>
        </p:nvSpPr>
        <p:spPr>
          <a:xfrm>
            <a:off x="5905500" y="3905250"/>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solidFill>
            <a:srgbClr val="E6EEF6"/>
          </a:solidFill>
          <a:ln w="12700">
            <a:solidFill>
              <a:srgbClr val="2B5F8E"/>
            </a:solidFill>
            <a:prstDash val="solid"/>
          </a:ln>
        </p:spPr>
        <p:txBody>
          <a:bodyPr wrap="square" lIns="6350" tIns="6350" rIns="6350" bIns="6350" rtlCol="0" anchor="ctr">
            <a:normAutofit/>
          </a:bodyPr>
          <a:lstStyle/>
          <a:p>
            <a:pPr algn="ctr" indent="0" marL="0">
              <a:lnSpc>
                <a:spcPts val="1960"/>
              </a:lnSpc>
              <a:buNone/>
            </a:pPr>
            <a:r>
              <a:rPr lang="en-US" sz="1400" b="1" dirty="0">
                <a:solidFill>
                  <a:srgbClr val="2B5F8E"/>
                </a:solidFill>
                <a:latin typeface="Arial" pitchFamily="34" charset="0"/>
                <a:ea typeface="Arial" pitchFamily="34" charset="-122"/>
                <a:cs typeface="Arial" pitchFamily="34" charset="-120"/>
              </a:rPr>
              <a:t>✓</a:t>
            </a:r>
            <a:endParaRPr lang="en-US" sz="1400" dirty="0"/>
          </a:p>
        </p:txBody>
      </p:sp>
      <p:sp>
        <p:nvSpPr>
          <p:cNvPr id="44" name="Text 39"/>
          <p:cNvSpPr/>
          <p:nvPr/>
        </p:nvSpPr>
        <p:spPr>
          <a:xfrm>
            <a:off x="6356350" y="3956695"/>
            <a:ext cx="501002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33A"/>
                </a:solidFill>
                <a:latin typeface="Arial" pitchFamily="34" charset="0"/>
                <a:ea typeface="Arial" pitchFamily="34" charset="-122"/>
                <a:cs typeface="Arial" pitchFamily="34" charset="-120"/>
              </a:rPr>
              <a:t>Modelo asignado por etapa y créditos medidos por HU</a:t>
            </a:r>
            <a:endParaRPr lang="en-US" sz="1300" dirty="0"/>
          </a:p>
        </p:txBody>
      </p:sp>
      <p:sp>
        <p:nvSpPr>
          <p:cNvPr id="45" name="Shape 40"/>
          <p:cNvSpPr/>
          <p:nvPr/>
        </p:nvSpPr>
        <p:spPr>
          <a:xfrm>
            <a:off x="812800" y="4495800"/>
            <a:ext cx="4572000" cy="736600"/>
          </a:xfrm>
          <a:prstGeom prst="roundRect">
            <a:avLst>
              <a:gd name="adj" fmla="val 10345"/>
            </a:avLst>
          </a:prstGeom>
          <a:solidFill>
            <a:srgbClr val="FBF4E8"/>
          </a:solidFill>
          <a:ln/>
        </p:spPr>
      </p:sp>
      <p:sp>
        <p:nvSpPr>
          <p:cNvPr id="46" name="Shape 41"/>
          <p:cNvSpPr/>
          <p:nvPr/>
        </p:nvSpPr>
        <p:spPr>
          <a:xfrm>
            <a:off x="812800" y="4495800"/>
            <a:ext cx="4572000" cy="736600"/>
          </a:xfrm>
          <a:custGeom>
            <a:avLst/>
            <a:gdLst/>
            <a:ahLst/>
            <a:cxnLst/>
            <a:rect l="l" t="t" r="r" b="b"/>
            <a:pathLst>
              <a:path w="4572000" h="736600">
                <a:moveTo>
                  <a:pt x="76200" y="736600"/>
                </a:moveTo>
                <a:lnTo>
                  <a:pt x="76200" y="736600"/>
                </a:lnTo>
                <a:arcTo hR="76200" wR="76200" stAng="5400000" swAng="5400000"/>
                <a:lnTo>
                  <a:pt x="0" y="76200"/>
                </a:lnTo>
                <a:arcTo hR="76200" wR="76200" stAng="10800000" swAng="5400000"/>
                <a:lnTo>
                  <a:pt x="76200" y="0"/>
                </a:lnTo>
                <a:arcTo hR="76200" wR="50800" stAng="16200000" swAng="-5400000"/>
                <a:lnTo>
                  <a:pt x="25400" y="660400"/>
                </a:lnTo>
                <a:arcTo hR="76200" wR="50800" stAng="10800000" swAng="-5400000"/>
                <a:close/>
              </a:path>
            </a:pathLst>
          </a:custGeom>
          <a:solidFill>
            <a:srgbClr val="8C5A12"/>
          </a:solidFill>
          <a:ln/>
        </p:spPr>
      </p:sp>
      <p:sp>
        <p:nvSpPr>
          <p:cNvPr id="47" name="Text 42"/>
          <p:cNvSpPr/>
          <p:nvPr/>
        </p:nvSpPr>
        <p:spPr>
          <a:xfrm>
            <a:off x="990600" y="46990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8C5A12"/>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Georgia" pitchFamily="18" charset="0"/>
                <a:ea typeface="Georgia" pitchFamily="18" charset="-122"/>
                <a:cs typeface="Georgia" pitchFamily="18" charset="-120"/>
              </a:rPr>
              <a:t>4</a:t>
            </a:r>
            <a:endParaRPr lang="en-US" sz="1400" dirty="0"/>
          </a:p>
        </p:txBody>
      </p:sp>
      <p:sp>
        <p:nvSpPr>
          <p:cNvPr id="48" name="Text 43"/>
          <p:cNvSpPr/>
          <p:nvPr/>
        </p:nvSpPr>
        <p:spPr>
          <a:xfrm>
            <a:off x="1447800" y="4641552"/>
            <a:ext cx="389813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MEDICIÓN</a:t>
            </a:r>
            <a:endParaRPr lang="en-US" sz="1200" dirty="0"/>
          </a:p>
        </p:txBody>
      </p:sp>
      <p:sp>
        <p:nvSpPr>
          <p:cNvPr id="49" name="Text 44"/>
          <p:cNvSpPr/>
          <p:nvPr/>
        </p:nvSpPr>
        <p:spPr>
          <a:xfrm>
            <a:off x="1447800" y="4880273"/>
            <a:ext cx="389813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33A"/>
                </a:solidFill>
                <a:latin typeface="Arial" pitchFamily="34" charset="0"/>
                <a:ea typeface="Arial" pitchFamily="34" charset="-122"/>
                <a:cs typeface="Arial" pitchFamily="34" charset="-120"/>
              </a:rPr>
              <a:t>Datos autoinformados y muestra pequeña</a:t>
            </a:r>
            <a:endParaRPr lang="en-US" sz="1300" dirty="0"/>
          </a:p>
        </p:txBody>
      </p:sp>
      <p:pic>
        <p:nvPicPr>
          <p:cNvPr id="50" name="Image 3" descr="arrow-right">    </p:cNvPr>
          <p:cNvPicPr>
            <a:picLocks noChangeAspect="1"/>
          </p:cNvPicPr>
          <p:nvPr/>
        </p:nvPicPr>
        <p:blipFill>
          <a:blip r:embed="rId4"/>
          <a:srcRect l="0" r="0" t="0" b="0"/>
          <a:stretch/>
        </p:blipFill>
        <p:spPr>
          <a:xfrm>
            <a:off x="5473700" y="4819650"/>
            <a:ext cx="177800" cy="88900"/>
          </a:xfrm>
          <a:prstGeom prst="rect">
            <a:avLst/>
          </a:prstGeom>
        </p:spPr>
      </p:pic>
      <p:sp>
        <p:nvSpPr>
          <p:cNvPr id="51" name="Shape 45"/>
          <p:cNvSpPr/>
          <p:nvPr/>
        </p:nvSpPr>
        <p:spPr>
          <a:xfrm>
            <a:off x="5743575" y="4498975"/>
            <a:ext cx="5632450" cy="730250"/>
          </a:xfrm>
          <a:prstGeom prst="roundRect">
            <a:avLst>
              <a:gd name="adj" fmla="val 10000"/>
            </a:avLst>
          </a:prstGeom>
          <a:solidFill>
            <a:srgbClr val="FCFBF7"/>
          </a:solidFill>
          <a:ln w="6350">
            <a:solidFill>
              <a:srgbClr val="DDD8CC"/>
            </a:solidFill>
            <a:prstDash val="solid"/>
          </a:ln>
        </p:spPr>
      </p:sp>
      <p:sp>
        <p:nvSpPr>
          <p:cNvPr id="52" name="Text 46"/>
          <p:cNvSpPr/>
          <p:nvPr/>
        </p:nvSpPr>
        <p:spPr>
          <a:xfrm>
            <a:off x="5905500" y="4705350"/>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solidFill>
            <a:srgbClr val="E6EEF6"/>
          </a:solidFill>
          <a:ln w="12700">
            <a:solidFill>
              <a:srgbClr val="2B5F8E"/>
            </a:solidFill>
            <a:prstDash val="solid"/>
          </a:ln>
        </p:spPr>
        <p:txBody>
          <a:bodyPr wrap="square" lIns="6350" tIns="6350" rIns="6350" bIns="6350" rtlCol="0" anchor="ctr">
            <a:normAutofit/>
          </a:bodyPr>
          <a:lstStyle/>
          <a:p>
            <a:pPr algn="ctr" indent="0" marL="0">
              <a:lnSpc>
                <a:spcPts val="1960"/>
              </a:lnSpc>
              <a:buNone/>
            </a:pPr>
            <a:r>
              <a:rPr lang="en-US" sz="1400" b="1" dirty="0">
                <a:solidFill>
                  <a:srgbClr val="2B5F8E"/>
                </a:solidFill>
                <a:latin typeface="Arial" pitchFamily="34" charset="0"/>
                <a:ea typeface="Arial" pitchFamily="34" charset="-122"/>
                <a:cs typeface="Arial" pitchFamily="34" charset="-120"/>
              </a:rPr>
              <a:t>✓</a:t>
            </a:r>
            <a:endParaRPr lang="en-US" sz="1400" dirty="0"/>
          </a:p>
        </p:txBody>
      </p:sp>
      <p:sp>
        <p:nvSpPr>
          <p:cNvPr id="53" name="Text 47"/>
          <p:cNvSpPr/>
          <p:nvPr/>
        </p:nvSpPr>
        <p:spPr>
          <a:xfrm>
            <a:off x="6356350" y="4756795"/>
            <a:ext cx="501002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33A"/>
                </a:solidFill>
                <a:latin typeface="Arial" pitchFamily="34" charset="0"/>
                <a:ea typeface="Arial" pitchFamily="34" charset="-122"/>
                <a:cs typeface="Arial" pitchFamily="34" charset="-120"/>
              </a:rPr>
              <a:t>Medir los pilotos con criterios acordados de antemano</a:t>
            </a:r>
            <a:endParaRPr lang="en-US" sz="1300" dirty="0"/>
          </a:p>
        </p:txBody>
      </p:sp>
      <p:sp>
        <p:nvSpPr>
          <p:cNvPr id="54" name="Shape 48"/>
          <p:cNvSpPr/>
          <p:nvPr/>
        </p:nvSpPr>
        <p:spPr>
          <a:xfrm>
            <a:off x="812800" y="5295900"/>
            <a:ext cx="4572000" cy="736600"/>
          </a:xfrm>
          <a:prstGeom prst="roundRect">
            <a:avLst>
              <a:gd name="adj" fmla="val 10345"/>
            </a:avLst>
          </a:prstGeom>
          <a:solidFill>
            <a:srgbClr val="FBF4E8"/>
          </a:solidFill>
          <a:ln/>
        </p:spPr>
      </p:sp>
      <p:sp>
        <p:nvSpPr>
          <p:cNvPr id="55" name="Shape 49"/>
          <p:cNvSpPr/>
          <p:nvPr/>
        </p:nvSpPr>
        <p:spPr>
          <a:xfrm>
            <a:off x="812800" y="5295900"/>
            <a:ext cx="4572000" cy="736600"/>
          </a:xfrm>
          <a:custGeom>
            <a:avLst/>
            <a:gdLst/>
            <a:ahLst/>
            <a:cxnLst/>
            <a:rect l="l" t="t" r="r" b="b"/>
            <a:pathLst>
              <a:path w="4572000" h="736600">
                <a:moveTo>
                  <a:pt x="76200" y="736600"/>
                </a:moveTo>
                <a:lnTo>
                  <a:pt x="76200" y="736600"/>
                </a:lnTo>
                <a:arcTo hR="76200" wR="76200" stAng="5400000" swAng="5400000"/>
                <a:lnTo>
                  <a:pt x="0" y="76200"/>
                </a:lnTo>
                <a:arcTo hR="76200" wR="76200" stAng="10800000" swAng="5400000"/>
                <a:lnTo>
                  <a:pt x="76200" y="0"/>
                </a:lnTo>
                <a:arcTo hR="76200" wR="50800" stAng="16200000" swAng="-5400000"/>
                <a:lnTo>
                  <a:pt x="25400" y="660400"/>
                </a:lnTo>
                <a:arcTo hR="76200" wR="50800" stAng="10800000" swAng="-5400000"/>
                <a:close/>
              </a:path>
            </a:pathLst>
          </a:custGeom>
          <a:solidFill>
            <a:srgbClr val="8C5A12"/>
          </a:solidFill>
          <a:ln/>
        </p:spPr>
      </p:sp>
      <p:sp>
        <p:nvSpPr>
          <p:cNvPr id="56" name="Text 50"/>
          <p:cNvSpPr/>
          <p:nvPr/>
        </p:nvSpPr>
        <p:spPr>
          <a:xfrm>
            <a:off x="990600" y="54991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8C5A12"/>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Georgia" pitchFamily="18" charset="0"/>
                <a:ea typeface="Georgia" pitchFamily="18" charset="-122"/>
                <a:cs typeface="Georgia" pitchFamily="18" charset="-120"/>
              </a:rPr>
              <a:t>5</a:t>
            </a:r>
            <a:endParaRPr lang="en-US" sz="1400" dirty="0"/>
          </a:p>
        </p:txBody>
      </p:sp>
      <p:sp>
        <p:nvSpPr>
          <p:cNvPr id="57" name="Text 51"/>
          <p:cNvSpPr/>
          <p:nvPr/>
        </p:nvSpPr>
        <p:spPr>
          <a:xfrm>
            <a:off x="1447800" y="5441652"/>
            <a:ext cx="389813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Arial" pitchFamily="34" charset="0"/>
                <a:ea typeface="Arial" pitchFamily="34" charset="-122"/>
                <a:cs typeface="Arial" pitchFamily="34" charset="-120"/>
              </a:rPr>
              <a:t>SEGURIDAD</a:t>
            </a:r>
            <a:endParaRPr lang="en-US" sz="1200" dirty="0"/>
          </a:p>
        </p:txBody>
      </p:sp>
      <p:sp>
        <p:nvSpPr>
          <p:cNvPr id="58" name="Text 52"/>
          <p:cNvSpPr/>
          <p:nvPr/>
        </p:nvSpPr>
        <p:spPr>
          <a:xfrm>
            <a:off x="1447800" y="5680373"/>
            <a:ext cx="3898138"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233A"/>
                </a:solidFill>
                <a:latin typeface="Arial" pitchFamily="34" charset="0"/>
                <a:ea typeface="Arial" pitchFamily="34" charset="-122"/>
                <a:cs typeface="Arial" pitchFamily="34" charset="-120"/>
              </a:rPr>
              <a:t>Políticas que bloquean cuentas al correr tests</a:t>
            </a:r>
            <a:endParaRPr lang="en-US" sz="1300" dirty="0"/>
          </a:p>
        </p:txBody>
      </p:sp>
      <p:pic>
        <p:nvPicPr>
          <p:cNvPr id="59" name="Image 4" descr="arrow-right">    </p:cNvPr>
          <p:cNvPicPr>
            <a:picLocks noChangeAspect="1"/>
          </p:cNvPicPr>
          <p:nvPr/>
        </p:nvPicPr>
        <p:blipFill>
          <a:blip r:embed="rId5"/>
          <a:srcRect l="0" r="0" t="0" b="0"/>
          <a:stretch/>
        </p:blipFill>
        <p:spPr>
          <a:xfrm>
            <a:off x="5473700" y="5619750"/>
            <a:ext cx="177800" cy="88900"/>
          </a:xfrm>
          <a:prstGeom prst="rect">
            <a:avLst/>
          </a:prstGeom>
        </p:spPr>
      </p:pic>
      <p:sp>
        <p:nvSpPr>
          <p:cNvPr id="60" name="Shape 53"/>
          <p:cNvSpPr/>
          <p:nvPr/>
        </p:nvSpPr>
        <p:spPr>
          <a:xfrm>
            <a:off x="5743575" y="5299075"/>
            <a:ext cx="5632450" cy="730250"/>
          </a:xfrm>
          <a:prstGeom prst="roundRect">
            <a:avLst>
              <a:gd name="adj" fmla="val 10000"/>
            </a:avLst>
          </a:prstGeom>
          <a:solidFill>
            <a:srgbClr val="FCFBF7"/>
          </a:solidFill>
          <a:ln w="6350">
            <a:solidFill>
              <a:srgbClr val="DDD8CC"/>
            </a:solidFill>
            <a:prstDash val="solid"/>
          </a:ln>
        </p:spPr>
      </p:sp>
      <p:sp>
        <p:nvSpPr>
          <p:cNvPr id="61" name="Text 54"/>
          <p:cNvSpPr/>
          <p:nvPr/>
        </p:nvSpPr>
        <p:spPr>
          <a:xfrm>
            <a:off x="5905500" y="5505450"/>
            <a:ext cx="317500" cy="317500"/>
          </a:xfrm>
          <a:custGeom>
            <a:avLst/>
            <a:gdLst/>
            <a:ahLst/>
            <a:cxnLst/>
            <a:rect l="l" t="t" r="r" b="b"/>
            <a:pathLst>
              <a:path w="317500" h="317500">
                <a:moveTo>
                  <a:pt x="158750" y="0"/>
                </a:moveTo>
                <a:lnTo>
                  <a:pt x="158750" y="0"/>
                </a:lnTo>
                <a:arcTo hR="158750" wR="158750" stAng="16200000" swAng="5400000"/>
                <a:lnTo>
                  <a:pt x="317500" y="158750"/>
                </a:lnTo>
                <a:arcTo hR="158750" wR="158750" stAng="0" swAng="5400000"/>
                <a:lnTo>
                  <a:pt x="158750" y="317500"/>
                </a:lnTo>
                <a:arcTo hR="158750" wR="158750" stAng="5400000" swAng="5400000"/>
                <a:lnTo>
                  <a:pt x="0" y="158750"/>
                </a:lnTo>
                <a:arcTo hR="158750" wR="158750" stAng="10800000" swAng="5400000"/>
                <a:close/>
              </a:path>
            </a:pathLst>
          </a:custGeom>
          <a:solidFill>
            <a:srgbClr val="E6EEF6"/>
          </a:solidFill>
          <a:ln w="12700">
            <a:solidFill>
              <a:srgbClr val="2B5F8E"/>
            </a:solidFill>
            <a:prstDash val="solid"/>
          </a:ln>
        </p:spPr>
        <p:txBody>
          <a:bodyPr wrap="square" lIns="6350" tIns="6350" rIns="6350" bIns="6350" rtlCol="0" anchor="ctr">
            <a:normAutofit/>
          </a:bodyPr>
          <a:lstStyle/>
          <a:p>
            <a:pPr algn="ctr" indent="0" marL="0">
              <a:lnSpc>
                <a:spcPts val="1960"/>
              </a:lnSpc>
              <a:buNone/>
            </a:pPr>
            <a:r>
              <a:rPr lang="en-US" sz="1400" b="1" dirty="0">
                <a:solidFill>
                  <a:srgbClr val="2B5F8E"/>
                </a:solidFill>
                <a:latin typeface="Arial" pitchFamily="34" charset="0"/>
                <a:ea typeface="Arial" pitchFamily="34" charset="-122"/>
                <a:cs typeface="Arial" pitchFamily="34" charset="-120"/>
              </a:rPr>
              <a:t>✓</a:t>
            </a:r>
            <a:endParaRPr lang="en-US" sz="1400" dirty="0"/>
          </a:p>
        </p:txBody>
      </p:sp>
      <p:sp>
        <p:nvSpPr>
          <p:cNvPr id="62" name="Text 55"/>
          <p:cNvSpPr/>
          <p:nvPr/>
        </p:nvSpPr>
        <p:spPr>
          <a:xfrm>
            <a:off x="6356350" y="5556895"/>
            <a:ext cx="5010023"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4233A"/>
                </a:solidFill>
                <a:latin typeface="Arial" pitchFamily="34" charset="0"/>
                <a:ea typeface="Arial" pitchFamily="34" charset="-122"/>
                <a:cs typeface="Arial" pitchFamily="34" charset="-120"/>
              </a:rPr>
              <a:t>Revisarlo con el área de seguridad antes de los pilotos</a:t>
            </a:r>
            <a:endParaRPr lang="en-US" sz="1300" dirty="0"/>
          </a:p>
        </p:txBody>
      </p:sp>
      <p:sp>
        <p:nvSpPr>
          <p:cNvPr id="63" name="Text 56"/>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64" name="Text 57"/>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CONTEXTO</a:t>
            </a:r>
            <a:endParaRPr lang="en-US" sz="1200" dirty="0"/>
          </a:p>
        </p:txBody>
      </p:sp>
      <p:sp>
        <p:nvSpPr>
          <p:cNvPr id="3" name="Shape 1"/>
          <p:cNvSpPr/>
          <p:nvPr/>
        </p:nvSpPr>
        <p:spPr>
          <a:xfrm>
            <a:off x="812800" y="530820"/>
            <a:ext cx="1697534" cy="25400"/>
          </a:xfrm>
          <a:prstGeom prst="rect">
            <a:avLst/>
          </a:prstGeom>
          <a:solidFill>
            <a:srgbClr val="2B5F8E"/>
          </a:solidFill>
          <a:ln/>
        </p:spPr>
      </p:sp>
      <p:sp>
        <p:nvSpPr>
          <p:cNvPr id="4" name="Text 2"/>
          <p:cNvSpPr/>
          <p:nvPr/>
        </p:nvSpPr>
        <p:spPr>
          <a:xfrm>
            <a:off x="25865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EVOLUCIÓN</a:t>
            </a:r>
            <a:endParaRPr lang="en-US" sz="1200" dirty="0"/>
          </a:p>
        </p:txBody>
      </p:sp>
      <p:sp>
        <p:nvSpPr>
          <p:cNvPr id="5" name="Shape 3"/>
          <p:cNvSpPr/>
          <p:nvPr/>
        </p:nvSpPr>
        <p:spPr>
          <a:xfrm>
            <a:off x="2586534" y="530820"/>
            <a:ext cx="1697583" cy="25400"/>
          </a:xfrm>
          <a:prstGeom prst="rect">
            <a:avLst/>
          </a:prstGeom>
          <a:solidFill>
            <a:srgbClr val="2B5F8E"/>
          </a:solidFill>
          <a:ln/>
        </p:spPr>
      </p:sp>
      <p:sp>
        <p:nvSpPr>
          <p:cNvPr id="6" name="Text 4"/>
          <p:cNvSpPr/>
          <p:nvPr/>
        </p:nvSpPr>
        <p:spPr>
          <a:xfrm>
            <a:off x="4360317" y="279400"/>
            <a:ext cx="174846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ESTUDIO</a:t>
            </a:r>
            <a:endParaRPr lang="en-US" sz="1200" dirty="0"/>
          </a:p>
        </p:txBody>
      </p:sp>
      <p:sp>
        <p:nvSpPr>
          <p:cNvPr id="7" name="Shape 5"/>
          <p:cNvSpPr/>
          <p:nvPr/>
        </p:nvSpPr>
        <p:spPr>
          <a:xfrm>
            <a:off x="4360317" y="530820"/>
            <a:ext cx="1697534" cy="25400"/>
          </a:xfrm>
          <a:prstGeom prst="rect">
            <a:avLst/>
          </a:prstGeom>
          <a:solidFill>
            <a:srgbClr val="2B5F8E"/>
          </a:solidFill>
          <a:ln/>
        </p:spPr>
      </p:sp>
      <p:sp>
        <p:nvSpPr>
          <p:cNvPr id="8" name="Text 6"/>
          <p:cNvSpPr/>
          <p:nvPr/>
        </p:nvSpPr>
        <p:spPr>
          <a:xfrm>
            <a:off x="6134050"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1.0</a:t>
            </a:r>
            <a:endParaRPr lang="en-US" sz="1200" dirty="0"/>
          </a:p>
        </p:txBody>
      </p:sp>
      <p:sp>
        <p:nvSpPr>
          <p:cNvPr id="9" name="Shape 7"/>
          <p:cNvSpPr/>
          <p:nvPr/>
        </p:nvSpPr>
        <p:spPr>
          <a:xfrm>
            <a:off x="6134050" y="530820"/>
            <a:ext cx="1697583" cy="25400"/>
          </a:xfrm>
          <a:prstGeom prst="rect">
            <a:avLst/>
          </a:prstGeom>
          <a:solidFill>
            <a:srgbClr val="2B5F8E"/>
          </a:solidFill>
          <a:ln/>
        </p:spPr>
      </p:sp>
      <p:sp>
        <p:nvSpPr>
          <p:cNvPr id="10" name="Text 8"/>
          <p:cNvSpPr/>
          <p:nvPr/>
        </p:nvSpPr>
        <p:spPr>
          <a:xfrm>
            <a:off x="7907834"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646B76"/>
                </a:solidFill>
                <a:latin typeface="Arial" pitchFamily="34" charset="0"/>
                <a:ea typeface="Arial" pitchFamily="34" charset="-122"/>
                <a:cs typeface="Arial" pitchFamily="34" charset="-120"/>
              </a:rPr>
              <a:t>MODELO 2.0</a:t>
            </a:r>
            <a:endParaRPr lang="en-US" sz="1200" dirty="0"/>
          </a:p>
        </p:txBody>
      </p:sp>
      <p:sp>
        <p:nvSpPr>
          <p:cNvPr id="11" name="Shape 9"/>
          <p:cNvSpPr/>
          <p:nvPr/>
        </p:nvSpPr>
        <p:spPr>
          <a:xfrm>
            <a:off x="7907834" y="530820"/>
            <a:ext cx="1697583" cy="25400"/>
          </a:xfrm>
          <a:prstGeom prst="rect">
            <a:avLst/>
          </a:prstGeom>
          <a:solidFill>
            <a:srgbClr val="2B5F8E"/>
          </a:solidFill>
          <a:ln/>
        </p:spPr>
      </p:sp>
      <p:sp>
        <p:nvSpPr>
          <p:cNvPr id="12" name="Text 10"/>
          <p:cNvSpPr/>
          <p:nvPr/>
        </p:nvSpPr>
        <p:spPr>
          <a:xfrm>
            <a:off x="9681617" y="279400"/>
            <a:ext cx="174851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4233A"/>
                </a:solidFill>
                <a:latin typeface="Arial" pitchFamily="34" charset="0"/>
                <a:ea typeface="Arial" pitchFamily="34" charset="-122"/>
                <a:cs typeface="Arial" pitchFamily="34" charset="-120"/>
              </a:rPr>
              <a:t>PRÓXIMOS PASOS</a:t>
            </a:r>
            <a:endParaRPr lang="en-US" sz="1200" dirty="0"/>
          </a:p>
        </p:txBody>
      </p:sp>
      <p:sp>
        <p:nvSpPr>
          <p:cNvPr id="13" name="Shape 11"/>
          <p:cNvSpPr/>
          <p:nvPr/>
        </p:nvSpPr>
        <p:spPr>
          <a:xfrm>
            <a:off x="9681617" y="530820"/>
            <a:ext cx="1697583" cy="25400"/>
          </a:xfrm>
          <a:prstGeom prst="rect">
            <a:avLst/>
          </a:prstGeom>
          <a:solidFill>
            <a:srgbClr val="2B5F8E"/>
          </a:solidFill>
          <a:ln/>
        </p:spPr>
      </p:sp>
      <p:sp>
        <p:nvSpPr>
          <p:cNvPr id="14" name="Text 1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Arial" pitchFamily="34" charset="0"/>
                <a:ea typeface="Arial" pitchFamily="34" charset="-122"/>
                <a:cs typeface="Arial" pitchFamily="34" charset="-120"/>
              </a:rPr>
              <a:t>PROPUESTA</a:t>
            </a:r>
            <a:endParaRPr lang="en-US" sz="1200" dirty="0"/>
          </a:p>
        </p:txBody>
      </p:sp>
      <p:sp>
        <p:nvSpPr>
          <p:cNvPr id="15" name="Text 1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Georgia" pitchFamily="18" charset="0"/>
                <a:ea typeface="Georgia" pitchFamily="18" charset="-122"/>
                <a:cs typeface="Georgia" pitchFamily="18" charset="-120"/>
              </a:rPr>
              <a:t>Validar antes de adoptar como norma</a:t>
            </a:r>
            <a:endParaRPr lang="en-US" sz="3200" dirty="0"/>
          </a:p>
        </p:txBody>
      </p:sp>
      <p:sp>
        <p:nvSpPr>
          <p:cNvPr id="16" name="Shape 14"/>
          <p:cNvSpPr/>
          <p:nvPr/>
        </p:nvSpPr>
        <p:spPr>
          <a:xfrm>
            <a:off x="812800" y="1903016"/>
            <a:ext cx="6197600" cy="0"/>
          </a:xfrm>
          <a:prstGeom prst="line">
            <a:avLst/>
          </a:prstGeom>
          <a:noFill/>
          <a:ln w="6350">
            <a:solidFill>
              <a:srgbClr val="DDD8CC"/>
            </a:solidFill>
            <a:prstDash val="solid"/>
          </a:ln>
        </p:spPr>
      </p:sp>
      <p:sp>
        <p:nvSpPr>
          <p:cNvPr id="17" name="Text 15"/>
          <p:cNvSpPr/>
          <p:nvPr/>
        </p:nvSpPr>
        <p:spPr>
          <a:xfrm>
            <a:off x="812800" y="2033191"/>
            <a:ext cx="355600" cy="1226691"/>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2B5F8E"/>
                </a:solidFill>
                <a:latin typeface="Georgia" pitchFamily="18" charset="0"/>
                <a:ea typeface="Georgia" pitchFamily="18" charset="-122"/>
                <a:cs typeface="Georgia" pitchFamily="18" charset="-120"/>
              </a:rPr>
              <a:t>1</a:t>
            </a:r>
            <a:endParaRPr lang="en-US" sz="1800" dirty="0"/>
          </a:p>
        </p:txBody>
      </p:sp>
      <p:sp>
        <p:nvSpPr>
          <p:cNvPr id="18" name="Text 16"/>
          <p:cNvSpPr/>
          <p:nvPr/>
        </p:nvSpPr>
        <p:spPr>
          <a:xfrm>
            <a:off x="1295400" y="2033191"/>
            <a:ext cx="58864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Pilotos acotados</a:t>
            </a:r>
            <a:endParaRPr lang="en-US" sz="1400" dirty="0"/>
          </a:p>
        </p:txBody>
      </p:sp>
      <p:sp>
        <p:nvSpPr>
          <p:cNvPr id="19" name="Text 17"/>
          <p:cNvSpPr/>
          <p:nvPr/>
        </p:nvSpPr>
        <p:spPr>
          <a:xfrm>
            <a:off x="1295400" y="2302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Casos pequeños y de bajo riesgo, con el Modelo 2.0 completo.</a:t>
            </a:r>
            <a:endParaRPr lang="en-US" sz="1200" dirty="0"/>
          </a:p>
        </p:txBody>
      </p:sp>
      <p:sp>
        <p:nvSpPr>
          <p:cNvPr id="20" name="Text 18"/>
          <p:cNvSpPr/>
          <p:nvPr/>
        </p:nvSpPr>
        <p:spPr>
          <a:xfrm>
            <a:off x="1295400" y="2553841"/>
            <a:ext cx="2055267" cy="302220"/>
          </a:xfrm>
          <a:custGeom>
            <a:avLst/>
            <a:gdLst/>
            <a:ahLst/>
            <a:cxnLst/>
            <a:rect l="l" t="t" r="r" b="b"/>
            <a:pathLst>
              <a:path w="2055267" h="302220">
                <a:moveTo>
                  <a:pt x="151110" y="0"/>
                </a:moveTo>
                <a:lnTo>
                  <a:pt x="1904157" y="0"/>
                </a:lnTo>
                <a:arcTo hR="151110" wR="151110" stAng="16200000" swAng="5400000"/>
                <a:lnTo>
                  <a:pt x="2055267" y="151110"/>
                </a:lnTo>
                <a:arcTo hR="151110" wR="151110" stAng="0" swAng="5400000"/>
                <a:lnTo>
                  <a:pt x="151110" y="302220"/>
                </a:lnTo>
                <a:arcTo hR="151110" wR="151110" stAng="5400000" swAng="5400000"/>
                <a:lnTo>
                  <a:pt x="0" y="151110"/>
                </a:lnTo>
                <a:arcTo hR="151110" wR="151110" stAng="10800000" swAng="5400000"/>
                <a:close/>
              </a:path>
            </a:pathLst>
          </a:custGeom>
          <a:solidFill>
            <a:srgbClr val="2B5F8E"/>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Arial" pitchFamily="34" charset="0"/>
                <a:ea typeface="Arial" pitchFamily="34" charset="-122"/>
                <a:cs typeface="Arial" pitchFamily="34" charset="-120"/>
              </a:rPr>
              <a:t>Backoffice Clínica Virtual</a:t>
            </a:r>
            <a:endParaRPr lang="en-US" sz="1200" dirty="0"/>
          </a:p>
        </p:txBody>
      </p:sp>
      <p:sp>
        <p:nvSpPr>
          <p:cNvPr id="21" name="Text 19"/>
          <p:cNvSpPr/>
          <p:nvPr/>
        </p:nvSpPr>
        <p:spPr>
          <a:xfrm>
            <a:off x="3430042" y="2557016"/>
            <a:ext cx="2580928" cy="295870"/>
          </a:xfrm>
          <a:prstGeom prst="roundRect">
            <a:avLst>
              <a:gd name="adj" fmla="val 50000"/>
            </a:avLst>
          </a:prstGeom>
          <a:solidFill>
            <a:srgbClr val="E6EEF6"/>
          </a:solidFill>
          <a:ln w="6350">
            <a:solidFill>
              <a:srgbClr val="2B5F8E"/>
            </a:solidFill>
            <a:prstDash val="solid"/>
          </a:ln>
        </p:spPr>
        <p:txBody>
          <a:bodyPr wrap="none" lIns="0" tIns="0" rIns="0" bIns="0" rtlCol="0" anchor="ctr">
            <a:normAutofit/>
          </a:bodyPr>
          <a:lstStyle/>
          <a:p>
            <a:pPr algn="ctr" indent="0" marL="0">
              <a:lnSpc>
                <a:spcPts val="1680"/>
              </a:lnSpc>
              <a:buNone/>
            </a:pPr>
            <a:r>
              <a:rPr lang="en-US" sz="1200" b="1" dirty="0">
                <a:solidFill>
                  <a:srgbClr val="1F4A73"/>
                </a:solidFill>
                <a:latin typeface="Arial" pitchFamily="34" charset="0"/>
                <a:ea typeface="Arial" pitchFamily="34" charset="-122"/>
                <a:cs typeface="Arial" pitchFamily="34" charset="-120"/>
              </a:rPr>
              <a:t>Próximo: Backoffice de Banners</a:t>
            </a:r>
            <a:endParaRPr lang="en-US" sz="1200" dirty="0"/>
          </a:p>
        </p:txBody>
      </p:sp>
      <p:sp>
        <p:nvSpPr>
          <p:cNvPr id="22" name="Text 20"/>
          <p:cNvSpPr/>
          <p:nvPr/>
        </p:nvSpPr>
        <p:spPr>
          <a:xfrm>
            <a:off x="1298575" y="2935436"/>
            <a:ext cx="2157809" cy="295870"/>
          </a:xfrm>
          <a:prstGeom prst="roundRect">
            <a:avLst>
              <a:gd name="adj" fmla="val 50000"/>
            </a:avLst>
          </a:prstGeom>
          <a:solidFill>
            <a:srgbClr val="FCFBF7"/>
          </a:solidFill>
          <a:ln w="6350">
            <a:solidFill>
              <a:srgbClr val="9AA5B4"/>
            </a:solidFill>
            <a:prstDash val="dash"/>
          </a:ln>
        </p:spPr>
        <p:txBody>
          <a:bodyPr wrap="none" lIns="0" tIns="0" rIns="0" bIns="0" rtlCol="0" anchor="ctr">
            <a:normAutofit/>
          </a:bodyPr>
          <a:lstStyle/>
          <a:p>
            <a:pPr algn="ctr" indent="0" marL="0">
              <a:lnSpc>
                <a:spcPts val="1680"/>
              </a:lnSpc>
              <a:buNone/>
            </a:pPr>
            <a:r>
              <a:rPr lang="en-US" sz="1200" dirty="0">
                <a:solidFill>
                  <a:srgbClr val="4A5363"/>
                </a:solidFill>
                <a:latin typeface="Arial" pitchFamily="34" charset="0"/>
                <a:ea typeface="Arial" pitchFamily="34" charset="-122"/>
                <a:cs typeface="Arial" pitchFamily="34" charset="-120"/>
              </a:rPr>
              <a:t>y más proyectos de la célula</a:t>
            </a:r>
            <a:endParaRPr lang="en-US" sz="1200" dirty="0"/>
          </a:p>
        </p:txBody>
      </p:sp>
      <p:sp>
        <p:nvSpPr>
          <p:cNvPr id="23" name="Shape 21"/>
          <p:cNvSpPr/>
          <p:nvPr/>
        </p:nvSpPr>
        <p:spPr>
          <a:xfrm>
            <a:off x="812800" y="3415457"/>
            <a:ext cx="6197600" cy="0"/>
          </a:xfrm>
          <a:prstGeom prst="line">
            <a:avLst/>
          </a:prstGeom>
          <a:noFill/>
          <a:ln w="6350">
            <a:solidFill>
              <a:srgbClr val="DDD8CC"/>
            </a:solidFill>
            <a:prstDash val="solid"/>
          </a:ln>
        </p:spPr>
      </p:sp>
      <p:sp>
        <p:nvSpPr>
          <p:cNvPr id="24" name="Text 22"/>
          <p:cNvSpPr/>
          <p:nvPr/>
        </p:nvSpPr>
        <p:spPr>
          <a:xfrm>
            <a:off x="812800" y="3545632"/>
            <a:ext cx="355600" cy="5079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2B5F8E"/>
                </a:solidFill>
                <a:latin typeface="Georgia" pitchFamily="18" charset="0"/>
                <a:ea typeface="Georgia" pitchFamily="18" charset="-122"/>
                <a:cs typeface="Georgia" pitchFamily="18" charset="-120"/>
              </a:rPr>
              <a:t>2</a:t>
            </a:r>
            <a:endParaRPr lang="en-US" sz="1800" dirty="0"/>
          </a:p>
        </p:txBody>
      </p:sp>
      <p:sp>
        <p:nvSpPr>
          <p:cNvPr id="25" name="Text 23"/>
          <p:cNvSpPr/>
          <p:nvPr/>
        </p:nvSpPr>
        <p:spPr>
          <a:xfrm>
            <a:off x="1295400" y="3545632"/>
            <a:ext cx="58864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Medición</a:t>
            </a:r>
            <a:endParaRPr lang="en-US" sz="1400" dirty="0"/>
          </a:p>
        </p:txBody>
      </p:sp>
      <p:sp>
        <p:nvSpPr>
          <p:cNvPr id="26" name="Text 24"/>
          <p:cNvSpPr/>
          <p:nvPr/>
        </p:nvSpPr>
        <p:spPr>
          <a:xfrm>
            <a:off x="1295400" y="381486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Éxito, retrabajo, tiempo, créditos y defectos, frente a la línea base de la bitácora.</a:t>
            </a:r>
            <a:endParaRPr lang="en-US" sz="1200" dirty="0"/>
          </a:p>
        </p:txBody>
      </p:sp>
      <p:sp>
        <p:nvSpPr>
          <p:cNvPr id="27" name="Shape 25"/>
          <p:cNvSpPr/>
          <p:nvPr/>
        </p:nvSpPr>
        <p:spPr>
          <a:xfrm>
            <a:off x="812800" y="4209157"/>
            <a:ext cx="6197600" cy="0"/>
          </a:xfrm>
          <a:prstGeom prst="line">
            <a:avLst/>
          </a:prstGeom>
          <a:noFill/>
          <a:ln w="6350">
            <a:solidFill>
              <a:srgbClr val="DDD8CC"/>
            </a:solidFill>
            <a:prstDash val="solid"/>
          </a:ln>
        </p:spPr>
      </p:sp>
      <p:sp>
        <p:nvSpPr>
          <p:cNvPr id="28" name="Text 26"/>
          <p:cNvSpPr/>
          <p:nvPr/>
        </p:nvSpPr>
        <p:spPr>
          <a:xfrm>
            <a:off x="812800" y="4339332"/>
            <a:ext cx="355600" cy="5079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2B5F8E"/>
                </a:solidFill>
                <a:latin typeface="Georgia" pitchFamily="18" charset="0"/>
                <a:ea typeface="Georgia" pitchFamily="18" charset="-122"/>
                <a:cs typeface="Georgia" pitchFamily="18" charset="-120"/>
              </a:rPr>
              <a:t>3</a:t>
            </a:r>
            <a:endParaRPr lang="en-US" sz="1800" dirty="0"/>
          </a:p>
        </p:txBody>
      </p:sp>
      <p:sp>
        <p:nvSpPr>
          <p:cNvPr id="29" name="Text 27"/>
          <p:cNvSpPr/>
          <p:nvPr/>
        </p:nvSpPr>
        <p:spPr>
          <a:xfrm>
            <a:off x="1295400" y="4339332"/>
            <a:ext cx="58864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Extensión</a:t>
            </a:r>
            <a:endParaRPr lang="en-US" sz="1400" dirty="0"/>
          </a:p>
        </p:txBody>
      </p:sp>
      <p:sp>
        <p:nvSpPr>
          <p:cNvPr id="30" name="Text 28"/>
          <p:cNvSpPr/>
          <p:nvPr/>
        </p:nvSpPr>
        <p:spPr>
          <a:xfrm>
            <a:off x="1295400" y="460856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Llevar el modelo a más repositorios de la célula según los resultados.</a:t>
            </a:r>
            <a:endParaRPr lang="en-US" sz="1200" dirty="0"/>
          </a:p>
        </p:txBody>
      </p:sp>
      <p:sp>
        <p:nvSpPr>
          <p:cNvPr id="31" name="Shape 29"/>
          <p:cNvSpPr/>
          <p:nvPr/>
        </p:nvSpPr>
        <p:spPr>
          <a:xfrm>
            <a:off x="812800" y="5002857"/>
            <a:ext cx="6197600" cy="0"/>
          </a:xfrm>
          <a:prstGeom prst="line">
            <a:avLst/>
          </a:prstGeom>
          <a:noFill/>
          <a:ln w="6350">
            <a:solidFill>
              <a:srgbClr val="DDD8CC"/>
            </a:solidFill>
            <a:prstDash val="solid"/>
          </a:ln>
        </p:spPr>
      </p:sp>
      <p:sp>
        <p:nvSpPr>
          <p:cNvPr id="32" name="Text 30"/>
          <p:cNvSpPr/>
          <p:nvPr/>
        </p:nvSpPr>
        <p:spPr>
          <a:xfrm>
            <a:off x="812800" y="5133032"/>
            <a:ext cx="355600" cy="5079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2B5F8E"/>
                </a:solidFill>
                <a:latin typeface="Georgia" pitchFamily="18" charset="0"/>
                <a:ea typeface="Georgia" pitchFamily="18" charset="-122"/>
                <a:cs typeface="Georgia" pitchFamily="18" charset="-120"/>
              </a:rPr>
              <a:t>4</a:t>
            </a:r>
            <a:endParaRPr lang="en-US" sz="1800" dirty="0"/>
          </a:p>
        </p:txBody>
      </p:sp>
      <p:sp>
        <p:nvSpPr>
          <p:cNvPr id="33" name="Text 31"/>
          <p:cNvSpPr/>
          <p:nvPr/>
        </p:nvSpPr>
        <p:spPr>
          <a:xfrm>
            <a:off x="1295400" y="5133032"/>
            <a:ext cx="58864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Arial" pitchFamily="34" charset="0"/>
                <a:ea typeface="Arial" pitchFamily="34" charset="-122"/>
                <a:cs typeface="Arial" pitchFamily="34" charset="-120"/>
              </a:rPr>
              <a:t>Gobierno continuo</a:t>
            </a:r>
            <a:endParaRPr lang="en-US" sz="1400" dirty="0"/>
          </a:p>
        </p:txBody>
      </p:sp>
      <p:sp>
        <p:nvSpPr>
          <p:cNvPr id="34" name="Text 32"/>
          <p:cNvSpPr/>
          <p:nvPr/>
        </p:nvSpPr>
        <p:spPr>
          <a:xfrm>
            <a:off x="1295400" y="5402263"/>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Arial" pitchFamily="34" charset="0"/>
                <a:ea typeface="Arial" pitchFamily="34" charset="-122"/>
                <a:cs typeface="Arial" pitchFamily="34" charset="-120"/>
              </a:rPr>
              <a:t>Revisión trimestral del estándar con lo registrado en la bitácora.</a:t>
            </a:r>
            <a:endParaRPr lang="en-US" sz="1200" dirty="0"/>
          </a:p>
        </p:txBody>
      </p:sp>
      <p:sp>
        <p:nvSpPr>
          <p:cNvPr id="35" name="Shape 33"/>
          <p:cNvSpPr/>
          <p:nvPr/>
        </p:nvSpPr>
        <p:spPr>
          <a:xfrm>
            <a:off x="7315200" y="1899841"/>
            <a:ext cx="4064000" cy="3715742"/>
          </a:xfrm>
          <a:prstGeom prst="roundRect">
            <a:avLst>
              <a:gd name="adj" fmla="val 2734"/>
            </a:avLst>
          </a:prstGeom>
          <a:solidFill>
            <a:srgbClr val="14233A"/>
          </a:solidFill>
          <a:ln/>
        </p:spPr>
      </p:sp>
      <p:sp>
        <p:nvSpPr>
          <p:cNvPr id="36" name="Text 34"/>
          <p:cNvSpPr/>
          <p:nvPr/>
        </p:nvSpPr>
        <p:spPr>
          <a:xfrm>
            <a:off x="7569200" y="2153841"/>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D9A55A"/>
                </a:solidFill>
                <a:latin typeface="Arial" pitchFamily="34" charset="0"/>
                <a:ea typeface="Arial" pitchFamily="34" charset="-122"/>
                <a:cs typeface="Arial" pitchFamily="34" charset="-120"/>
              </a:rPr>
              <a:t>LO QUE SOLICITAMOS</a:t>
            </a:r>
            <a:endParaRPr lang="en-US" sz="1200" dirty="0"/>
          </a:p>
        </p:txBody>
      </p:sp>
      <p:sp>
        <p:nvSpPr>
          <p:cNvPr id="37" name="Text 35"/>
          <p:cNvSpPr/>
          <p:nvPr/>
        </p:nvSpPr>
        <p:spPr>
          <a:xfrm>
            <a:off x="7569200" y="2544961"/>
            <a:ext cx="3662680"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7F6F2"/>
                </a:solidFill>
                <a:latin typeface="Georgia" pitchFamily="18" charset="0"/>
                <a:ea typeface="Georgia" pitchFamily="18" charset="-122"/>
                <a:cs typeface="Georgia" pitchFamily="18" charset="-120"/>
              </a:rPr>
              <a:t>Tres decisiones para avanzar</a:t>
            </a:r>
            <a:endParaRPr lang="en-US" sz="1800" dirty="0"/>
          </a:p>
        </p:txBody>
      </p:sp>
      <p:sp>
        <p:nvSpPr>
          <p:cNvPr id="38" name="Text 36"/>
          <p:cNvSpPr/>
          <p:nvPr/>
        </p:nvSpPr>
        <p:spPr>
          <a:xfrm>
            <a:off x="7666482" y="3008511"/>
            <a:ext cx="3557778" cy="1269851"/>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dirty="0">
                <a:solidFill>
                  <a:srgbClr val="C5CFDA"/>
                </a:solidFill>
                <a:latin typeface="Arial" pitchFamily="34" charset="0"/>
                <a:ea typeface="Arial" pitchFamily="34" charset="-122"/>
                <a:cs typeface="Arial" pitchFamily="34" charset="-120"/>
              </a:rPr>
              <a:t>Aprobar los pilotos del Modelo 2.0</a:t>
            </a:r>
            <a:endParaRPr lang="en-US" sz="1400" dirty="0"/>
          </a:p>
          <a:p>
            <a:pPr algn="l" marL="156718" indent="-156718">
              <a:lnSpc>
                <a:spcPts val="1960"/>
              </a:lnSpc>
              <a:buSzPct val="100000"/>
              <a:buChar char="•"/>
            </a:pPr>
            <a:r>
              <a:rPr lang="en-US" sz="1400" dirty="0">
                <a:solidFill>
                  <a:srgbClr val="C5CFDA"/>
                </a:solidFill>
                <a:latin typeface="Arial" pitchFamily="34" charset="0"/>
                <a:ea typeface="Arial" pitchFamily="34" charset="-122"/>
                <a:cs typeface="Arial" pitchFamily="34" charset="-120"/>
              </a:rPr>
              <a:t>Reservar capacidad del equipo durante los pilotos</a:t>
            </a:r>
            <a:endParaRPr lang="en-US" sz="1400" dirty="0"/>
          </a:p>
          <a:p>
            <a:pPr algn="l" marL="156718" indent="-156718">
              <a:lnSpc>
                <a:spcPts val="1960"/>
              </a:lnSpc>
              <a:buSzPct val="100000"/>
              <a:buChar char="•"/>
            </a:pPr>
            <a:r>
              <a:rPr lang="en-US" sz="1400" dirty="0">
                <a:solidFill>
                  <a:srgbClr val="C5CFDA"/>
                </a:solidFill>
                <a:latin typeface="Arial" pitchFamily="34" charset="0"/>
                <a:ea typeface="Arial" pitchFamily="34" charset="-122"/>
                <a:cs typeface="Arial" pitchFamily="34" charset="-120"/>
              </a:rPr>
              <a:t>Decidir con los resultados si se adopta como norma de la célula</a:t>
            </a:r>
            <a:endParaRPr lang="en-US" sz="1400" dirty="0"/>
          </a:p>
        </p:txBody>
      </p:sp>
      <p:sp>
        <p:nvSpPr>
          <p:cNvPr id="39" name="Text 37"/>
          <p:cNvSpPr/>
          <p:nvPr/>
        </p:nvSpPr>
        <p:spPr>
          <a:xfrm>
            <a:off x="812800" y="6238280"/>
            <a:ext cx="4960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Arial" pitchFamily="34" charset="0"/>
                <a:ea typeface="Arial" pitchFamily="34" charset="-122"/>
                <a:cs typeface="Arial" pitchFamily="34" charset="-120"/>
              </a:rPr>
              <a:t>Evolución del desarrollo asistido por IA · Equipo Ecosistemas</a:t>
            </a:r>
            <a:endParaRPr lang="en-US" sz="1200" dirty="0"/>
          </a:p>
        </p:txBody>
      </p:sp>
      <p:sp>
        <p:nvSpPr>
          <p:cNvPr id="40" name="Text 38"/>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Arial" pitchFamily="34" charset="0"/>
                <a:ea typeface="Arial" pitchFamily="34" charset="-122"/>
                <a:cs typeface="Arial"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8DB8E0"/>
                </a:solidFill>
                <a:latin typeface="Arial" pitchFamily="34" charset="0"/>
                <a:ea typeface="Arial" pitchFamily="34" charset="-122"/>
                <a:cs typeface="Arial" pitchFamily="34" charset="-120"/>
              </a:rPr>
              <a:t>CIERRE</a:t>
            </a:r>
            <a:endParaRPr lang="en-US" sz="1400" dirty="0"/>
          </a:p>
        </p:txBody>
      </p:sp>
      <p:sp>
        <p:nvSpPr>
          <p:cNvPr id="3" name="Text 1"/>
          <p:cNvSpPr/>
          <p:nvPr>
            <p:ph type="title"/>
          </p:nvPr>
        </p:nvSpPr>
        <p:spPr>
          <a:xfrm>
            <a:off x="812800" y="2448074"/>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Georgia" pitchFamily="18" charset="0"/>
                <a:ea typeface="Georgia" pitchFamily="18" charset="-122"/>
                <a:cs typeface="Georgia" pitchFamily="18" charset="-120"/>
              </a:rPr>
              <a:t>La IA ejecuta; la responsabilidad sigue siendo del equipo.</a:t>
            </a:r>
            <a:endParaRPr lang="en-US" sz="4800" dirty="0"/>
          </a:p>
        </p:txBody>
      </p:sp>
      <p:sp>
        <p:nvSpPr>
          <p:cNvPr id="4" name="Text 2"/>
          <p:cNvSpPr/>
          <p:nvPr/>
        </p:nvSpPr>
        <p:spPr>
          <a:xfrm>
            <a:off x="812800" y="4018806"/>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A"/>
                </a:solidFill>
                <a:latin typeface="Arial" pitchFamily="34" charset="0"/>
                <a:ea typeface="Arial" pitchFamily="34" charset="-122"/>
                <a:cs typeface="Arial" pitchFamily="34" charset="-120"/>
              </a:rPr>
              <a:t>Método propio, control humano y evidencia en cada entrega.</a:t>
            </a:r>
            <a:endParaRPr lang="en-US" sz="1800" dirty="0"/>
          </a:p>
        </p:txBody>
      </p:sp>
      <p:sp>
        <p:nvSpPr>
          <p:cNvPr id="5" name="Text 3"/>
          <p:cNvSpPr/>
          <p:nvPr/>
        </p:nvSpPr>
        <p:spPr>
          <a:xfrm>
            <a:off x="812800" y="5796310"/>
            <a:ext cx="483447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FDA"/>
                </a:solidFill>
                <a:latin typeface="Arial" pitchFamily="34" charset="0"/>
                <a:ea typeface="Arial" pitchFamily="34" charset="-122"/>
                <a:cs typeface="Arial" pitchFamily="34" charset="-120"/>
              </a:rPr>
              <a:t>Sergio Galaz · Líder Técnico · Equipo Ecosistemas</a:t>
            </a:r>
            <a:endParaRPr lang="en-US" sz="1400" dirty="0"/>
          </a:p>
        </p:txBody>
      </p:sp>
      <p:sp>
        <p:nvSpPr>
          <p:cNvPr id="6" name="Text 4"/>
          <p:cNvSpPr/>
          <p:nvPr/>
        </p:nvSpPr>
        <p:spPr>
          <a:xfrm>
            <a:off x="8787328" y="5725170"/>
            <a:ext cx="2591872" cy="345430"/>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D9A55A"/>
                </a:solidFill>
                <a:latin typeface="Arial" pitchFamily="34" charset="0"/>
                <a:ea typeface="Arial" pitchFamily="34" charset="-122"/>
                <a:cs typeface="Arial" pitchFamily="34" charset="-120"/>
              </a:rPr>
              <a:t>Gracias · Preguntas</a:t>
            </a:r>
            <a:endParaRPr lang="en-US" sz="1800" dirty="0"/>
          </a:p>
        </p:txBody>
      </p:sp>
    </p:spTree>
  </p:cSld>
  <p:clrMapOvr>
    <a:masterClrMapping/>
  </p:clrMapOvr>
</p:sld>
</file>

<file path=ppt/theme/theme1.xml><?xml version="1.0" encoding="utf-8"?>
<a:theme xmlns:a="http://schemas.openxmlformats.org/drawingml/2006/main" name="Evolución del desarrollo asistido por IA">
  <a:themeElements>
    <a:clrScheme name="Evolución del desarrollo asistido por IA">
      <a:dk1>
        <a:srgbClr val="14233A"/>
      </a:dk1>
      <a:lt1>
        <a:srgbClr val="F7F6F2"/>
      </a:lt1>
      <a:dk2>
        <a:srgbClr val="4D5868"/>
      </a:dk2>
      <a:lt2>
        <a:srgbClr val="E0E1E0"/>
      </a:lt2>
      <a:accent1>
        <a:srgbClr val="2B5F8E"/>
      </a:accent1>
      <a:accent2>
        <a:srgbClr val="8C5A12"/>
      </a:accent2>
      <a:accent3>
        <a:srgbClr val="8DB8E0"/>
      </a:accent3>
      <a:accent4>
        <a:srgbClr val="D9A55A"/>
      </a:accent4>
      <a:accent5>
        <a:srgbClr val="3A4B63"/>
      </a:accent5>
      <a:accent6>
        <a:srgbClr val="1F4A73"/>
      </a:accent6>
      <a:hlink>
        <a:srgbClr val="0563C1"/>
      </a:hlink>
      <a:folHlink>
        <a:srgbClr val="954F72"/>
      </a:folHlink>
    </a:clrScheme>
    <a:fontScheme name="Evolución del desarrollo asistido por 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Evolución del desarrollo asistido por IA</dc:title>
  <dc:subject/>
  <dc:creator/>
  <cp:lastModifiedBy/>
  <cp:revision>1</cp:revision>
  <dcterms:created xsi:type="dcterms:W3CDTF">2026-10-27T14:59:58Z</dcterms:created>
  <dcterms:modified xsi:type="dcterms:W3CDTF">2026-10-27T14:59:58Z</dcterms:modified>
</cp:coreProperties>
</file>