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JetBrains Mono" panose="02000009000000000000" pitchFamily="49" charset="0"/>
      <p:regular r:id="rId25"/>
      <p:bold r:id="rId2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openxmlformats.org/officeDocument/2006/relationships/font" Target="fonts/font1.fntdata"/><Relationship Id="rId26"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presentación: mostrar al equipo cómo pasamos de un estándar apoyado en OpenSpec a un sistema multiagente propio, construido solo con las capacidades nativas de GitHub Copilot. Recorreremos cómo trabajábamos, qué nos limitaba, cómo funciona el sistema nuevo, qué mejora y qué conservamos.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Recorrido en cinco paradas. Primero, cómo trabajábamos con OpenSpec y las piezas propias que le añadimos. Después, qué nos limitaba. Luego, el sistema nuevo. Cuarto, la comparativa y qué se conserva. Y al final, cómo se usa, qué falta validar y los próximos pasos.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Así trabajábamos: el flujo de seis fases Explore, Spec, Design, Apply, Verify y Archive se apoyaba en los comandos de OpenSpec CLI 1.10. Sobre ellos pusimos piezas propias: el agente tdd-apply para implementar, code-review para revisar, y las skills architecture-analysis y strict-verify. Los gates de spec y de diseño eran humanos. El punto clave: era el desarrollador quien lanzaba cada comando y decidía qué agente usar en cada momento.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criterio anterior era gap-first: antes de crear algo, comprobar que OpenSpec no lo cubría. Encontramos cuatro huecos reales. apply-change no exigía ver el test en rojo, así que creamos tdd-apply. verify-change era heurístico, así que strict-verify añadía validate --strict y la ejecución real de la suite. La skill de Angular no conocía NgRx Signal Store, de ahí architecture-analysis. Y nada gobernaba el contrato entre frontend y backend, de ahí el protocolo BQ, que nació tras detectar que el frontend documentaba un envoltorio distinto al real ResponseData. Funcionaba, pero el flujo seguía siendo de la herramienta.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Seis límites concretos. Uno: dependíamos de un CLI externo, OpenSpec 1.10, que fijaba versión, comandos y formato de los artefactos. Dos: la configuración era frágil; aprendimos a la mala que un valor con dos puntos sin comillas rompía config.yaml. Tres: la orquestación era manual, el desarrollador encadenaba los comandos. Cuatro: el TDD era por disciplina, porque el mismo agente escribía test y código. Cinco: la verificación nativa era heurística y la evidencia real se añadía con strict-verify. Seis: podíamos limitar herramientas, pero no qué archivos tocaba cada agente.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punto de inflexión. La nueva restricción es no usar OpenSpec ni herramientas parecidas. Lejos de ser un problema, nos obligó a dar el paso que faltaba: que todo el sistema sea nuestro. Ya no hay un CLI que instalar en cada máquina, ni versiones de terceros que seguir, ni formatos de artefactos impuestos. Todo vive en el repositorio y usa solo formatos nativos de GitHub Copilot.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el sistema usa los formatos que GitHub Copilot ya reconoce: agentes en .agent.md, skills en carpetas con SKILL.md, instrucciones por patrón con applyTo, comandos como prompt files y un hook preToolUse para los guardarraíles. Además, el contexto del proyecto en AGENTS.md, MEMORY.md y la constitución. Funciona en VS Code, en Copilot CLI y en el coding agent de GitHub; los comandos /sdd-* son la única pieza exclusiva del chat de VS Code. Instalarlo en un repositorio es copiar carpetas.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arquitectura sigue el patrón del curso, coordinador más subagentes, pero con un especialista por etapa. El único agente visible en el selector es sdd-orchestrator: coordina, delega, valida la evidencia y aplica los gates, y no tiene herramientas de edición. Los diez subagentes están ocultos y solo los invoca el orquestador. Cada uno tiene sus skills, sus herramientas mínimas y un único artefacto que puede escribir. Tres son de solo lectura: el QA de la spec, la revisión de código y la verificación. Y el TDD se reparte entre dos agentes: quien escribe el test no escribe el código.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flujo une lo que vimos en el curso, constitución, spec, clarificación, plan, tareas, implementación y validación, con lo que ya hacíamos: exploración previa, revisión de código y cierre. Hay tres gates humanos: la spec, el plan con sus tareas y la aceptación final. La consistencia es un análisis cruzado entre spec, plan, tareas y constitución antes del Gate 2. Todos los bucles tienen límite: si se agota, el orquestador para y nos explica qué falta decidir. Y un cambio de requisitos siempre vuelve a la spec: el modelo es spec-anchored.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mejora más importante para la calidad. Antes, tdd-apply escribía el test y el código, y el RED dependía de que el agente lo respetara. Ahora son dos agentes: tdd-test-author escribe los tests de una sola tarea, los ejecuta y demuestra que fallan por la razón esperada; tdd-implementer escribe el código mínimo, corre la suite completa y refactoriza, sin poder tocar un test. Si cree que un test está mal, devuelve BLOQUEADO y el test lo corrige su autor. Cada fase deja evidencia en tasks.md con comando, código de salida y resultado. El orquestador no acepta un «los tests pasan» sin esa evidencia, y el hook impide técnicamente que cada agente escriba fuera de su 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OpenCode, como vimos en el curso, cada agente declara permisos por ruta. Copilot no lo permite en el archivo del agente, así que lo resolvimos en capas. Uno: herramientas mínimas por agente; quien no tiene edición no puede editar. Dos: instrucciones con límites claros y la salida BLOQUEADO. Tres: un hook preToolUse que aplica una política por agente y por ruta, y bloquea comandos peligrosos para todos; lo probamos con 64 casos y está diseñado para no bloquear nada si falla o falta Node. Cuatro: los tres gates humanos. Cinco: la verificación la hace un agente distinto del que construye. Si una capa falla, las otras siguen funcionando.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trazabilidad es de punta a punta. Una historia de usuario genera requisitos en EARS; cada requisito aparece en una sección del plan, en una tarea y en un test cuyo nombre empieza por su identificador. Por eso el verificador puede mapear requisito a test sin heurísticas: busca el prefijo RF-03 y cruza el resultado real de la ejecución. EARS ayuda porque cada frase es un comportamiento verificable y el patrón SI-ENTONCES obliga a pensar en los errores. Los identificadores nunca se renumeran: lo obsoleto se tacha, no se borra.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resumen de la mejora en ocho dimensiones. Pasamos de depender de un CLI externo a usar solo GitHub Copilot. De encadenar comandos a mano a un orquestador que delega, transmite el contexto y valida la evidencia. De un TDD por instrucción a uno impuesto por la separación de agentes y por el hook. De una verificación con base heurística a un verificador independiente que mapea cada requisito a su test. De deltas en el formato de OpenSpec a requisitos EARS con QA. Del protocolo BQ, pensado del frontend al backend, a preguntas EXT que sirven en ambos sentidos. De guardarraíles en texto a cinco capas. Y los artefactos ahora viven en specs/, con nuestro propio formato.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partimos de cero: cada pieza anterior tiene su sucesora y el conocimiento acumulado se conservó. El análisis de arquitectura de Angular y .NET vive ahora en las listas de diseño del arquitecto. Las reglas críticas de code-review, como capas Controller, Handler y Repository, DTOs, ResponseData y EF Core sin Include, están en las listas de revisión. La idea de strict-verify, evidencia real y no heurística, es el corazón del verificador. El protocolo BQ se generalizó a preguntas EXT en ambos sentidos. Y se mantienen los gates, la rama creada antes de la propuesta, los cuatro momentos de commit con Refs y nuestra skill de Conventional Commits, que además mejoró la versión nueva.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el día a día hay tres momentos. Una vez por repositorio: /sdd-init para completar AGENTS.md con el stack y los comandos reales, y /sdd-constitution para proponer y ratificar los principios. Para cada funcionalidad, /sdd-feature recorre todo el flujo; también se puede ir etapa por etapa, y todos los comandos pasan por el orquestador, así que los gates se aplican igual. Para mantenimiento: /sdd-change para cambios de requisitos, /sdd-bugfix para bugs con test de regresión y /sdd-status para saber dónde estamos. En Copilot CLI no existen los prompt files: ahí se habla directamente con el orquestador.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ser honestos con lo que falta. Los comandos /sdd-* son prompt files y solo funcionan en el chat de VS Code. Los hooks de Copilot están en vista previa: la regla por agente depende de que Copilot informe qué subagente está actuando; si no lo informa, se aplican las reglas globales y siguen las otras capas. En el backend falta confirmar que el stack de tests es xUnit con Moq. Y hay más agentes, así que hay más llamadas al modelo: conviene asignar un modelo potente a spec, diseño y revisión, y uno rápido a exploración y cierre. Nada de esto impide empezar; el piloto sirve para medirlo.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Cinco pasos concretos. Primero, activar el kit renombrando las carpetas github y vscode con su punto. Segundo, instalarlo en el repositorio Angular con el perfil de AGENTS.md que ya trae el stack, el contrato ResponseData y las convenciones confirmadas. Tercero, /sdd-init y /sdd-constitution. Cuarto, un piloto real de punta a punta. Quinto, replicarlo en el backend, confirmando antes el stack de tests, e incorporar al kit lo que aprendamos.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Cerramos con la regla de oro del curso, que resume por qué construimos el sistema así: la IA ejecuta, pero el responsable del proyecto sigue siendo cada uno de nosotros. Por eso hay gates humanos, evidencia obligatoria y guardarraíles en capas. Abrimos espacio para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4202B"/>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99841"/>
            <a:ext cx="10566400" cy="4145359"/>
          </a:xfrm>
          <a:prstGeom prst="rect">
            <a:avLst/>
          </a:prstGeom>
          <a:noFill/>
          <a:ln/>
        </p:spPr>
        <p:txBody>
          <a:bodyPr wrap="square" lIns="0" tIns="0" rIns="0" bIns="0" rtlCol="0" anchor="t"/>
          <a:lstStyle>
            <a:lvl1pPr algn="l" indent="0" marL="0">
              <a:lnSpc>
                <a:spcPct val="140000"/>
              </a:lnSpc>
              <a:buNone/>
              <a:defRPr lang="en-US" sz="1600" dirty="0">
                <a:solidFill>
                  <a:srgbClr val="14202B"/>
                </a:solidFill>
                <a:latin typeface="JetBrains Mono" pitchFamily="34" charset="0"/>
                <a:ea typeface="JetBrains Mono" pitchFamily="34" charset="-122"/>
                <a:cs typeface="JetBrains Mon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4202B"/>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99841"/>
            <a:ext cx="10566400" cy="4145359"/>
          </a:xfrm>
          <a:prstGeom prst="rect">
            <a:avLst/>
          </a:prstGeom>
          <a:noFill/>
          <a:ln/>
        </p:spPr>
        <p:txBody>
          <a:bodyPr wrap="square" lIns="0" tIns="0" rIns="0" bIns="0" rtlCol="0" anchor="t"/>
          <a:lstStyle>
            <a:lvl1pPr algn="l" indent="0" marL="0">
              <a:lnSpc>
                <a:spcPct val="140000"/>
              </a:lnSpc>
              <a:buNone/>
              <a:defRPr lang="en-US" sz="1600" dirty="0">
                <a:solidFill>
                  <a:srgbClr val="14202B"/>
                </a:solidFill>
                <a:latin typeface="JetBrains Mono" pitchFamily="34" charset="0"/>
                <a:ea typeface="JetBrains Mono" pitchFamily="34" charset="-122"/>
                <a:cs typeface="JetBrains Mono"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2.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image" Target="../media/image-9-13.png"/><Relationship Id="rId14" Type="http://schemas.openxmlformats.org/officeDocument/2006/relationships/image" Target="../media/image-9-14.png"/><Relationship Id="rId15" Type="http://schemas.openxmlformats.org/officeDocument/2006/relationships/slideLayout" Target="../slideLayouts/slideLayout2.xml"/><Relationship Id="rId1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2.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2.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02B"/>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50" kern="0" dirty="0">
                <a:solidFill>
                  <a:srgbClr val="7FB0E6"/>
                </a:solidFill>
                <a:latin typeface="JetBrains Mono" pitchFamily="49" charset="0"/>
                <a:ea typeface="JetBrains Mono" pitchFamily="49" charset="-122"/>
                <a:cs typeface="JetBrains Mono" pitchFamily="49" charset="-120"/>
              </a:rPr>
              <a:t>ESTÁNDAR DE DESARROLLO CON IA</a:t>
            </a:r>
            <a:endParaRPr lang="en-US" sz="1400" dirty="0"/>
          </a:p>
        </p:txBody>
      </p:sp>
      <p:sp>
        <p:nvSpPr>
          <p:cNvPr id="3" name="Text 1"/>
          <p:cNvSpPr/>
          <p:nvPr>
            <p:ph type="title"/>
          </p:nvPr>
        </p:nvSpPr>
        <p:spPr>
          <a:xfrm>
            <a:off x="812800" y="2323604"/>
            <a:ext cx="10883392" cy="1342132"/>
          </a:xfrm>
          <a:prstGeom prst="rect">
            <a:avLst/>
          </a:prstGeom>
          <a:noFill/>
          <a:ln/>
        </p:spPr>
        <p:txBody>
          <a:bodyPr wrap="square" lIns="0" tIns="0" rIns="0" bIns="0" rtlCol="0" anchor="t">
            <a:normAutofit/>
          </a:bodyPr>
          <a:lstStyle/>
          <a:p>
            <a:pPr algn="l" indent="0" marL="0">
              <a:lnSpc>
                <a:spcPts val="5184"/>
              </a:lnSpc>
              <a:buNone/>
            </a:pPr>
            <a:r>
              <a:rPr lang="en-US" sz="4800" b="1" i="0" dirty="0">
                <a:solidFill>
                  <a:srgbClr val="F6F5F1"/>
                </a:solidFill>
                <a:latin typeface="IBM Plex Sans" pitchFamily="34" charset="0"/>
                <a:ea typeface="IBM Plex Sans" pitchFamily="34" charset="-122"/>
                <a:cs typeface="IBM Plex Sans" pitchFamily="34" charset="-120"/>
              </a:rPr>
              <a:t>De OpenSpec a un sistema multiagente propio</a:t>
            </a:r>
            <a:endParaRPr lang="en-US" sz="4800" dirty="0"/>
          </a:p>
        </p:txBody>
      </p:sp>
      <p:sp>
        <p:nvSpPr>
          <p:cNvPr id="4" name="Text 2"/>
          <p:cNvSpPr/>
          <p:nvPr/>
        </p:nvSpPr>
        <p:spPr>
          <a:xfrm>
            <a:off x="812800" y="3894336"/>
            <a:ext cx="10883392" cy="66546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3DC"/>
                </a:solidFill>
                <a:latin typeface="IBM Plex Sans" pitchFamily="34" charset="0"/>
                <a:ea typeface="IBM Plex Sans" pitchFamily="34" charset="-122"/>
                <a:cs typeface="IBM Plex Sans" pitchFamily="34" charset="-120"/>
              </a:rPr>
              <a:t>Cómo evolucionó nuestro desarrollo SDD + TDD en GitHub Copilot: cómo trabajábamos, cómo trabajaremos y qué mejora.</a:t>
            </a:r>
            <a:endParaRPr lang="en-US" sz="1800" dirty="0"/>
          </a:p>
        </p:txBody>
      </p:sp>
      <p:sp>
        <p:nvSpPr>
          <p:cNvPr id="5" name="Text 3"/>
          <p:cNvSpPr/>
          <p:nvPr/>
        </p:nvSpPr>
        <p:spPr>
          <a:xfrm>
            <a:off x="812800" y="5796310"/>
            <a:ext cx="34220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DC"/>
                </a:solidFill>
                <a:latin typeface="IBM Plex Sans" pitchFamily="34" charset="0"/>
                <a:ea typeface="IBM Plex Sans" pitchFamily="34" charset="-122"/>
                <a:cs typeface="IBM Plex Sans" pitchFamily="34" charset="-120"/>
              </a:rPr>
              <a:t>Equipo Ecosistemas · Octubre 2026</a:t>
            </a:r>
            <a:endParaRPr lang="en-US" sz="1400" dirty="0"/>
          </a:p>
        </p:txBody>
      </p:sp>
      <p:sp>
        <p:nvSpPr>
          <p:cNvPr id="6" name="Text 4"/>
          <p:cNvSpPr/>
          <p:nvPr/>
        </p:nvSpPr>
        <p:spPr>
          <a:xfrm>
            <a:off x="9714944" y="5796310"/>
            <a:ext cx="1664256" cy="274290"/>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E39A5F"/>
                </a:solidFill>
                <a:latin typeface="JetBrains Mono" pitchFamily="49" charset="0"/>
                <a:ea typeface="JetBrains Mono" pitchFamily="49" charset="-122"/>
                <a:cs typeface="JetBrains Mono" pitchFamily="49" charset="-120"/>
              </a:rPr>
              <a:t>antes → ahora</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F6FB5"/>
                </a:solidFill>
                <a:latin typeface="JetBrains Mono" pitchFamily="49" charset="0"/>
                <a:ea typeface="JetBrains Mono" pitchFamily="49" charset="-122"/>
                <a:cs typeface="JetBrains Mono" pitchFamily="49" charset="-120"/>
              </a:rPr>
              <a:t>RECORRIDO</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IBM Plex Sans" pitchFamily="34" charset="0"/>
                <a:ea typeface="IBM Plex Sans" pitchFamily="34" charset="-122"/>
                <a:cs typeface="IBM Plex Sans" pitchFamily="34" charset="-120"/>
              </a:rPr>
              <a:t>Cinco paradas, del antes al ahora</a:t>
            </a:r>
            <a:endParaRPr lang="en-US" sz="3200" dirty="0"/>
          </a:p>
        </p:txBody>
      </p:sp>
      <p:sp>
        <p:nvSpPr>
          <p:cNvPr id="4" name="Shape 2"/>
          <p:cNvSpPr/>
          <p:nvPr/>
        </p:nvSpPr>
        <p:spPr>
          <a:xfrm>
            <a:off x="812800" y="1953816"/>
            <a:ext cx="10566400" cy="0"/>
          </a:xfrm>
          <a:prstGeom prst="line">
            <a:avLst/>
          </a:prstGeom>
          <a:noFill/>
          <a:ln w="6350">
            <a:solidFill>
              <a:srgbClr val="DEDAD1"/>
            </a:solidFill>
            <a:prstDash val="solid"/>
          </a:ln>
        </p:spPr>
      </p:sp>
      <p:sp>
        <p:nvSpPr>
          <p:cNvPr id="5" name="Text 3"/>
          <p:cNvSpPr/>
          <p:nvPr/>
        </p:nvSpPr>
        <p:spPr>
          <a:xfrm>
            <a:off x="812800" y="2103041"/>
            <a:ext cx="558800"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2F6FB5"/>
                </a:solidFill>
                <a:latin typeface="JetBrains Mono" pitchFamily="49" charset="0"/>
                <a:ea typeface="JetBrains Mono" pitchFamily="49" charset="-122"/>
                <a:cs typeface="JetBrains Mono" pitchFamily="49" charset="-120"/>
              </a:rPr>
              <a:t>01</a:t>
            </a:r>
            <a:endParaRPr lang="en-US" sz="1800" dirty="0"/>
          </a:p>
        </p:txBody>
      </p:sp>
      <p:sp>
        <p:nvSpPr>
          <p:cNvPr id="6" name="Text 4"/>
          <p:cNvSpPr/>
          <p:nvPr/>
        </p:nvSpPr>
        <p:spPr>
          <a:xfrm>
            <a:off x="1574800" y="2096691"/>
            <a:ext cx="405511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4202B"/>
                </a:solidFill>
                <a:latin typeface="IBM Plex Sans" pitchFamily="34" charset="0"/>
                <a:ea typeface="IBM Plex Sans" pitchFamily="34" charset="-122"/>
                <a:cs typeface="IBM Plex Sans" pitchFamily="34" charset="-120"/>
              </a:rPr>
              <a:t>De dónde venimos</a:t>
            </a:r>
            <a:endParaRPr lang="en-US" sz="1800" dirty="0"/>
          </a:p>
        </p:txBody>
      </p:sp>
      <p:sp>
        <p:nvSpPr>
          <p:cNvPr id="7" name="Text 5"/>
          <p:cNvSpPr/>
          <p:nvPr/>
        </p:nvSpPr>
        <p:spPr>
          <a:xfrm>
            <a:off x="5765800" y="2150666"/>
            <a:ext cx="578180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OpenSpec CLI con tres agentes y tres skills propios</a:t>
            </a:r>
            <a:endParaRPr lang="en-US" sz="1400" dirty="0"/>
          </a:p>
        </p:txBody>
      </p:sp>
      <p:sp>
        <p:nvSpPr>
          <p:cNvPr id="8" name="Shape 6"/>
          <p:cNvSpPr/>
          <p:nvPr/>
        </p:nvSpPr>
        <p:spPr>
          <a:xfrm>
            <a:off x="812800" y="2565946"/>
            <a:ext cx="10566400" cy="0"/>
          </a:xfrm>
          <a:prstGeom prst="line">
            <a:avLst/>
          </a:prstGeom>
          <a:noFill/>
          <a:ln w="6350">
            <a:solidFill>
              <a:srgbClr val="DEDAD1"/>
            </a:solidFill>
            <a:prstDash val="solid"/>
          </a:ln>
        </p:spPr>
      </p:sp>
      <p:sp>
        <p:nvSpPr>
          <p:cNvPr id="9" name="Text 7"/>
          <p:cNvSpPr/>
          <p:nvPr/>
        </p:nvSpPr>
        <p:spPr>
          <a:xfrm>
            <a:off x="812800" y="2715171"/>
            <a:ext cx="558800"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2F6FB5"/>
                </a:solidFill>
                <a:latin typeface="JetBrains Mono" pitchFamily="49" charset="0"/>
                <a:ea typeface="JetBrains Mono" pitchFamily="49" charset="-122"/>
                <a:cs typeface="JetBrains Mono" pitchFamily="49" charset="-120"/>
              </a:rPr>
              <a:t>02</a:t>
            </a:r>
            <a:endParaRPr lang="en-US" sz="1800" dirty="0"/>
          </a:p>
        </p:txBody>
      </p:sp>
      <p:sp>
        <p:nvSpPr>
          <p:cNvPr id="10" name="Text 8"/>
          <p:cNvSpPr/>
          <p:nvPr/>
        </p:nvSpPr>
        <p:spPr>
          <a:xfrm>
            <a:off x="1574800" y="2708821"/>
            <a:ext cx="405511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4202B"/>
                </a:solidFill>
                <a:latin typeface="IBM Plex Sans" pitchFamily="34" charset="0"/>
                <a:ea typeface="IBM Plex Sans" pitchFamily="34" charset="-122"/>
                <a:cs typeface="IBM Plex Sans" pitchFamily="34" charset="-120"/>
              </a:rPr>
              <a:t>Qué nos limitaba</a:t>
            </a:r>
            <a:endParaRPr lang="en-US" sz="1800" dirty="0"/>
          </a:p>
        </p:txBody>
      </p:sp>
      <p:sp>
        <p:nvSpPr>
          <p:cNvPr id="11" name="Text 9"/>
          <p:cNvSpPr/>
          <p:nvPr/>
        </p:nvSpPr>
        <p:spPr>
          <a:xfrm>
            <a:off x="5765800" y="2762796"/>
            <a:ext cx="578180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Dependencia externa, orquestación manual y TDD por disciplina</a:t>
            </a:r>
            <a:endParaRPr lang="en-US" sz="1400" dirty="0"/>
          </a:p>
        </p:txBody>
      </p:sp>
      <p:sp>
        <p:nvSpPr>
          <p:cNvPr id="12" name="Shape 10"/>
          <p:cNvSpPr/>
          <p:nvPr/>
        </p:nvSpPr>
        <p:spPr>
          <a:xfrm>
            <a:off x="812800" y="3178076"/>
            <a:ext cx="10566400" cy="0"/>
          </a:xfrm>
          <a:prstGeom prst="line">
            <a:avLst/>
          </a:prstGeom>
          <a:noFill/>
          <a:ln w="6350">
            <a:solidFill>
              <a:srgbClr val="DEDAD1"/>
            </a:solidFill>
            <a:prstDash val="solid"/>
          </a:ln>
        </p:spPr>
      </p:sp>
      <p:sp>
        <p:nvSpPr>
          <p:cNvPr id="13" name="Text 11"/>
          <p:cNvSpPr/>
          <p:nvPr/>
        </p:nvSpPr>
        <p:spPr>
          <a:xfrm>
            <a:off x="812800" y="3327301"/>
            <a:ext cx="558800"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2F6FB5"/>
                </a:solidFill>
                <a:latin typeface="JetBrains Mono" pitchFamily="49" charset="0"/>
                <a:ea typeface="JetBrains Mono" pitchFamily="49" charset="-122"/>
                <a:cs typeface="JetBrains Mono" pitchFamily="49" charset="-120"/>
              </a:rPr>
              <a:t>03</a:t>
            </a:r>
            <a:endParaRPr lang="en-US" sz="1800" dirty="0"/>
          </a:p>
        </p:txBody>
      </p:sp>
      <p:sp>
        <p:nvSpPr>
          <p:cNvPr id="14" name="Text 12"/>
          <p:cNvSpPr/>
          <p:nvPr/>
        </p:nvSpPr>
        <p:spPr>
          <a:xfrm>
            <a:off x="1574800" y="3320951"/>
            <a:ext cx="405511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4202B"/>
                </a:solidFill>
                <a:latin typeface="IBM Plex Sans" pitchFamily="34" charset="0"/>
                <a:ea typeface="IBM Plex Sans" pitchFamily="34" charset="-122"/>
                <a:cs typeface="IBM Plex Sans" pitchFamily="34" charset="-120"/>
              </a:rPr>
              <a:t>El sistema nuevo</a:t>
            </a:r>
            <a:endParaRPr lang="en-US" sz="1800" dirty="0"/>
          </a:p>
        </p:txBody>
      </p:sp>
      <p:sp>
        <p:nvSpPr>
          <p:cNvPr id="15" name="Text 13"/>
          <p:cNvSpPr/>
          <p:nvPr/>
        </p:nvSpPr>
        <p:spPr>
          <a:xfrm>
            <a:off x="5765800" y="3374926"/>
            <a:ext cx="578180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Un orquestador, diez subagentes, quince skills y guardarraíles</a:t>
            </a:r>
            <a:endParaRPr lang="en-US" sz="1400" dirty="0"/>
          </a:p>
        </p:txBody>
      </p:sp>
      <p:sp>
        <p:nvSpPr>
          <p:cNvPr id="16" name="Shape 14"/>
          <p:cNvSpPr/>
          <p:nvPr/>
        </p:nvSpPr>
        <p:spPr>
          <a:xfrm>
            <a:off x="812800" y="3790206"/>
            <a:ext cx="10566400" cy="0"/>
          </a:xfrm>
          <a:prstGeom prst="line">
            <a:avLst/>
          </a:prstGeom>
          <a:noFill/>
          <a:ln w="6350">
            <a:solidFill>
              <a:srgbClr val="DEDAD1"/>
            </a:solidFill>
            <a:prstDash val="solid"/>
          </a:ln>
        </p:spPr>
      </p:sp>
      <p:sp>
        <p:nvSpPr>
          <p:cNvPr id="17" name="Text 15"/>
          <p:cNvSpPr/>
          <p:nvPr/>
        </p:nvSpPr>
        <p:spPr>
          <a:xfrm>
            <a:off x="812800" y="3939431"/>
            <a:ext cx="558800"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2F6FB5"/>
                </a:solidFill>
                <a:latin typeface="JetBrains Mono" pitchFamily="49" charset="0"/>
                <a:ea typeface="JetBrains Mono" pitchFamily="49" charset="-122"/>
                <a:cs typeface="JetBrains Mono" pitchFamily="49" charset="-120"/>
              </a:rPr>
              <a:t>04</a:t>
            </a:r>
            <a:endParaRPr lang="en-US" sz="1800" dirty="0"/>
          </a:p>
        </p:txBody>
      </p:sp>
      <p:sp>
        <p:nvSpPr>
          <p:cNvPr id="18" name="Text 16"/>
          <p:cNvSpPr/>
          <p:nvPr/>
        </p:nvSpPr>
        <p:spPr>
          <a:xfrm>
            <a:off x="1574800" y="3933081"/>
            <a:ext cx="405511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4202B"/>
                </a:solidFill>
                <a:latin typeface="IBM Plex Sans" pitchFamily="34" charset="0"/>
                <a:ea typeface="IBM Plex Sans" pitchFamily="34" charset="-122"/>
                <a:cs typeface="IBM Plex Sans" pitchFamily="34" charset="-120"/>
              </a:rPr>
              <a:t>Qué mejora y qué conservamos</a:t>
            </a:r>
            <a:endParaRPr lang="en-US" sz="1800" dirty="0"/>
          </a:p>
        </p:txBody>
      </p:sp>
      <p:sp>
        <p:nvSpPr>
          <p:cNvPr id="19" name="Text 17"/>
          <p:cNvSpPr/>
          <p:nvPr/>
        </p:nvSpPr>
        <p:spPr>
          <a:xfrm>
            <a:off x="5765800" y="3987056"/>
            <a:ext cx="578180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Comparativa y equivalencias pieza a pieza</a:t>
            </a:r>
            <a:endParaRPr lang="en-US" sz="1400" dirty="0"/>
          </a:p>
        </p:txBody>
      </p:sp>
      <p:sp>
        <p:nvSpPr>
          <p:cNvPr id="20" name="Shape 18"/>
          <p:cNvSpPr/>
          <p:nvPr/>
        </p:nvSpPr>
        <p:spPr>
          <a:xfrm>
            <a:off x="812800" y="4402336"/>
            <a:ext cx="10566400" cy="0"/>
          </a:xfrm>
          <a:prstGeom prst="line">
            <a:avLst/>
          </a:prstGeom>
          <a:noFill/>
          <a:ln w="6350">
            <a:solidFill>
              <a:srgbClr val="DEDAD1"/>
            </a:solidFill>
            <a:prstDash val="solid"/>
          </a:ln>
        </p:spPr>
      </p:sp>
      <p:sp>
        <p:nvSpPr>
          <p:cNvPr id="21" name="Shape 19"/>
          <p:cNvSpPr/>
          <p:nvPr/>
        </p:nvSpPr>
        <p:spPr>
          <a:xfrm>
            <a:off x="812800" y="5014466"/>
            <a:ext cx="10566400" cy="0"/>
          </a:xfrm>
          <a:prstGeom prst="line">
            <a:avLst/>
          </a:prstGeom>
          <a:noFill/>
          <a:ln w="6350">
            <a:solidFill>
              <a:srgbClr val="DEDAD1"/>
            </a:solidFill>
            <a:prstDash val="solid"/>
          </a:ln>
        </p:spPr>
      </p:sp>
      <p:sp>
        <p:nvSpPr>
          <p:cNvPr id="22" name="Text 20"/>
          <p:cNvSpPr/>
          <p:nvPr/>
        </p:nvSpPr>
        <p:spPr>
          <a:xfrm>
            <a:off x="812800" y="4551561"/>
            <a:ext cx="558800"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2F6FB5"/>
                </a:solidFill>
                <a:latin typeface="JetBrains Mono" pitchFamily="49" charset="0"/>
                <a:ea typeface="JetBrains Mono" pitchFamily="49" charset="-122"/>
                <a:cs typeface="JetBrains Mono" pitchFamily="49" charset="-120"/>
              </a:rPr>
              <a:t>05</a:t>
            </a:r>
            <a:endParaRPr lang="en-US" sz="1800" dirty="0"/>
          </a:p>
        </p:txBody>
      </p:sp>
      <p:sp>
        <p:nvSpPr>
          <p:cNvPr id="23" name="Text 21"/>
          <p:cNvSpPr/>
          <p:nvPr/>
        </p:nvSpPr>
        <p:spPr>
          <a:xfrm>
            <a:off x="1574800" y="4545211"/>
            <a:ext cx="405511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4202B"/>
                </a:solidFill>
                <a:latin typeface="IBM Plex Sans" pitchFamily="34" charset="0"/>
                <a:ea typeface="IBM Plex Sans" pitchFamily="34" charset="-122"/>
                <a:cs typeface="IBM Plex Sans" pitchFamily="34" charset="-120"/>
              </a:rPr>
              <a:t>Cómo empezar</a:t>
            </a:r>
            <a:endParaRPr lang="en-US" sz="1800" dirty="0"/>
          </a:p>
        </p:txBody>
      </p:sp>
      <p:sp>
        <p:nvSpPr>
          <p:cNvPr id="24" name="Text 22"/>
          <p:cNvSpPr/>
          <p:nvPr/>
        </p:nvSpPr>
        <p:spPr>
          <a:xfrm>
            <a:off x="5765800" y="4599186"/>
            <a:ext cx="578180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Comandos, límites conocidos y próximos pasos</a:t>
            </a:r>
            <a:endParaRPr lang="en-US" sz="1400" dirty="0"/>
          </a:p>
        </p:txBody>
      </p:sp>
      <p:sp>
        <p:nvSpPr>
          <p:cNvPr id="25" name="Text 23"/>
          <p:cNvSpPr/>
          <p:nvPr/>
        </p:nvSpPr>
        <p:spPr>
          <a:xfrm>
            <a:off x="812800" y="6238280"/>
            <a:ext cx="47183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079"/>
                </a:solidFill>
                <a:latin typeface="JetBrains Mono" pitchFamily="49" charset="0"/>
                <a:ea typeface="JetBrains Mono" pitchFamily="49" charset="-122"/>
                <a:cs typeface="JetBrains Mono" pitchFamily="49" charset="-120"/>
              </a:rPr>
              <a:t>De OpenSpec a un sistema multiagente propio</a:t>
            </a:r>
            <a:endParaRPr lang="en-US" sz="1200" dirty="0"/>
          </a:p>
        </p:txBody>
      </p:sp>
      <p:sp>
        <p:nvSpPr>
          <p:cNvPr id="26" name="Text 24"/>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079"/>
                </a:solidFill>
                <a:latin typeface="JetBrains Mono" pitchFamily="49" charset="0"/>
                <a:ea typeface="JetBrains Mono" pitchFamily="49" charset="-122"/>
                <a:cs typeface="JetBrains Mono" pitchFamily="49"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8521D"/>
                </a:solidFill>
                <a:latin typeface="JetBrains Mono" pitchFamily="49" charset="0"/>
                <a:ea typeface="JetBrains Mono" pitchFamily="49" charset="-122"/>
                <a:cs typeface="JetBrains Mono" pitchFamily="49" charset="-120"/>
              </a:rPr>
              <a:t>ANTES · OPENSPEC</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IBM Plex Sans" pitchFamily="34" charset="0"/>
                <a:ea typeface="IBM Plex Sans" pitchFamily="34" charset="-122"/>
                <a:cs typeface="IBM Plex Sans" pitchFamily="34" charset="-120"/>
              </a:rPr>
              <a:t>Un flujo encadenado a mano</a:t>
            </a:r>
            <a:endParaRPr lang="en-US" sz="3200" dirty="0"/>
          </a:p>
        </p:txBody>
      </p:sp>
      <p:sp>
        <p:nvSpPr>
          <p:cNvPr id="4" name="Text 2"/>
          <p:cNvSpPr/>
          <p:nvPr/>
        </p:nvSpPr>
        <p:spPr>
          <a:xfrm>
            <a:off x="812800" y="1849041"/>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Seis fases con dos gates humanos (spec y diseño); cada paso lo lanzaba el desarrollador.</a:t>
            </a:r>
            <a:endParaRPr lang="en-US" sz="1400" dirty="0"/>
          </a:p>
        </p:txBody>
      </p:sp>
      <p:sp>
        <p:nvSpPr>
          <p:cNvPr id="5" name="Shape 3"/>
          <p:cNvSpPr/>
          <p:nvPr/>
        </p:nvSpPr>
        <p:spPr>
          <a:xfrm>
            <a:off x="815975" y="2361456"/>
            <a:ext cx="2327275" cy="1301601"/>
          </a:xfrm>
          <a:prstGeom prst="roundRect">
            <a:avLst>
              <a:gd name="adj" fmla="val 5610"/>
            </a:avLst>
          </a:prstGeom>
          <a:solidFill>
            <a:srgbClr val="ECEAE4"/>
          </a:solidFill>
          <a:ln w="6350">
            <a:solidFill>
              <a:srgbClr val="CFCAC0"/>
            </a:solidFill>
            <a:prstDash val="solid"/>
          </a:ln>
        </p:spPr>
      </p:sp>
      <p:sp>
        <p:nvSpPr>
          <p:cNvPr id="6" name="Text 4"/>
          <p:cNvSpPr/>
          <p:nvPr/>
        </p:nvSpPr>
        <p:spPr>
          <a:xfrm>
            <a:off x="996950" y="2517031"/>
            <a:ext cx="202428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079"/>
                </a:solidFill>
                <a:latin typeface="JetBrains Mono" pitchFamily="49" charset="0"/>
                <a:ea typeface="JetBrains Mono" pitchFamily="49" charset="-122"/>
                <a:cs typeface="JetBrains Mono" pitchFamily="49" charset="-120"/>
              </a:rPr>
              <a:t>OpenSpec CLI</a:t>
            </a:r>
            <a:endParaRPr lang="en-US" sz="1200" dirty="0"/>
          </a:p>
        </p:txBody>
      </p:sp>
      <p:sp>
        <p:nvSpPr>
          <p:cNvPr id="7" name="Text 5"/>
          <p:cNvSpPr/>
          <p:nvPr/>
        </p:nvSpPr>
        <p:spPr>
          <a:xfrm>
            <a:off x="996950" y="2781151"/>
            <a:ext cx="2024285"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2B"/>
                </a:solidFill>
                <a:latin typeface="JetBrains Mono" pitchFamily="49" charset="0"/>
                <a:ea typeface="JetBrains Mono" pitchFamily="49" charset="-122"/>
                <a:cs typeface="JetBrains Mono" pitchFamily="49" charset="-120"/>
              </a:rPr>
              <a:t>new-change</a:t>
            </a:r>
            <a:endParaRPr lang="en-US" sz="1400" dirty="0"/>
          </a:p>
        </p:txBody>
      </p:sp>
      <p:sp>
        <p:nvSpPr>
          <p:cNvPr id="8" name="Text 6"/>
          <p:cNvSpPr/>
          <p:nvPr/>
        </p:nvSpPr>
        <p:spPr>
          <a:xfrm>
            <a:off x="996950" y="3080841"/>
            <a:ext cx="202428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Crea el change y la propuesta</a:t>
            </a:r>
            <a:endParaRPr lang="en-US" sz="1200" dirty="0"/>
          </a:p>
        </p:txBody>
      </p:sp>
      <p:pic>
        <p:nvPicPr>
          <p:cNvPr id="9" name="Image 0" descr="arrow-right">    </p:cNvPr>
          <p:cNvPicPr>
            <a:picLocks noChangeAspect="1"/>
          </p:cNvPicPr>
          <p:nvPr/>
        </p:nvPicPr>
        <p:blipFill>
          <a:blip r:embed="rId1"/>
          <a:srcRect l="0" r="0" t="0" b="0"/>
          <a:stretch/>
        </p:blipFill>
        <p:spPr>
          <a:xfrm>
            <a:off x="3248025" y="2961432"/>
            <a:ext cx="203200" cy="101600"/>
          </a:xfrm>
          <a:prstGeom prst="rect">
            <a:avLst/>
          </a:prstGeom>
        </p:spPr>
      </p:pic>
      <p:sp>
        <p:nvSpPr>
          <p:cNvPr id="10" name="Shape 7"/>
          <p:cNvSpPr/>
          <p:nvPr/>
        </p:nvSpPr>
        <p:spPr>
          <a:xfrm>
            <a:off x="3556000" y="2468116"/>
            <a:ext cx="2327275" cy="1088281"/>
          </a:xfrm>
          <a:prstGeom prst="roundRect">
            <a:avLst>
              <a:gd name="adj" fmla="val 6710"/>
            </a:avLst>
          </a:prstGeom>
          <a:solidFill>
            <a:srgbClr val="ECEAE4"/>
          </a:solidFill>
          <a:ln w="6350">
            <a:solidFill>
              <a:srgbClr val="CFCAC0"/>
            </a:solidFill>
            <a:prstDash val="solid"/>
          </a:ln>
        </p:spPr>
      </p:sp>
      <p:sp>
        <p:nvSpPr>
          <p:cNvPr id="11" name="Text 8"/>
          <p:cNvSpPr/>
          <p:nvPr/>
        </p:nvSpPr>
        <p:spPr>
          <a:xfrm>
            <a:off x="3736975" y="2623691"/>
            <a:ext cx="202428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079"/>
                </a:solidFill>
                <a:latin typeface="JetBrains Mono" pitchFamily="49" charset="0"/>
                <a:ea typeface="JetBrains Mono" pitchFamily="49" charset="-122"/>
                <a:cs typeface="JetBrains Mono" pitchFamily="49" charset="-120"/>
              </a:rPr>
              <a:t>OpenSpec CLI</a:t>
            </a:r>
            <a:endParaRPr lang="en-US" sz="1200" dirty="0"/>
          </a:p>
        </p:txBody>
      </p:sp>
      <p:sp>
        <p:nvSpPr>
          <p:cNvPr id="12" name="Text 9"/>
          <p:cNvSpPr/>
          <p:nvPr/>
        </p:nvSpPr>
        <p:spPr>
          <a:xfrm>
            <a:off x="3736975" y="2887811"/>
            <a:ext cx="2024285"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2B"/>
                </a:solidFill>
                <a:latin typeface="JetBrains Mono" pitchFamily="49" charset="0"/>
                <a:ea typeface="JetBrains Mono" pitchFamily="49" charset="-122"/>
                <a:cs typeface="JetBrains Mono" pitchFamily="49" charset="-120"/>
              </a:rPr>
              <a:t>continue · spec</a:t>
            </a:r>
            <a:endParaRPr lang="en-US" sz="1400" dirty="0"/>
          </a:p>
        </p:txBody>
      </p:sp>
      <p:sp>
        <p:nvSpPr>
          <p:cNvPr id="13" name="Text 10"/>
          <p:cNvSpPr/>
          <p:nvPr/>
        </p:nvSpPr>
        <p:spPr>
          <a:xfrm>
            <a:off x="3736975" y="3187502"/>
            <a:ext cx="202428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Deltas de especificación</a:t>
            </a:r>
            <a:endParaRPr lang="en-US" sz="1200" dirty="0"/>
          </a:p>
        </p:txBody>
      </p:sp>
      <p:pic>
        <p:nvPicPr>
          <p:cNvPr id="14" name="Image 1" descr="arrow-right">    </p:cNvPr>
          <p:cNvPicPr>
            <a:picLocks noChangeAspect="1"/>
          </p:cNvPicPr>
          <p:nvPr/>
        </p:nvPicPr>
        <p:blipFill>
          <a:blip r:embed="rId2"/>
          <a:srcRect l="0" r="0" t="0" b="0"/>
          <a:stretch/>
        </p:blipFill>
        <p:spPr>
          <a:xfrm>
            <a:off x="5988050" y="2961432"/>
            <a:ext cx="203200" cy="101600"/>
          </a:xfrm>
          <a:prstGeom prst="rect">
            <a:avLst/>
          </a:prstGeom>
        </p:spPr>
      </p:pic>
      <p:sp>
        <p:nvSpPr>
          <p:cNvPr id="15" name="Shape 11"/>
          <p:cNvSpPr/>
          <p:nvPr/>
        </p:nvSpPr>
        <p:spPr>
          <a:xfrm>
            <a:off x="6299200" y="2358281"/>
            <a:ext cx="2333625" cy="1307951"/>
          </a:xfrm>
          <a:prstGeom prst="roundRect">
            <a:avLst>
              <a:gd name="adj" fmla="val 5340"/>
            </a:avLst>
          </a:prstGeom>
          <a:solidFill>
            <a:srgbClr val="ECEAE4"/>
          </a:solidFill>
          <a:ln w="12700">
            <a:solidFill>
              <a:srgbClr val="A8521D"/>
            </a:solidFill>
            <a:prstDash val="dash"/>
          </a:ln>
        </p:spPr>
      </p:sp>
      <p:sp>
        <p:nvSpPr>
          <p:cNvPr id="16" name="Text 12"/>
          <p:cNvSpPr/>
          <p:nvPr/>
        </p:nvSpPr>
        <p:spPr>
          <a:xfrm>
            <a:off x="6483350" y="2517031"/>
            <a:ext cx="202428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521D"/>
                </a:solidFill>
                <a:latin typeface="JetBrains Mono" pitchFamily="49" charset="0"/>
                <a:ea typeface="JetBrains Mono" pitchFamily="49" charset="-122"/>
                <a:cs typeface="JetBrains Mono" pitchFamily="49" charset="-120"/>
              </a:rPr>
              <a:t>OpenSpec + skill</a:t>
            </a:r>
            <a:endParaRPr lang="en-US" sz="1200" dirty="0"/>
          </a:p>
        </p:txBody>
      </p:sp>
      <p:sp>
        <p:nvSpPr>
          <p:cNvPr id="17" name="Text 13"/>
          <p:cNvSpPr/>
          <p:nvPr/>
        </p:nvSpPr>
        <p:spPr>
          <a:xfrm>
            <a:off x="6483350" y="2781151"/>
            <a:ext cx="2024285"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2B"/>
                </a:solidFill>
                <a:latin typeface="JetBrains Mono" pitchFamily="49" charset="0"/>
                <a:ea typeface="JetBrains Mono" pitchFamily="49" charset="-122"/>
                <a:cs typeface="JetBrains Mono" pitchFamily="49" charset="-120"/>
              </a:rPr>
              <a:t>continue · design</a:t>
            </a:r>
            <a:endParaRPr lang="en-US" sz="1400" dirty="0"/>
          </a:p>
        </p:txBody>
      </p:sp>
      <p:sp>
        <p:nvSpPr>
          <p:cNvPr id="18" name="Text 14"/>
          <p:cNvSpPr/>
          <p:nvPr/>
        </p:nvSpPr>
        <p:spPr>
          <a:xfrm>
            <a:off x="6483350" y="3080841"/>
            <a:ext cx="202428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Diseño con architecture-analysis</a:t>
            </a:r>
            <a:endParaRPr lang="en-US" sz="1200" dirty="0"/>
          </a:p>
        </p:txBody>
      </p:sp>
      <p:pic>
        <p:nvPicPr>
          <p:cNvPr id="19" name="Image 2" descr="arrow-right">    </p:cNvPr>
          <p:cNvPicPr>
            <a:picLocks noChangeAspect="1"/>
          </p:cNvPicPr>
          <p:nvPr/>
        </p:nvPicPr>
        <p:blipFill>
          <a:blip r:embed="rId3"/>
          <a:srcRect l="0" r="0" t="0" b="0"/>
          <a:stretch/>
        </p:blipFill>
        <p:spPr>
          <a:xfrm>
            <a:off x="8740775" y="2961432"/>
            <a:ext cx="203200" cy="101600"/>
          </a:xfrm>
          <a:prstGeom prst="rect">
            <a:avLst/>
          </a:prstGeom>
        </p:spPr>
      </p:pic>
      <p:sp>
        <p:nvSpPr>
          <p:cNvPr id="20" name="Shape 15"/>
          <p:cNvSpPr/>
          <p:nvPr/>
        </p:nvSpPr>
        <p:spPr>
          <a:xfrm>
            <a:off x="9048750" y="2468116"/>
            <a:ext cx="2327275" cy="1088281"/>
          </a:xfrm>
          <a:prstGeom prst="roundRect">
            <a:avLst>
              <a:gd name="adj" fmla="val 6710"/>
            </a:avLst>
          </a:prstGeom>
          <a:solidFill>
            <a:srgbClr val="ECEAE4"/>
          </a:solidFill>
          <a:ln w="6350">
            <a:solidFill>
              <a:srgbClr val="CFCAC0"/>
            </a:solidFill>
            <a:prstDash val="solid"/>
          </a:ln>
        </p:spPr>
      </p:sp>
      <p:sp>
        <p:nvSpPr>
          <p:cNvPr id="21" name="Text 16"/>
          <p:cNvSpPr/>
          <p:nvPr/>
        </p:nvSpPr>
        <p:spPr>
          <a:xfrm>
            <a:off x="9229725" y="2623691"/>
            <a:ext cx="202428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079"/>
                </a:solidFill>
                <a:latin typeface="JetBrains Mono" pitchFamily="49" charset="0"/>
                <a:ea typeface="JetBrains Mono" pitchFamily="49" charset="-122"/>
                <a:cs typeface="JetBrains Mono" pitchFamily="49" charset="-120"/>
              </a:rPr>
              <a:t>OpenSpec CLI</a:t>
            </a:r>
            <a:endParaRPr lang="en-US" sz="1200" dirty="0"/>
          </a:p>
        </p:txBody>
      </p:sp>
      <p:sp>
        <p:nvSpPr>
          <p:cNvPr id="22" name="Text 17"/>
          <p:cNvSpPr/>
          <p:nvPr/>
        </p:nvSpPr>
        <p:spPr>
          <a:xfrm>
            <a:off x="9229725" y="2887811"/>
            <a:ext cx="2024285"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2B"/>
                </a:solidFill>
                <a:latin typeface="JetBrains Mono" pitchFamily="49" charset="0"/>
                <a:ea typeface="JetBrains Mono" pitchFamily="49" charset="-122"/>
                <a:cs typeface="JetBrains Mono" pitchFamily="49" charset="-120"/>
              </a:rPr>
              <a:t>continue · tasks</a:t>
            </a:r>
            <a:endParaRPr lang="en-US" sz="1400" dirty="0"/>
          </a:p>
        </p:txBody>
      </p:sp>
      <p:sp>
        <p:nvSpPr>
          <p:cNvPr id="23" name="Text 18"/>
          <p:cNvSpPr/>
          <p:nvPr/>
        </p:nvSpPr>
        <p:spPr>
          <a:xfrm>
            <a:off x="9229725" y="3187502"/>
            <a:ext cx="202428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Lista de tareas del change</a:t>
            </a:r>
            <a:endParaRPr lang="en-US" sz="1200" dirty="0"/>
          </a:p>
        </p:txBody>
      </p:sp>
      <p:sp>
        <p:nvSpPr>
          <p:cNvPr id="24" name="Shape 19"/>
          <p:cNvSpPr/>
          <p:nvPr/>
        </p:nvSpPr>
        <p:spPr>
          <a:xfrm>
            <a:off x="819150" y="3882132"/>
            <a:ext cx="2327275" cy="1307951"/>
          </a:xfrm>
          <a:prstGeom prst="roundRect">
            <a:avLst>
              <a:gd name="adj" fmla="val 5340"/>
            </a:avLst>
          </a:prstGeom>
          <a:solidFill>
            <a:srgbClr val="FCFBF8"/>
          </a:solidFill>
          <a:ln w="12700">
            <a:solidFill>
              <a:srgbClr val="A8521D"/>
            </a:solidFill>
            <a:prstDash val="solid"/>
          </a:ln>
        </p:spPr>
      </p:sp>
      <p:sp>
        <p:nvSpPr>
          <p:cNvPr id="25" name="Text 20"/>
          <p:cNvSpPr/>
          <p:nvPr/>
        </p:nvSpPr>
        <p:spPr>
          <a:xfrm>
            <a:off x="1003300" y="4040882"/>
            <a:ext cx="201774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521D"/>
                </a:solidFill>
                <a:latin typeface="JetBrains Mono" pitchFamily="49" charset="0"/>
                <a:ea typeface="JetBrains Mono" pitchFamily="49" charset="-122"/>
                <a:cs typeface="JetBrains Mono" pitchFamily="49" charset="-120"/>
              </a:rPr>
              <a:t>Agente propio</a:t>
            </a:r>
            <a:endParaRPr lang="en-US" sz="1200" dirty="0"/>
          </a:p>
        </p:txBody>
      </p:sp>
      <p:sp>
        <p:nvSpPr>
          <p:cNvPr id="26" name="Text 21"/>
          <p:cNvSpPr/>
          <p:nvPr/>
        </p:nvSpPr>
        <p:spPr>
          <a:xfrm>
            <a:off x="1003300" y="4305002"/>
            <a:ext cx="2017744"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2B"/>
                </a:solidFill>
                <a:latin typeface="JetBrains Mono" pitchFamily="49" charset="0"/>
                <a:ea typeface="JetBrains Mono" pitchFamily="49" charset="-122"/>
                <a:cs typeface="JetBrains Mono" pitchFamily="49" charset="-120"/>
              </a:rPr>
              <a:t>tdd-apply</a:t>
            </a:r>
            <a:endParaRPr lang="en-US" sz="1400" dirty="0"/>
          </a:p>
        </p:txBody>
      </p:sp>
      <p:sp>
        <p:nvSpPr>
          <p:cNvPr id="27" name="Text 22"/>
          <p:cNvSpPr/>
          <p:nvPr/>
        </p:nvSpPr>
        <p:spPr>
          <a:xfrm>
            <a:off x="1003300" y="4604693"/>
            <a:ext cx="201774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Implementa con RED → GREEN</a:t>
            </a:r>
            <a:endParaRPr lang="en-US" sz="1200" dirty="0"/>
          </a:p>
        </p:txBody>
      </p:sp>
      <p:pic>
        <p:nvPicPr>
          <p:cNvPr id="28" name="Image 3" descr="arrow-right">    </p:cNvPr>
          <p:cNvPicPr>
            <a:picLocks noChangeAspect="1"/>
          </p:cNvPicPr>
          <p:nvPr/>
        </p:nvPicPr>
        <p:blipFill>
          <a:blip r:embed="rId4"/>
          <a:srcRect l="0" r="0" t="0" b="0"/>
          <a:stretch/>
        </p:blipFill>
        <p:spPr>
          <a:xfrm>
            <a:off x="3254375" y="4485283"/>
            <a:ext cx="203200" cy="101600"/>
          </a:xfrm>
          <a:prstGeom prst="rect">
            <a:avLst/>
          </a:prstGeom>
        </p:spPr>
      </p:pic>
      <p:sp>
        <p:nvSpPr>
          <p:cNvPr id="29" name="Shape 23"/>
          <p:cNvSpPr/>
          <p:nvPr/>
        </p:nvSpPr>
        <p:spPr>
          <a:xfrm>
            <a:off x="3565525" y="3988792"/>
            <a:ext cx="2327275" cy="1094631"/>
          </a:xfrm>
          <a:prstGeom prst="roundRect">
            <a:avLst>
              <a:gd name="adj" fmla="val 6381"/>
            </a:avLst>
          </a:prstGeom>
          <a:solidFill>
            <a:srgbClr val="FCFBF8"/>
          </a:solidFill>
          <a:ln w="12700">
            <a:solidFill>
              <a:srgbClr val="A8521D"/>
            </a:solidFill>
            <a:prstDash val="solid"/>
          </a:ln>
        </p:spPr>
      </p:sp>
      <p:sp>
        <p:nvSpPr>
          <p:cNvPr id="30" name="Text 24"/>
          <p:cNvSpPr/>
          <p:nvPr/>
        </p:nvSpPr>
        <p:spPr>
          <a:xfrm>
            <a:off x="3749675" y="4147542"/>
            <a:ext cx="201774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521D"/>
                </a:solidFill>
                <a:latin typeface="JetBrains Mono" pitchFamily="49" charset="0"/>
                <a:ea typeface="JetBrains Mono" pitchFamily="49" charset="-122"/>
                <a:cs typeface="JetBrains Mono" pitchFamily="49" charset="-120"/>
              </a:rPr>
              <a:t>Agente propio</a:t>
            </a:r>
            <a:endParaRPr lang="en-US" sz="1200" dirty="0"/>
          </a:p>
        </p:txBody>
      </p:sp>
      <p:sp>
        <p:nvSpPr>
          <p:cNvPr id="31" name="Text 25"/>
          <p:cNvSpPr/>
          <p:nvPr/>
        </p:nvSpPr>
        <p:spPr>
          <a:xfrm>
            <a:off x="3749675" y="4411663"/>
            <a:ext cx="2017744"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2B"/>
                </a:solidFill>
                <a:latin typeface="JetBrains Mono" pitchFamily="49" charset="0"/>
                <a:ea typeface="JetBrains Mono" pitchFamily="49" charset="-122"/>
                <a:cs typeface="JetBrains Mono" pitchFamily="49" charset="-120"/>
              </a:rPr>
              <a:t>code-review</a:t>
            </a:r>
            <a:endParaRPr lang="en-US" sz="1400" dirty="0"/>
          </a:p>
        </p:txBody>
      </p:sp>
      <p:sp>
        <p:nvSpPr>
          <p:cNvPr id="32" name="Text 26"/>
          <p:cNvSpPr/>
          <p:nvPr/>
        </p:nvSpPr>
        <p:spPr>
          <a:xfrm>
            <a:off x="3749675" y="4711353"/>
            <a:ext cx="201774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Revisa el diff completo</a:t>
            </a:r>
            <a:endParaRPr lang="en-US" sz="1200" dirty="0"/>
          </a:p>
        </p:txBody>
      </p:sp>
      <p:pic>
        <p:nvPicPr>
          <p:cNvPr id="33" name="Image 4" descr="arrow-right">    </p:cNvPr>
          <p:cNvPicPr>
            <a:picLocks noChangeAspect="1"/>
          </p:cNvPicPr>
          <p:nvPr/>
        </p:nvPicPr>
        <p:blipFill>
          <a:blip r:embed="rId5"/>
          <a:srcRect l="0" r="0" t="0" b="0"/>
          <a:stretch/>
        </p:blipFill>
        <p:spPr>
          <a:xfrm>
            <a:off x="6000750" y="4485283"/>
            <a:ext cx="203200" cy="101600"/>
          </a:xfrm>
          <a:prstGeom prst="rect">
            <a:avLst/>
          </a:prstGeom>
        </p:spPr>
      </p:pic>
      <p:sp>
        <p:nvSpPr>
          <p:cNvPr id="34" name="Shape 27"/>
          <p:cNvSpPr/>
          <p:nvPr/>
        </p:nvSpPr>
        <p:spPr>
          <a:xfrm>
            <a:off x="6311900" y="3988792"/>
            <a:ext cx="2327275" cy="1094631"/>
          </a:xfrm>
          <a:prstGeom prst="roundRect">
            <a:avLst>
              <a:gd name="adj" fmla="val 6381"/>
            </a:avLst>
          </a:prstGeom>
          <a:solidFill>
            <a:srgbClr val="ECEAE4"/>
          </a:solidFill>
          <a:ln w="12700">
            <a:solidFill>
              <a:srgbClr val="A8521D"/>
            </a:solidFill>
            <a:prstDash val="dash"/>
          </a:ln>
        </p:spPr>
      </p:sp>
      <p:sp>
        <p:nvSpPr>
          <p:cNvPr id="35" name="Text 28"/>
          <p:cNvSpPr/>
          <p:nvPr/>
        </p:nvSpPr>
        <p:spPr>
          <a:xfrm>
            <a:off x="6496050" y="4147542"/>
            <a:ext cx="201774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521D"/>
                </a:solidFill>
                <a:latin typeface="JetBrains Mono" pitchFamily="49" charset="0"/>
                <a:ea typeface="JetBrains Mono" pitchFamily="49" charset="-122"/>
                <a:cs typeface="JetBrains Mono" pitchFamily="49" charset="-120"/>
              </a:rPr>
              <a:t>OpenSpec + skill</a:t>
            </a:r>
            <a:endParaRPr lang="en-US" sz="1200" dirty="0"/>
          </a:p>
        </p:txBody>
      </p:sp>
      <p:sp>
        <p:nvSpPr>
          <p:cNvPr id="36" name="Text 29"/>
          <p:cNvSpPr/>
          <p:nvPr/>
        </p:nvSpPr>
        <p:spPr>
          <a:xfrm>
            <a:off x="6496050" y="4411663"/>
            <a:ext cx="2017744"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2B"/>
                </a:solidFill>
                <a:latin typeface="JetBrains Mono" pitchFamily="49" charset="0"/>
                <a:ea typeface="JetBrains Mono" pitchFamily="49" charset="-122"/>
                <a:cs typeface="JetBrains Mono" pitchFamily="49" charset="-120"/>
              </a:rPr>
              <a:t>verify-change</a:t>
            </a:r>
            <a:endParaRPr lang="en-US" sz="1400" dirty="0"/>
          </a:p>
        </p:txBody>
      </p:sp>
      <p:sp>
        <p:nvSpPr>
          <p:cNvPr id="37" name="Text 30"/>
          <p:cNvSpPr/>
          <p:nvPr/>
        </p:nvSpPr>
        <p:spPr>
          <a:xfrm>
            <a:off x="6496050" y="4711353"/>
            <a:ext cx="201774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Heurístico, más strict-verify</a:t>
            </a:r>
            <a:endParaRPr lang="en-US" sz="1200" dirty="0"/>
          </a:p>
        </p:txBody>
      </p:sp>
      <p:pic>
        <p:nvPicPr>
          <p:cNvPr id="38" name="Image 5" descr="arrow-right">    </p:cNvPr>
          <p:cNvPicPr>
            <a:picLocks noChangeAspect="1"/>
          </p:cNvPicPr>
          <p:nvPr/>
        </p:nvPicPr>
        <p:blipFill>
          <a:blip r:embed="rId6"/>
          <a:srcRect l="0" r="0" t="0" b="0"/>
          <a:stretch/>
        </p:blipFill>
        <p:spPr>
          <a:xfrm>
            <a:off x="8747125" y="4485283"/>
            <a:ext cx="203200" cy="101600"/>
          </a:xfrm>
          <a:prstGeom prst="rect">
            <a:avLst/>
          </a:prstGeom>
        </p:spPr>
      </p:pic>
      <p:sp>
        <p:nvSpPr>
          <p:cNvPr id="39" name="Shape 31"/>
          <p:cNvSpPr/>
          <p:nvPr/>
        </p:nvSpPr>
        <p:spPr>
          <a:xfrm>
            <a:off x="9055100" y="3991967"/>
            <a:ext cx="2320925" cy="1088281"/>
          </a:xfrm>
          <a:prstGeom prst="roundRect">
            <a:avLst>
              <a:gd name="adj" fmla="val 6710"/>
            </a:avLst>
          </a:prstGeom>
          <a:solidFill>
            <a:srgbClr val="ECEAE4"/>
          </a:solidFill>
          <a:ln w="6350">
            <a:solidFill>
              <a:srgbClr val="CFCAC0"/>
            </a:solidFill>
            <a:prstDash val="solid"/>
          </a:ln>
        </p:spPr>
      </p:sp>
      <p:sp>
        <p:nvSpPr>
          <p:cNvPr id="40" name="Text 32"/>
          <p:cNvSpPr/>
          <p:nvPr/>
        </p:nvSpPr>
        <p:spPr>
          <a:xfrm>
            <a:off x="9236075" y="4147542"/>
            <a:ext cx="201774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079"/>
                </a:solidFill>
                <a:latin typeface="JetBrains Mono" pitchFamily="49" charset="0"/>
                <a:ea typeface="JetBrains Mono" pitchFamily="49" charset="-122"/>
                <a:cs typeface="JetBrains Mono" pitchFamily="49" charset="-120"/>
              </a:rPr>
              <a:t>OpenSpec CLI</a:t>
            </a:r>
            <a:endParaRPr lang="en-US" sz="1200" dirty="0"/>
          </a:p>
        </p:txBody>
      </p:sp>
      <p:sp>
        <p:nvSpPr>
          <p:cNvPr id="41" name="Text 33"/>
          <p:cNvSpPr/>
          <p:nvPr/>
        </p:nvSpPr>
        <p:spPr>
          <a:xfrm>
            <a:off x="9236075" y="4411663"/>
            <a:ext cx="2017744"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2B"/>
                </a:solidFill>
                <a:latin typeface="JetBrains Mono" pitchFamily="49" charset="0"/>
                <a:ea typeface="JetBrains Mono" pitchFamily="49" charset="-122"/>
                <a:cs typeface="JetBrains Mono" pitchFamily="49" charset="-120"/>
              </a:rPr>
              <a:t>archive-change</a:t>
            </a:r>
            <a:endParaRPr lang="en-US" sz="1400" dirty="0"/>
          </a:p>
        </p:txBody>
      </p:sp>
      <p:sp>
        <p:nvSpPr>
          <p:cNvPr id="42" name="Text 34"/>
          <p:cNvSpPr/>
          <p:nvPr/>
        </p:nvSpPr>
        <p:spPr>
          <a:xfrm>
            <a:off x="9236075" y="4711353"/>
            <a:ext cx="201774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Fusiona deltas y archiva</a:t>
            </a:r>
            <a:endParaRPr lang="en-US" sz="1200" dirty="0"/>
          </a:p>
        </p:txBody>
      </p:sp>
      <p:sp>
        <p:nvSpPr>
          <p:cNvPr id="43" name="Shape 35"/>
          <p:cNvSpPr/>
          <p:nvPr/>
        </p:nvSpPr>
        <p:spPr>
          <a:xfrm>
            <a:off x="815975" y="5484068"/>
            <a:ext cx="146050" cy="146050"/>
          </a:xfrm>
          <a:prstGeom prst="roundRect">
            <a:avLst>
              <a:gd name="adj" fmla="val 15217"/>
            </a:avLst>
          </a:prstGeom>
          <a:solidFill>
            <a:srgbClr val="ECEAE4"/>
          </a:solidFill>
          <a:ln w="6350">
            <a:solidFill>
              <a:srgbClr val="CFCAC0"/>
            </a:solidFill>
            <a:prstDash val="solid"/>
          </a:ln>
        </p:spPr>
      </p:sp>
      <p:sp>
        <p:nvSpPr>
          <p:cNvPr id="44" name="Text 36"/>
          <p:cNvSpPr/>
          <p:nvPr/>
        </p:nvSpPr>
        <p:spPr>
          <a:xfrm>
            <a:off x="1041400" y="5450433"/>
            <a:ext cx="21244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Comando de OpenSpec CLI</a:t>
            </a:r>
            <a:endParaRPr lang="en-US" sz="1200" dirty="0"/>
          </a:p>
        </p:txBody>
      </p:sp>
      <p:sp>
        <p:nvSpPr>
          <p:cNvPr id="45" name="Shape 37"/>
          <p:cNvSpPr/>
          <p:nvPr/>
        </p:nvSpPr>
        <p:spPr>
          <a:xfrm>
            <a:off x="3172172" y="5487243"/>
            <a:ext cx="139700" cy="139700"/>
          </a:xfrm>
          <a:prstGeom prst="roundRect">
            <a:avLst>
              <a:gd name="adj" fmla="val 13636"/>
            </a:avLst>
          </a:prstGeom>
          <a:solidFill>
            <a:srgbClr val="FCFBF8"/>
          </a:solidFill>
          <a:ln w="12700">
            <a:solidFill>
              <a:srgbClr val="A8521D"/>
            </a:solidFill>
            <a:prstDash val="solid"/>
          </a:ln>
        </p:spPr>
      </p:sp>
      <p:sp>
        <p:nvSpPr>
          <p:cNvPr id="46" name="Text 38"/>
          <p:cNvSpPr/>
          <p:nvPr/>
        </p:nvSpPr>
        <p:spPr>
          <a:xfrm>
            <a:off x="3394422" y="5450433"/>
            <a:ext cx="240089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Pieza propia sobre OpenSpec</a:t>
            </a:r>
            <a:endParaRPr lang="en-US" sz="1200" dirty="0"/>
          </a:p>
        </p:txBody>
      </p:sp>
      <p:sp>
        <p:nvSpPr>
          <p:cNvPr id="47" name="Text 39"/>
          <p:cNvSpPr/>
          <p:nvPr/>
        </p:nvSpPr>
        <p:spPr>
          <a:xfrm>
            <a:off x="812800" y="6238280"/>
            <a:ext cx="47183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079"/>
                </a:solidFill>
                <a:latin typeface="JetBrains Mono" pitchFamily="49" charset="0"/>
                <a:ea typeface="JetBrains Mono" pitchFamily="49" charset="-122"/>
                <a:cs typeface="JetBrains Mono" pitchFamily="49" charset="-120"/>
              </a:rPr>
              <a:t>De OpenSpec a un sistema multiagente propio</a:t>
            </a:r>
            <a:endParaRPr lang="en-US" sz="1200" dirty="0"/>
          </a:p>
        </p:txBody>
      </p:sp>
      <p:sp>
        <p:nvSpPr>
          <p:cNvPr id="48" name="Text 40"/>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079"/>
                </a:solidFill>
                <a:latin typeface="JetBrains Mono" pitchFamily="49" charset="0"/>
                <a:ea typeface="JetBrains Mono" pitchFamily="49" charset="-122"/>
                <a:cs typeface="JetBrains Mono" pitchFamily="49"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8521D"/>
                </a:solidFill>
                <a:latin typeface="JetBrains Mono" pitchFamily="49" charset="0"/>
                <a:ea typeface="JetBrains Mono" pitchFamily="49" charset="-122"/>
                <a:cs typeface="JetBrains Mono" pitchFamily="49" charset="-120"/>
              </a:rPr>
              <a:t>ANTES · OPENSPEC</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IBM Plex Sans" pitchFamily="34" charset="0"/>
                <a:ea typeface="IBM Plex Sans" pitchFamily="34" charset="-122"/>
                <a:cs typeface="IBM Plex Sans" pitchFamily="34" charset="-120"/>
              </a:rPr>
              <a:t>Solo construíamos donde OpenSpec fallaba</a:t>
            </a:r>
            <a:endParaRPr lang="en-US" sz="3200" dirty="0"/>
          </a:p>
        </p:txBody>
      </p:sp>
      <p:sp>
        <p:nvSpPr>
          <p:cNvPr id="4" name="Shape 2"/>
          <p:cNvSpPr/>
          <p:nvPr/>
        </p:nvSpPr>
        <p:spPr>
          <a:xfrm>
            <a:off x="815975" y="1953816"/>
            <a:ext cx="2482850" cy="2980482"/>
          </a:xfrm>
          <a:prstGeom prst="roundRect">
            <a:avLst>
              <a:gd name="adj" fmla="val 3964"/>
            </a:avLst>
          </a:prstGeom>
          <a:solidFill>
            <a:srgbClr val="FCFBF8"/>
          </a:solidFill>
          <a:ln w="6350">
            <a:solidFill>
              <a:srgbClr val="DEDAD1"/>
            </a:solidFill>
            <a:prstDash val="solid"/>
          </a:ln>
        </p:spPr>
      </p:sp>
      <p:sp>
        <p:nvSpPr>
          <p:cNvPr id="5" name="Text 3"/>
          <p:cNvSpPr/>
          <p:nvPr/>
        </p:nvSpPr>
        <p:spPr>
          <a:xfrm>
            <a:off x="1022350" y="2160191"/>
            <a:ext cx="213220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521D"/>
                </a:solidFill>
                <a:latin typeface="JetBrains Mono" pitchFamily="49" charset="0"/>
                <a:ea typeface="JetBrains Mono" pitchFamily="49" charset="-122"/>
                <a:cs typeface="JetBrains Mono" pitchFamily="49" charset="-120"/>
              </a:rPr>
              <a:t>HUECO 1</a:t>
            </a:r>
            <a:endParaRPr lang="en-US" sz="1200" dirty="0"/>
          </a:p>
        </p:txBody>
      </p:sp>
      <p:sp>
        <p:nvSpPr>
          <p:cNvPr id="6" name="Text 4"/>
          <p:cNvSpPr/>
          <p:nvPr/>
        </p:nvSpPr>
        <p:spPr>
          <a:xfrm>
            <a:off x="1022350" y="2475111"/>
            <a:ext cx="2132203" cy="48766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02B"/>
                </a:solidFill>
                <a:latin typeface="IBM Plex Sans" pitchFamily="34" charset="0"/>
                <a:ea typeface="IBM Plex Sans" pitchFamily="34" charset="-122"/>
                <a:cs typeface="IBM Plex Sans" pitchFamily="34" charset="-120"/>
              </a:rPr>
              <a:t>apply-change no exigía RED antes de GREEN</a:t>
            </a:r>
            <a:endParaRPr lang="en-US" sz="1400" dirty="0"/>
          </a:p>
        </p:txBody>
      </p:sp>
      <p:pic>
        <p:nvPicPr>
          <p:cNvPr id="7" name="Image 0" descr="line">    </p:cNvPr>
          <p:cNvPicPr>
            <a:picLocks noChangeAspect="1"/>
          </p:cNvPicPr>
          <p:nvPr/>
        </p:nvPicPr>
        <p:blipFill>
          <a:blip r:embed="rId1"/>
          <a:srcRect l="0" r="0" t="0" b="0"/>
          <a:stretch/>
        </p:blipFill>
        <p:spPr>
          <a:xfrm>
            <a:off x="1022350" y="3038971"/>
            <a:ext cx="2070100" cy="6350"/>
          </a:xfrm>
          <a:prstGeom prst="rect">
            <a:avLst/>
          </a:prstGeom>
        </p:spPr>
      </p:pic>
      <p:sp>
        <p:nvSpPr>
          <p:cNvPr id="8" name="Text 5"/>
          <p:cNvSpPr/>
          <p:nvPr/>
        </p:nvSpPr>
        <p:spPr>
          <a:xfrm>
            <a:off x="1022350" y="3146921"/>
            <a:ext cx="213220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079"/>
                </a:solidFill>
                <a:latin typeface="JetBrains Mono" pitchFamily="49" charset="0"/>
                <a:ea typeface="JetBrains Mono" pitchFamily="49" charset="-122"/>
                <a:cs typeface="JetBrains Mono" pitchFamily="49" charset="-120"/>
              </a:rPr>
              <a:t>PIEZA PROPIA</a:t>
            </a:r>
            <a:endParaRPr lang="en-US" sz="1200" dirty="0"/>
          </a:p>
        </p:txBody>
      </p:sp>
      <p:sp>
        <p:nvSpPr>
          <p:cNvPr id="9" name="Text 6"/>
          <p:cNvSpPr/>
          <p:nvPr/>
        </p:nvSpPr>
        <p:spPr>
          <a:xfrm>
            <a:off x="1022350" y="3461841"/>
            <a:ext cx="213220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02B"/>
                </a:solidFill>
                <a:latin typeface="JetBrains Mono" pitchFamily="49" charset="0"/>
                <a:ea typeface="JetBrains Mono" pitchFamily="49" charset="-122"/>
                <a:cs typeface="JetBrains Mono" pitchFamily="49" charset="-120"/>
              </a:rPr>
              <a:t>tdd-apply</a:t>
            </a:r>
            <a:endParaRPr lang="en-US" sz="1200" dirty="0"/>
          </a:p>
        </p:txBody>
      </p:sp>
      <p:sp>
        <p:nvSpPr>
          <p:cNvPr id="10" name="Text 7"/>
          <p:cNvSpPr/>
          <p:nvPr/>
        </p:nvSpPr>
        <p:spPr>
          <a:xfrm>
            <a:off x="1022350" y="3776762"/>
            <a:ext cx="2132203"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IBM Plex Sans" pitchFamily="34" charset="0"/>
                <a:ea typeface="IBM Plex Sans" pitchFamily="34" charset="-122"/>
                <a:cs typeface="IBM Plex Sans" pitchFamily="34" charset="-120"/>
              </a:rPr>
              <a:t>Agente que obligaba a ver el test en rojo primero</a:t>
            </a:r>
            <a:endParaRPr lang="en-US" sz="1400" dirty="0"/>
          </a:p>
        </p:txBody>
      </p:sp>
      <p:sp>
        <p:nvSpPr>
          <p:cNvPr id="11" name="Shape 8"/>
          <p:cNvSpPr/>
          <p:nvPr/>
        </p:nvSpPr>
        <p:spPr>
          <a:xfrm>
            <a:off x="3508375" y="1953816"/>
            <a:ext cx="2482850" cy="2980482"/>
          </a:xfrm>
          <a:prstGeom prst="roundRect">
            <a:avLst>
              <a:gd name="adj" fmla="val 3964"/>
            </a:avLst>
          </a:prstGeom>
          <a:solidFill>
            <a:srgbClr val="FCFBF8"/>
          </a:solidFill>
          <a:ln w="6350">
            <a:solidFill>
              <a:srgbClr val="DEDAD1"/>
            </a:solidFill>
            <a:prstDash val="solid"/>
          </a:ln>
        </p:spPr>
      </p:sp>
      <p:sp>
        <p:nvSpPr>
          <p:cNvPr id="12" name="Text 9"/>
          <p:cNvSpPr/>
          <p:nvPr/>
        </p:nvSpPr>
        <p:spPr>
          <a:xfrm>
            <a:off x="3714750" y="2160191"/>
            <a:ext cx="213220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521D"/>
                </a:solidFill>
                <a:latin typeface="JetBrains Mono" pitchFamily="49" charset="0"/>
                <a:ea typeface="JetBrains Mono" pitchFamily="49" charset="-122"/>
                <a:cs typeface="JetBrains Mono" pitchFamily="49" charset="-120"/>
              </a:rPr>
              <a:t>HUECO 2</a:t>
            </a:r>
            <a:endParaRPr lang="en-US" sz="1200" dirty="0"/>
          </a:p>
        </p:txBody>
      </p:sp>
      <p:sp>
        <p:nvSpPr>
          <p:cNvPr id="13" name="Text 10"/>
          <p:cNvSpPr/>
          <p:nvPr/>
        </p:nvSpPr>
        <p:spPr>
          <a:xfrm>
            <a:off x="3714750" y="2475111"/>
            <a:ext cx="2132203" cy="71879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02B"/>
                </a:solidFill>
                <a:latin typeface="IBM Plex Sans" pitchFamily="34" charset="0"/>
                <a:ea typeface="IBM Plex Sans" pitchFamily="34" charset="-122"/>
                <a:cs typeface="IBM Plex Sans" pitchFamily="34" charset="-120"/>
              </a:rPr>
              <a:t>verify-change era heurístico: buscaba palabras clave</a:t>
            </a:r>
            <a:endParaRPr lang="en-US" sz="1400" dirty="0"/>
          </a:p>
        </p:txBody>
      </p:sp>
      <p:pic>
        <p:nvPicPr>
          <p:cNvPr id="14" name="Image 1" descr="line">    </p:cNvPr>
          <p:cNvPicPr>
            <a:picLocks noChangeAspect="1"/>
          </p:cNvPicPr>
          <p:nvPr/>
        </p:nvPicPr>
        <p:blipFill>
          <a:blip r:embed="rId2"/>
          <a:srcRect l="0" r="0" t="0" b="0"/>
          <a:stretch/>
        </p:blipFill>
        <p:spPr>
          <a:xfrm>
            <a:off x="3714750" y="3270101"/>
            <a:ext cx="2070100" cy="6350"/>
          </a:xfrm>
          <a:prstGeom prst="rect">
            <a:avLst/>
          </a:prstGeom>
        </p:spPr>
      </p:pic>
      <p:sp>
        <p:nvSpPr>
          <p:cNvPr id="15" name="Text 11"/>
          <p:cNvSpPr/>
          <p:nvPr/>
        </p:nvSpPr>
        <p:spPr>
          <a:xfrm>
            <a:off x="3714750" y="3378051"/>
            <a:ext cx="213220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079"/>
                </a:solidFill>
                <a:latin typeface="JetBrains Mono" pitchFamily="49" charset="0"/>
                <a:ea typeface="JetBrains Mono" pitchFamily="49" charset="-122"/>
                <a:cs typeface="JetBrains Mono" pitchFamily="49" charset="-120"/>
              </a:rPr>
              <a:t>PIEZA PROPIA</a:t>
            </a:r>
            <a:endParaRPr lang="en-US" sz="1200" dirty="0"/>
          </a:p>
        </p:txBody>
      </p:sp>
      <p:sp>
        <p:nvSpPr>
          <p:cNvPr id="16" name="Text 12"/>
          <p:cNvSpPr/>
          <p:nvPr/>
        </p:nvSpPr>
        <p:spPr>
          <a:xfrm>
            <a:off x="3714750" y="3692971"/>
            <a:ext cx="213220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02B"/>
                </a:solidFill>
                <a:latin typeface="JetBrains Mono" pitchFamily="49" charset="0"/>
                <a:ea typeface="JetBrains Mono" pitchFamily="49" charset="-122"/>
                <a:cs typeface="JetBrains Mono" pitchFamily="49" charset="-120"/>
              </a:rPr>
              <a:t>strict-verify</a:t>
            </a:r>
            <a:endParaRPr lang="en-US" sz="1200" dirty="0"/>
          </a:p>
        </p:txBody>
      </p:sp>
      <p:sp>
        <p:nvSpPr>
          <p:cNvPr id="17" name="Text 13"/>
          <p:cNvSpPr/>
          <p:nvPr/>
        </p:nvSpPr>
        <p:spPr>
          <a:xfrm>
            <a:off x="3714750" y="4007892"/>
            <a:ext cx="2132203" cy="74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IBM Plex Sans" pitchFamily="34" charset="0"/>
                <a:ea typeface="IBM Plex Sans" pitchFamily="34" charset="-122"/>
                <a:cs typeface="IBM Plex Sans" pitchFamily="34" charset="-120"/>
              </a:rPr>
              <a:t>Skill que ejecutaba validate --strict y la suite real</a:t>
            </a:r>
            <a:endParaRPr lang="en-US" sz="1400" dirty="0"/>
          </a:p>
        </p:txBody>
      </p:sp>
      <p:sp>
        <p:nvSpPr>
          <p:cNvPr id="18" name="Shape 14"/>
          <p:cNvSpPr/>
          <p:nvPr/>
        </p:nvSpPr>
        <p:spPr>
          <a:xfrm>
            <a:off x="6200775" y="1953816"/>
            <a:ext cx="2482850" cy="2980482"/>
          </a:xfrm>
          <a:prstGeom prst="roundRect">
            <a:avLst>
              <a:gd name="adj" fmla="val 3964"/>
            </a:avLst>
          </a:prstGeom>
          <a:solidFill>
            <a:srgbClr val="FCFBF8"/>
          </a:solidFill>
          <a:ln w="6350">
            <a:solidFill>
              <a:srgbClr val="DEDAD1"/>
            </a:solidFill>
            <a:prstDash val="solid"/>
          </a:ln>
        </p:spPr>
      </p:sp>
      <p:sp>
        <p:nvSpPr>
          <p:cNvPr id="19" name="Text 15"/>
          <p:cNvSpPr/>
          <p:nvPr/>
        </p:nvSpPr>
        <p:spPr>
          <a:xfrm>
            <a:off x="6407150" y="2160191"/>
            <a:ext cx="213220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521D"/>
                </a:solidFill>
                <a:latin typeface="JetBrains Mono" pitchFamily="49" charset="0"/>
                <a:ea typeface="JetBrains Mono" pitchFamily="49" charset="-122"/>
                <a:cs typeface="JetBrains Mono" pitchFamily="49" charset="-120"/>
              </a:rPr>
              <a:t>HUECO 3</a:t>
            </a:r>
            <a:endParaRPr lang="en-US" sz="1200" dirty="0"/>
          </a:p>
        </p:txBody>
      </p:sp>
      <p:sp>
        <p:nvSpPr>
          <p:cNvPr id="20" name="Text 16"/>
          <p:cNvSpPr/>
          <p:nvPr/>
        </p:nvSpPr>
        <p:spPr>
          <a:xfrm>
            <a:off x="6407150" y="2475111"/>
            <a:ext cx="2132203" cy="71879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02B"/>
                </a:solidFill>
                <a:latin typeface="IBM Plex Sans" pitchFamily="34" charset="0"/>
                <a:ea typeface="IBM Plex Sans" pitchFamily="34" charset="-122"/>
                <a:cs typeface="IBM Plex Sans" pitchFamily="34" charset="-120"/>
              </a:rPr>
              <a:t>La skill de Angular no conocía NgRx Signal Store</a:t>
            </a:r>
            <a:endParaRPr lang="en-US" sz="1400" dirty="0"/>
          </a:p>
        </p:txBody>
      </p:sp>
      <p:pic>
        <p:nvPicPr>
          <p:cNvPr id="21" name="Image 2" descr="line">    </p:cNvPr>
          <p:cNvPicPr>
            <a:picLocks noChangeAspect="1"/>
          </p:cNvPicPr>
          <p:nvPr/>
        </p:nvPicPr>
        <p:blipFill>
          <a:blip r:embed="rId3"/>
          <a:srcRect l="0" r="0" t="0" b="0"/>
          <a:stretch/>
        </p:blipFill>
        <p:spPr>
          <a:xfrm>
            <a:off x="6407150" y="3270101"/>
            <a:ext cx="2070100" cy="6350"/>
          </a:xfrm>
          <a:prstGeom prst="rect">
            <a:avLst/>
          </a:prstGeom>
        </p:spPr>
      </p:pic>
      <p:sp>
        <p:nvSpPr>
          <p:cNvPr id="22" name="Text 17"/>
          <p:cNvSpPr/>
          <p:nvPr/>
        </p:nvSpPr>
        <p:spPr>
          <a:xfrm>
            <a:off x="6407150" y="3378051"/>
            <a:ext cx="213220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079"/>
                </a:solidFill>
                <a:latin typeface="JetBrains Mono" pitchFamily="49" charset="0"/>
                <a:ea typeface="JetBrains Mono" pitchFamily="49" charset="-122"/>
                <a:cs typeface="JetBrains Mono" pitchFamily="49" charset="-120"/>
              </a:rPr>
              <a:t>PIEZA PROPIA</a:t>
            </a:r>
            <a:endParaRPr lang="en-US" sz="1200" dirty="0"/>
          </a:p>
        </p:txBody>
      </p:sp>
      <p:sp>
        <p:nvSpPr>
          <p:cNvPr id="23" name="Text 18"/>
          <p:cNvSpPr/>
          <p:nvPr/>
        </p:nvSpPr>
        <p:spPr>
          <a:xfrm>
            <a:off x="6407150" y="3692971"/>
            <a:ext cx="213220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02B"/>
                </a:solidFill>
                <a:latin typeface="JetBrains Mono" pitchFamily="49" charset="0"/>
                <a:ea typeface="JetBrains Mono" pitchFamily="49" charset="-122"/>
                <a:cs typeface="JetBrains Mono" pitchFamily="49" charset="-120"/>
              </a:rPr>
              <a:t>architecture-analysis</a:t>
            </a:r>
            <a:endParaRPr lang="en-US" sz="1200" dirty="0"/>
          </a:p>
        </p:txBody>
      </p:sp>
      <p:sp>
        <p:nvSpPr>
          <p:cNvPr id="24" name="Text 19"/>
          <p:cNvSpPr/>
          <p:nvPr/>
        </p:nvSpPr>
        <p:spPr>
          <a:xfrm>
            <a:off x="6407150" y="4007892"/>
            <a:ext cx="2132203"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IBM Plex Sans" pitchFamily="34" charset="0"/>
                <a:ea typeface="IBM Plex Sans" pitchFamily="34" charset="-122"/>
                <a:cs typeface="IBM Plex Sans" pitchFamily="34" charset="-120"/>
              </a:rPr>
              <a:t>Skill de estado, capas y testabilidad</a:t>
            </a:r>
            <a:endParaRPr lang="en-US" sz="1400" dirty="0"/>
          </a:p>
        </p:txBody>
      </p:sp>
      <p:sp>
        <p:nvSpPr>
          <p:cNvPr id="25" name="Shape 20"/>
          <p:cNvSpPr/>
          <p:nvPr/>
        </p:nvSpPr>
        <p:spPr>
          <a:xfrm>
            <a:off x="8893175" y="1953816"/>
            <a:ext cx="2482850" cy="2980482"/>
          </a:xfrm>
          <a:prstGeom prst="roundRect">
            <a:avLst>
              <a:gd name="adj" fmla="val 3964"/>
            </a:avLst>
          </a:prstGeom>
          <a:solidFill>
            <a:srgbClr val="FCFBF8"/>
          </a:solidFill>
          <a:ln w="6350">
            <a:solidFill>
              <a:srgbClr val="DEDAD1"/>
            </a:solidFill>
            <a:prstDash val="solid"/>
          </a:ln>
        </p:spPr>
      </p:sp>
      <p:sp>
        <p:nvSpPr>
          <p:cNvPr id="26" name="Text 21"/>
          <p:cNvSpPr/>
          <p:nvPr/>
        </p:nvSpPr>
        <p:spPr>
          <a:xfrm>
            <a:off x="9099550" y="2160191"/>
            <a:ext cx="213220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521D"/>
                </a:solidFill>
                <a:latin typeface="JetBrains Mono" pitchFamily="49" charset="0"/>
                <a:ea typeface="JetBrains Mono" pitchFamily="49" charset="-122"/>
                <a:cs typeface="JetBrains Mono" pitchFamily="49" charset="-120"/>
              </a:rPr>
              <a:t>HUECO 4</a:t>
            </a:r>
            <a:endParaRPr lang="en-US" sz="1200" dirty="0"/>
          </a:p>
        </p:txBody>
      </p:sp>
      <p:sp>
        <p:nvSpPr>
          <p:cNvPr id="27" name="Text 22"/>
          <p:cNvSpPr/>
          <p:nvPr/>
        </p:nvSpPr>
        <p:spPr>
          <a:xfrm>
            <a:off x="9099550" y="2475111"/>
            <a:ext cx="2132203" cy="71879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4202B"/>
                </a:solidFill>
                <a:latin typeface="IBM Plex Sans" pitchFamily="34" charset="0"/>
                <a:ea typeface="IBM Plex Sans" pitchFamily="34" charset="-122"/>
                <a:cs typeface="IBM Plex Sans" pitchFamily="34" charset="-120"/>
              </a:rPr>
              <a:t>Nada gobernaba el contrato entre repositorios</a:t>
            </a:r>
            <a:endParaRPr lang="en-US" sz="1400" dirty="0"/>
          </a:p>
        </p:txBody>
      </p:sp>
      <p:pic>
        <p:nvPicPr>
          <p:cNvPr id="28" name="Image 3" descr="line">    </p:cNvPr>
          <p:cNvPicPr>
            <a:picLocks noChangeAspect="1"/>
          </p:cNvPicPr>
          <p:nvPr/>
        </p:nvPicPr>
        <p:blipFill>
          <a:blip r:embed="rId4"/>
          <a:srcRect l="0" r="0" t="0" b="0"/>
          <a:stretch/>
        </p:blipFill>
        <p:spPr>
          <a:xfrm>
            <a:off x="9099550" y="3270101"/>
            <a:ext cx="2070100" cy="6350"/>
          </a:xfrm>
          <a:prstGeom prst="rect">
            <a:avLst/>
          </a:prstGeom>
        </p:spPr>
      </p:pic>
      <p:sp>
        <p:nvSpPr>
          <p:cNvPr id="29" name="Text 23"/>
          <p:cNvSpPr/>
          <p:nvPr/>
        </p:nvSpPr>
        <p:spPr>
          <a:xfrm>
            <a:off x="9099550" y="3378051"/>
            <a:ext cx="213220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079"/>
                </a:solidFill>
                <a:latin typeface="JetBrains Mono" pitchFamily="49" charset="0"/>
                <a:ea typeface="JetBrains Mono" pitchFamily="49" charset="-122"/>
                <a:cs typeface="JetBrains Mono" pitchFamily="49" charset="-120"/>
              </a:rPr>
              <a:t>PIEZA PROPIA</a:t>
            </a:r>
            <a:endParaRPr lang="en-US" sz="1200" dirty="0"/>
          </a:p>
        </p:txBody>
      </p:sp>
      <p:sp>
        <p:nvSpPr>
          <p:cNvPr id="30" name="Text 24"/>
          <p:cNvSpPr/>
          <p:nvPr/>
        </p:nvSpPr>
        <p:spPr>
          <a:xfrm>
            <a:off x="9099550" y="3692971"/>
            <a:ext cx="213220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02B"/>
                </a:solidFill>
                <a:latin typeface="JetBrains Mono" pitchFamily="49" charset="0"/>
                <a:ea typeface="JetBrains Mono" pitchFamily="49" charset="-122"/>
                <a:cs typeface="JetBrains Mono" pitchFamily="49" charset="-120"/>
              </a:rPr>
              <a:t>backend-questions.md</a:t>
            </a:r>
            <a:endParaRPr lang="en-US" sz="1200" dirty="0"/>
          </a:p>
        </p:txBody>
      </p:sp>
      <p:sp>
        <p:nvSpPr>
          <p:cNvPr id="31" name="Text 25"/>
          <p:cNvSpPr/>
          <p:nvPr/>
        </p:nvSpPr>
        <p:spPr>
          <a:xfrm>
            <a:off x="9099550" y="4007892"/>
            <a:ext cx="2132203"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IBM Plex Sans" pitchFamily="34" charset="0"/>
                <a:ea typeface="IBM Plex Sans" pitchFamily="34" charset="-122"/>
                <a:cs typeface="IBM Plex Sans" pitchFamily="34" charset="-120"/>
              </a:rPr>
              <a:t>Protocolo BQ-n de preguntas al backend</a:t>
            </a:r>
            <a:endParaRPr lang="en-US" sz="1400" dirty="0"/>
          </a:p>
        </p:txBody>
      </p:sp>
      <p:sp>
        <p:nvSpPr>
          <p:cNvPr id="32" name="Text 26"/>
          <p:cNvSpPr/>
          <p:nvPr/>
        </p:nvSpPr>
        <p:spPr>
          <a:xfrm>
            <a:off x="812800" y="5293072"/>
            <a:ext cx="1088339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Enfoque </a:t>
            </a:r>
            <a:r>
              <a:rPr lang="en-US" sz="1400" b="1" dirty="0">
                <a:solidFill>
                  <a:srgbClr val="4A5568"/>
                </a:solidFill>
                <a:latin typeface="IBM Plex Sans" pitchFamily="34" charset="0"/>
                <a:ea typeface="IBM Plex Sans" pitchFamily="34" charset="-122"/>
                <a:cs typeface="IBM Plex Sans" pitchFamily="34" charset="-120"/>
              </a:rPr>
              <a:t>gap-first</a:t>
            </a:r>
            <a:r>
              <a:rPr lang="en-US" sz="1400" dirty="0">
                <a:solidFill>
                  <a:srgbClr val="4A5568"/>
                </a:solidFill>
                <a:latin typeface="IBM Plex Sans" pitchFamily="34" charset="0"/>
                <a:ea typeface="IBM Plex Sans" pitchFamily="34" charset="-122"/>
                <a:cs typeface="IBM Plex Sans" pitchFamily="34" charset="-120"/>
              </a:rPr>
              <a:t>: auditar lo nativo y construir solo lo que faltaba. Funcionó, pero el corazón del flujo seguía siendo de la herramienta.</a:t>
            </a:r>
            <a:endParaRPr lang="en-US" sz="1400" dirty="0"/>
          </a:p>
        </p:txBody>
      </p:sp>
      <p:sp>
        <p:nvSpPr>
          <p:cNvPr id="33" name="Text 27"/>
          <p:cNvSpPr/>
          <p:nvPr/>
        </p:nvSpPr>
        <p:spPr>
          <a:xfrm>
            <a:off x="812800" y="6238280"/>
            <a:ext cx="47183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079"/>
                </a:solidFill>
                <a:latin typeface="JetBrains Mono" pitchFamily="49" charset="0"/>
                <a:ea typeface="JetBrains Mono" pitchFamily="49" charset="-122"/>
                <a:cs typeface="JetBrains Mono" pitchFamily="49" charset="-120"/>
              </a:rPr>
              <a:t>De OpenSpec a un sistema multiagente propio</a:t>
            </a:r>
            <a:endParaRPr lang="en-US" sz="1200" dirty="0"/>
          </a:p>
        </p:txBody>
      </p:sp>
      <p:sp>
        <p:nvSpPr>
          <p:cNvPr id="34" name="Text 28"/>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079"/>
                </a:solidFill>
                <a:latin typeface="JetBrains Mono" pitchFamily="49" charset="0"/>
                <a:ea typeface="JetBrains Mono" pitchFamily="49" charset="-122"/>
                <a:cs typeface="JetBrains Mono" pitchFamily="49"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8521D"/>
                </a:solidFill>
                <a:latin typeface="JetBrains Mono" pitchFamily="49" charset="0"/>
                <a:ea typeface="JetBrains Mono" pitchFamily="49" charset="-122"/>
                <a:cs typeface="JetBrains Mono" pitchFamily="49" charset="-120"/>
              </a:rPr>
              <a:t>ANTES · OPENSPEC</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IBM Plex Sans" pitchFamily="34" charset="0"/>
                <a:ea typeface="IBM Plex Sans" pitchFamily="34" charset="-122"/>
                <a:cs typeface="IBM Plex Sans" pitchFamily="34" charset="-120"/>
              </a:rPr>
              <a:t>Lo que nos limitaba</a:t>
            </a:r>
            <a:endParaRPr lang="en-US" sz="3200" dirty="0"/>
          </a:p>
        </p:txBody>
      </p:sp>
      <p:sp>
        <p:nvSpPr>
          <p:cNvPr id="4" name="Shape 2"/>
          <p:cNvSpPr/>
          <p:nvPr/>
        </p:nvSpPr>
        <p:spPr>
          <a:xfrm>
            <a:off x="815975" y="1953816"/>
            <a:ext cx="3414167" cy="1300361"/>
          </a:xfrm>
          <a:prstGeom prst="roundRect">
            <a:avLst>
              <a:gd name="adj" fmla="val 7569"/>
            </a:avLst>
          </a:prstGeom>
          <a:solidFill>
            <a:srgbClr val="FCFBF8"/>
          </a:solidFill>
          <a:ln w="6350">
            <a:solidFill>
              <a:srgbClr val="DEDAD1"/>
            </a:solidFill>
            <a:prstDash val="solid"/>
          </a:ln>
        </p:spPr>
      </p:sp>
      <p:pic>
        <p:nvPicPr>
          <p:cNvPr id="5" name="Image 0" descr="Link">    </p:cNvPr>
          <p:cNvPicPr>
            <a:picLocks noChangeAspect="1"/>
          </p:cNvPicPr>
          <p:nvPr/>
        </p:nvPicPr>
        <p:blipFill>
          <a:blip r:embed="rId1"/>
          <a:srcRect l="0" r="0" t="0" b="0"/>
          <a:stretch/>
        </p:blipFill>
        <p:spPr>
          <a:xfrm>
            <a:off x="996950" y="2144316"/>
            <a:ext cx="203200" cy="203200"/>
          </a:xfrm>
          <a:prstGeom prst="rect">
            <a:avLst/>
          </a:prstGeom>
        </p:spPr>
      </p:pic>
      <p:sp>
        <p:nvSpPr>
          <p:cNvPr id="6" name="Text 3"/>
          <p:cNvSpPr/>
          <p:nvPr/>
        </p:nvSpPr>
        <p:spPr>
          <a:xfrm>
            <a:off x="1276350" y="2134791"/>
            <a:ext cx="2950617"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02B"/>
                </a:solidFill>
                <a:latin typeface="IBM Plex Sans" pitchFamily="34" charset="0"/>
                <a:ea typeface="IBM Plex Sans" pitchFamily="34" charset="-122"/>
                <a:cs typeface="IBM Plex Sans" pitchFamily="34" charset="-120"/>
              </a:rPr>
              <a:t>Dependencia de un CLI externo</a:t>
            </a:r>
            <a:endParaRPr lang="en-US" sz="1400" dirty="0"/>
          </a:p>
        </p:txBody>
      </p:sp>
      <p:sp>
        <p:nvSpPr>
          <p:cNvPr id="7" name="Text 4"/>
          <p:cNvSpPr/>
          <p:nvPr/>
        </p:nvSpPr>
        <p:spPr>
          <a:xfrm>
            <a:off x="996950" y="2433241"/>
            <a:ext cx="3143783"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Versión, comandos y formato de los artefactos los decidía OpenSpec, no el equipo.</a:t>
            </a:r>
            <a:endParaRPr lang="en-US" sz="1200" dirty="0"/>
          </a:p>
        </p:txBody>
      </p:sp>
      <p:sp>
        <p:nvSpPr>
          <p:cNvPr id="8" name="Shape 5"/>
          <p:cNvSpPr/>
          <p:nvPr/>
        </p:nvSpPr>
        <p:spPr>
          <a:xfrm>
            <a:off x="4388892" y="1953816"/>
            <a:ext cx="3414167" cy="1300361"/>
          </a:xfrm>
          <a:prstGeom prst="roundRect">
            <a:avLst>
              <a:gd name="adj" fmla="val 7569"/>
            </a:avLst>
          </a:prstGeom>
          <a:solidFill>
            <a:srgbClr val="FCFBF8"/>
          </a:solidFill>
          <a:ln w="6350">
            <a:solidFill>
              <a:srgbClr val="DEDAD1"/>
            </a:solidFill>
            <a:prstDash val="solid"/>
          </a:ln>
        </p:spPr>
      </p:sp>
      <p:pic>
        <p:nvPicPr>
          <p:cNvPr id="9" name="Image 1" descr="Settings">    </p:cNvPr>
          <p:cNvPicPr>
            <a:picLocks noChangeAspect="1"/>
          </p:cNvPicPr>
          <p:nvPr/>
        </p:nvPicPr>
        <p:blipFill>
          <a:blip r:embed="rId2"/>
          <a:srcRect l="0" r="0" t="0" b="0"/>
          <a:stretch/>
        </p:blipFill>
        <p:spPr>
          <a:xfrm>
            <a:off x="4569867" y="2144316"/>
            <a:ext cx="203200" cy="203200"/>
          </a:xfrm>
          <a:prstGeom prst="rect">
            <a:avLst/>
          </a:prstGeom>
        </p:spPr>
      </p:pic>
      <p:sp>
        <p:nvSpPr>
          <p:cNvPr id="10" name="Text 6"/>
          <p:cNvSpPr/>
          <p:nvPr/>
        </p:nvSpPr>
        <p:spPr>
          <a:xfrm>
            <a:off x="4849267" y="2134791"/>
            <a:ext cx="193417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02B"/>
                </a:solidFill>
                <a:latin typeface="IBM Plex Sans" pitchFamily="34" charset="0"/>
                <a:ea typeface="IBM Plex Sans" pitchFamily="34" charset="-122"/>
                <a:cs typeface="IBM Plex Sans" pitchFamily="34" charset="-120"/>
              </a:rPr>
              <a:t>Configuración frágil</a:t>
            </a:r>
            <a:endParaRPr lang="en-US" sz="1400" dirty="0"/>
          </a:p>
        </p:txBody>
      </p:sp>
      <p:sp>
        <p:nvSpPr>
          <p:cNvPr id="11" name="Text 7"/>
          <p:cNvSpPr/>
          <p:nvPr/>
        </p:nvSpPr>
        <p:spPr>
          <a:xfrm>
            <a:off x="4569867" y="2433241"/>
            <a:ext cx="31437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En config.yaml, un valor con «: » sin comillas rompía la configuración completa.</a:t>
            </a:r>
            <a:endParaRPr lang="en-US" sz="1200" dirty="0"/>
          </a:p>
        </p:txBody>
      </p:sp>
      <p:sp>
        <p:nvSpPr>
          <p:cNvPr id="12" name="Shape 8"/>
          <p:cNvSpPr/>
          <p:nvPr/>
        </p:nvSpPr>
        <p:spPr>
          <a:xfrm>
            <a:off x="7961809" y="1953816"/>
            <a:ext cx="3414216" cy="1300361"/>
          </a:xfrm>
          <a:prstGeom prst="roundRect">
            <a:avLst>
              <a:gd name="adj" fmla="val 7569"/>
            </a:avLst>
          </a:prstGeom>
          <a:solidFill>
            <a:srgbClr val="FCFBF8"/>
          </a:solidFill>
          <a:ln w="6350">
            <a:solidFill>
              <a:srgbClr val="DEDAD1"/>
            </a:solidFill>
            <a:prstDash val="solid"/>
          </a:ln>
        </p:spPr>
      </p:sp>
      <p:pic>
        <p:nvPicPr>
          <p:cNvPr id="13" name="Image 2" descr="Users">    </p:cNvPr>
          <p:cNvPicPr>
            <a:picLocks noChangeAspect="1"/>
          </p:cNvPicPr>
          <p:nvPr/>
        </p:nvPicPr>
        <p:blipFill>
          <a:blip r:embed="rId3"/>
          <a:srcRect l="0" r="0" t="0" b="0"/>
          <a:stretch/>
        </p:blipFill>
        <p:spPr>
          <a:xfrm>
            <a:off x="8142784" y="2144316"/>
            <a:ext cx="203200" cy="203200"/>
          </a:xfrm>
          <a:prstGeom prst="rect">
            <a:avLst/>
          </a:prstGeom>
        </p:spPr>
      </p:pic>
      <p:sp>
        <p:nvSpPr>
          <p:cNvPr id="14" name="Text 9"/>
          <p:cNvSpPr/>
          <p:nvPr/>
        </p:nvSpPr>
        <p:spPr>
          <a:xfrm>
            <a:off x="8422184" y="2134791"/>
            <a:ext cx="2116395"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02B"/>
                </a:solidFill>
                <a:latin typeface="IBM Plex Sans" pitchFamily="34" charset="0"/>
                <a:ea typeface="IBM Plex Sans" pitchFamily="34" charset="-122"/>
                <a:cs typeface="IBM Plex Sans" pitchFamily="34" charset="-120"/>
              </a:rPr>
              <a:t>Orquestación manual</a:t>
            </a:r>
            <a:endParaRPr lang="en-US" sz="1400" dirty="0"/>
          </a:p>
        </p:txBody>
      </p:sp>
      <p:sp>
        <p:nvSpPr>
          <p:cNvPr id="15" name="Text 10"/>
          <p:cNvSpPr/>
          <p:nvPr/>
        </p:nvSpPr>
        <p:spPr>
          <a:xfrm>
            <a:off x="8142784" y="2433241"/>
            <a:ext cx="314383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El desarrollador encadenaba comandos y elegía qué agente usar en cada paso.</a:t>
            </a:r>
            <a:endParaRPr lang="en-US" sz="1200" dirty="0"/>
          </a:p>
        </p:txBody>
      </p:sp>
      <p:sp>
        <p:nvSpPr>
          <p:cNvPr id="16" name="Shape 11"/>
          <p:cNvSpPr/>
          <p:nvPr/>
        </p:nvSpPr>
        <p:spPr>
          <a:xfrm>
            <a:off x="815975" y="3412927"/>
            <a:ext cx="3414167" cy="1300361"/>
          </a:xfrm>
          <a:prstGeom prst="roundRect">
            <a:avLst>
              <a:gd name="adj" fmla="val 7569"/>
            </a:avLst>
          </a:prstGeom>
          <a:solidFill>
            <a:srgbClr val="FCFBF8"/>
          </a:solidFill>
          <a:ln w="6350">
            <a:solidFill>
              <a:srgbClr val="DEDAD1"/>
            </a:solidFill>
            <a:prstDash val="solid"/>
          </a:ln>
        </p:spPr>
      </p:sp>
      <p:pic>
        <p:nvPicPr>
          <p:cNvPr id="17" name="Image 3" descr="Warning">    </p:cNvPr>
          <p:cNvPicPr>
            <a:picLocks noChangeAspect="1"/>
          </p:cNvPicPr>
          <p:nvPr/>
        </p:nvPicPr>
        <p:blipFill>
          <a:blip r:embed="rId4"/>
          <a:srcRect l="0" r="0" t="0" b="0"/>
          <a:stretch/>
        </p:blipFill>
        <p:spPr>
          <a:xfrm>
            <a:off x="996950" y="3603427"/>
            <a:ext cx="203200" cy="203200"/>
          </a:xfrm>
          <a:prstGeom prst="rect">
            <a:avLst/>
          </a:prstGeom>
        </p:spPr>
      </p:pic>
      <p:sp>
        <p:nvSpPr>
          <p:cNvPr id="18" name="Text 12"/>
          <p:cNvSpPr/>
          <p:nvPr/>
        </p:nvSpPr>
        <p:spPr>
          <a:xfrm>
            <a:off x="1276350" y="3593902"/>
            <a:ext cx="180600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02B"/>
                </a:solidFill>
                <a:latin typeface="IBM Plex Sans" pitchFamily="34" charset="0"/>
                <a:ea typeface="IBM Plex Sans" pitchFamily="34" charset="-122"/>
                <a:cs typeface="IBM Plex Sans" pitchFamily="34" charset="-120"/>
              </a:rPr>
              <a:t>TDD por disciplina</a:t>
            </a:r>
            <a:endParaRPr lang="en-US" sz="1400" dirty="0"/>
          </a:p>
        </p:txBody>
      </p:sp>
      <p:sp>
        <p:nvSpPr>
          <p:cNvPr id="19" name="Text 13"/>
          <p:cNvSpPr/>
          <p:nvPr/>
        </p:nvSpPr>
        <p:spPr>
          <a:xfrm>
            <a:off x="996950" y="3892352"/>
            <a:ext cx="31437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Un mismo agente escribía tests y código: el RED dependía de que lo respetara.</a:t>
            </a:r>
            <a:endParaRPr lang="en-US" sz="1200" dirty="0"/>
          </a:p>
        </p:txBody>
      </p:sp>
      <p:sp>
        <p:nvSpPr>
          <p:cNvPr id="20" name="Shape 14"/>
          <p:cNvSpPr/>
          <p:nvPr/>
        </p:nvSpPr>
        <p:spPr>
          <a:xfrm>
            <a:off x="4388892" y="3412927"/>
            <a:ext cx="3414167" cy="1300361"/>
          </a:xfrm>
          <a:prstGeom prst="roundRect">
            <a:avLst>
              <a:gd name="adj" fmla="val 7569"/>
            </a:avLst>
          </a:prstGeom>
          <a:solidFill>
            <a:srgbClr val="FCFBF8"/>
          </a:solidFill>
          <a:ln w="6350">
            <a:solidFill>
              <a:srgbClr val="DEDAD1"/>
            </a:solidFill>
            <a:prstDash val="solid"/>
          </a:ln>
        </p:spPr>
      </p:sp>
      <p:pic>
        <p:nvPicPr>
          <p:cNvPr id="21" name="Image 4" descr="Search">    </p:cNvPr>
          <p:cNvPicPr>
            <a:picLocks noChangeAspect="1"/>
          </p:cNvPicPr>
          <p:nvPr/>
        </p:nvPicPr>
        <p:blipFill>
          <a:blip r:embed="rId5"/>
          <a:srcRect l="0" r="0" t="0" b="0"/>
          <a:stretch/>
        </p:blipFill>
        <p:spPr>
          <a:xfrm>
            <a:off x="4569867" y="3603427"/>
            <a:ext cx="203200" cy="203200"/>
          </a:xfrm>
          <a:prstGeom prst="rect">
            <a:avLst/>
          </a:prstGeom>
        </p:spPr>
      </p:pic>
      <p:sp>
        <p:nvSpPr>
          <p:cNvPr id="22" name="Text 15"/>
          <p:cNvSpPr/>
          <p:nvPr/>
        </p:nvSpPr>
        <p:spPr>
          <a:xfrm>
            <a:off x="4849267" y="3593902"/>
            <a:ext cx="2950617"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02B"/>
                </a:solidFill>
                <a:latin typeface="IBM Plex Sans" pitchFamily="34" charset="0"/>
                <a:ea typeface="IBM Plex Sans" pitchFamily="34" charset="-122"/>
                <a:cs typeface="IBM Plex Sans" pitchFamily="34" charset="-120"/>
              </a:rPr>
              <a:t>Verificación de base heurística</a:t>
            </a:r>
            <a:endParaRPr lang="en-US" sz="1400" dirty="0"/>
          </a:p>
        </p:txBody>
      </p:sp>
      <p:sp>
        <p:nvSpPr>
          <p:cNvPr id="23" name="Text 16"/>
          <p:cNvSpPr/>
          <p:nvPr/>
        </p:nvSpPr>
        <p:spPr>
          <a:xfrm>
            <a:off x="4569867" y="3892352"/>
            <a:ext cx="314378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verify-change buscaba palabras clave; la evidencia real había que añadirla aparte.</a:t>
            </a:r>
            <a:endParaRPr lang="en-US" sz="1200" dirty="0"/>
          </a:p>
        </p:txBody>
      </p:sp>
      <p:sp>
        <p:nvSpPr>
          <p:cNvPr id="24" name="Shape 17"/>
          <p:cNvSpPr/>
          <p:nvPr/>
        </p:nvSpPr>
        <p:spPr>
          <a:xfrm>
            <a:off x="7961809" y="3412927"/>
            <a:ext cx="3414216" cy="1300361"/>
          </a:xfrm>
          <a:prstGeom prst="roundRect">
            <a:avLst>
              <a:gd name="adj" fmla="val 7569"/>
            </a:avLst>
          </a:prstGeom>
          <a:solidFill>
            <a:srgbClr val="FCFBF8"/>
          </a:solidFill>
          <a:ln w="6350">
            <a:solidFill>
              <a:srgbClr val="DEDAD1"/>
            </a:solidFill>
            <a:prstDash val="solid"/>
          </a:ln>
        </p:spPr>
      </p:sp>
      <p:pic>
        <p:nvPicPr>
          <p:cNvPr id="25" name="Image 5" descr="Key">    </p:cNvPr>
          <p:cNvPicPr>
            <a:picLocks noChangeAspect="1"/>
          </p:cNvPicPr>
          <p:nvPr/>
        </p:nvPicPr>
        <p:blipFill>
          <a:blip r:embed="rId6"/>
          <a:srcRect l="0" r="0" t="0" b="0"/>
          <a:stretch/>
        </p:blipFill>
        <p:spPr>
          <a:xfrm>
            <a:off x="8142784" y="3603427"/>
            <a:ext cx="203200" cy="203200"/>
          </a:xfrm>
          <a:prstGeom prst="rect">
            <a:avLst/>
          </a:prstGeom>
        </p:spPr>
      </p:pic>
      <p:sp>
        <p:nvSpPr>
          <p:cNvPr id="26" name="Text 18"/>
          <p:cNvSpPr/>
          <p:nvPr/>
        </p:nvSpPr>
        <p:spPr>
          <a:xfrm>
            <a:off x="8422184" y="3593902"/>
            <a:ext cx="2117884"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02B"/>
                </a:solidFill>
                <a:latin typeface="IBM Plex Sans" pitchFamily="34" charset="0"/>
                <a:ea typeface="IBM Plex Sans" pitchFamily="34" charset="-122"/>
                <a:cs typeface="IBM Plex Sans" pitchFamily="34" charset="-120"/>
              </a:rPr>
              <a:t>Sin permisos por ruta</a:t>
            </a:r>
            <a:endParaRPr lang="en-US" sz="1400" dirty="0"/>
          </a:p>
        </p:txBody>
      </p:sp>
      <p:sp>
        <p:nvSpPr>
          <p:cNvPr id="27" name="Text 19"/>
          <p:cNvSpPr/>
          <p:nvPr/>
        </p:nvSpPr>
        <p:spPr>
          <a:xfrm>
            <a:off x="8142784" y="3892352"/>
            <a:ext cx="3143834"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Se limitaban herramientas, pero qué archivos tocaba cada agente dependía de sus instrucciones.</a:t>
            </a:r>
            <a:endParaRPr lang="en-US" sz="1200" dirty="0"/>
          </a:p>
        </p:txBody>
      </p:sp>
      <p:sp>
        <p:nvSpPr>
          <p:cNvPr id="28" name="Text 20"/>
          <p:cNvSpPr/>
          <p:nvPr/>
        </p:nvSpPr>
        <p:spPr>
          <a:xfrm>
            <a:off x="812800" y="6238280"/>
            <a:ext cx="47183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079"/>
                </a:solidFill>
                <a:latin typeface="JetBrains Mono" pitchFamily="49" charset="0"/>
                <a:ea typeface="JetBrains Mono" pitchFamily="49" charset="-122"/>
                <a:cs typeface="JetBrains Mono" pitchFamily="49" charset="-120"/>
              </a:rPr>
              <a:t>De OpenSpec a un sistema multiagente propio</a:t>
            </a:r>
            <a:endParaRPr lang="en-US" sz="1200" dirty="0"/>
          </a:p>
        </p:txBody>
      </p:sp>
      <p:sp>
        <p:nvSpPr>
          <p:cNvPr id="29" name="Text 21"/>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079"/>
                </a:solidFill>
                <a:latin typeface="JetBrains Mono" pitchFamily="49" charset="0"/>
                <a:ea typeface="JetBrains Mono" pitchFamily="49" charset="-122"/>
                <a:cs typeface="JetBrains Mono" pitchFamily="49"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F4E86"/>
        </a:solidFill>
      </p:bgPr>
    </p:bg>
    <p:spTree>
      <p:nvGrpSpPr>
        <p:cNvPr id="1" name=""/>
        <p:cNvGrpSpPr/>
        <p:nvPr/>
      </p:nvGrpSpPr>
      <p:grpSpPr>
        <a:xfrm>
          <a:off x="0" y="0"/>
          <a:ext cx="0" cy="0"/>
          <a:chOff x="0" y="0"/>
          <a:chExt cx="0" cy="0"/>
        </a:xfrm>
      </p:grpSpPr>
      <p:sp>
        <p:nvSpPr>
          <p:cNvPr id="2" name="Text 0"/>
          <p:cNvSpPr/>
          <p:nvPr/>
        </p:nvSpPr>
        <p:spPr>
          <a:xfrm>
            <a:off x="812800" y="1668314"/>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50" kern="0" dirty="0">
                <a:solidFill>
                  <a:srgbClr val="C9D3DC"/>
                </a:solidFill>
                <a:latin typeface="JetBrains Mono" pitchFamily="49" charset="0"/>
                <a:ea typeface="JetBrains Mono" pitchFamily="49" charset="-122"/>
                <a:cs typeface="JetBrains Mono" pitchFamily="49" charset="-120"/>
              </a:rPr>
              <a:t>EL CAMBIO</a:t>
            </a:r>
            <a:endParaRPr lang="en-US" sz="1400" dirty="0"/>
          </a:p>
        </p:txBody>
      </p:sp>
      <p:sp>
        <p:nvSpPr>
          <p:cNvPr id="3" name="Text 1"/>
          <p:cNvSpPr/>
          <p:nvPr>
            <p:ph type="title"/>
          </p:nvPr>
        </p:nvSpPr>
        <p:spPr>
          <a:xfrm>
            <a:off x="812800" y="2222004"/>
            <a:ext cx="10883392" cy="1342132"/>
          </a:xfrm>
          <a:prstGeom prst="rect">
            <a:avLst/>
          </a:prstGeom>
          <a:noFill/>
          <a:ln/>
        </p:spPr>
        <p:txBody>
          <a:bodyPr wrap="square" lIns="0" tIns="0" rIns="0" bIns="0" rtlCol="0" anchor="t">
            <a:normAutofit/>
          </a:bodyPr>
          <a:lstStyle/>
          <a:p>
            <a:pPr algn="l" indent="0" marL="0">
              <a:lnSpc>
                <a:spcPts val="5184"/>
              </a:lnSpc>
              <a:buNone/>
            </a:pPr>
            <a:r>
              <a:rPr lang="en-US" sz="4800" b="1" i="0" dirty="0">
                <a:solidFill>
                  <a:srgbClr val="F6F5F1"/>
                </a:solidFill>
                <a:latin typeface="IBM Plex Sans" pitchFamily="34" charset="0"/>
                <a:ea typeface="IBM Plex Sans" pitchFamily="34" charset="-122"/>
                <a:cs typeface="IBM Plex Sans" pitchFamily="34" charset="-120"/>
              </a:rPr>
              <a:t>Ya no dependemos de OpenSpec ni de herramientas similares</a:t>
            </a:r>
            <a:endParaRPr lang="en-US" sz="4800" dirty="0"/>
          </a:p>
        </p:txBody>
      </p:sp>
      <p:sp>
        <p:nvSpPr>
          <p:cNvPr id="4" name="Text 2"/>
          <p:cNvSpPr/>
          <p:nvPr/>
        </p:nvSpPr>
        <p:spPr>
          <a:xfrm>
            <a:off x="812800" y="3843536"/>
            <a:ext cx="10883392" cy="66546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DCE6F0"/>
                </a:solidFill>
                <a:latin typeface="IBM Plex Sans" pitchFamily="34" charset="0"/>
                <a:ea typeface="IBM Plex Sans" pitchFamily="34" charset="-122"/>
                <a:cs typeface="IBM Plex Sans" pitchFamily="34" charset="-120"/>
              </a:rPr>
              <a:t>Agentes, skills, instrucciones y guardarraíles son nuestros: versionados en el repositorio y construidos solo con lo que GitHub Copilot ya trae.</a:t>
            </a:r>
            <a:endParaRPr lang="en-US" sz="1800" dirty="0"/>
          </a:p>
        </p:txBody>
      </p:sp>
      <p:sp>
        <p:nvSpPr>
          <p:cNvPr id="5" name="Text 3"/>
          <p:cNvSpPr/>
          <p:nvPr/>
        </p:nvSpPr>
        <p:spPr>
          <a:xfrm>
            <a:off x="812800" y="4788396"/>
            <a:ext cx="2489200" cy="401290"/>
          </a:xfrm>
          <a:prstGeom prst="roundRect">
            <a:avLst>
              <a:gd name="adj" fmla="val 50000"/>
            </a:avLst>
          </a:prstGeom>
          <a:solidFill>
            <a:srgbClr val="2A5E9C"/>
          </a:solidFill>
          <a:ln/>
        </p:spPr>
        <p:txBody>
          <a:bodyPr wrap="none" lIns="0" tIns="0" rIns="0" bIns="0" rtlCol="0" anchor="ctr">
            <a:normAutofit/>
          </a:bodyPr>
          <a:lstStyle/>
          <a:p>
            <a:pPr algn="ctr" indent="0" marL="0">
              <a:lnSpc>
                <a:spcPts val="1960"/>
              </a:lnSpc>
              <a:buNone/>
            </a:pPr>
            <a:r>
              <a:rPr lang="en-US" sz="1400" dirty="0">
                <a:solidFill>
                  <a:srgbClr val="F6F5F1"/>
                </a:solidFill>
                <a:latin typeface="JetBrains Mono" pitchFamily="49" charset="0"/>
                <a:ea typeface="JetBrains Mono" pitchFamily="49" charset="-122"/>
                <a:cs typeface="JetBrains Mono" pitchFamily="49" charset="-120"/>
              </a:rPr>
              <a:t>Sin CLI que instalar</a:t>
            </a:r>
            <a:endParaRPr lang="en-US" sz="1400" dirty="0"/>
          </a:p>
        </p:txBody>
      </p:sp>
      <p:sp>
        <p:nvSpPr>
          <p:cNvPr id="6" name="Text 4"/>
          <p:cNvSpPr/>
          <p:nvPr/>
        </p:nvSpPr>
        <p:spPr>
          <a:xfrm>
            <a:off x="3454400" y="4788396"/>
            <a:ext cx="2489200" cy="401290"/>
          </a:xfrm>
          <a:prstGeom prst="roundRect">
            <a:avLst>
              <a:gd name="adj" fmla="val 50000"/>
            </a:avLst>
          </a:prstGeom>
          <a:solidFill>
            <a:srgbClr val="2A5E9C"/>
          </a:solidFill>
          <a:ln/>
        </p:spPr>
        <p:txBody>
          <a:bodyPr wrap="none" lIns="0" tIns="0" rIns="0" bIns="0" rtlCol="0" anchor="ctr">
            <a:normAutofit/>
          </a:bodyPr>
          <a:lstStyle/>
          <a:p>
            <a:pPr algn="ctr" indent="0" marL="0">
              <a:lnSpc>
                <a:spcPts val="1960"/>
              </a:lnSpc>
              <a:buNone/>
            </a:pPr>
            <a:r>
              <a:rPr lang="en-US" sz="1400" dirty="0">
                <a:solidFill>
                  <a:srgbClr val="F6F5F1"/>
                </a:solidFill>
                <a:latin typeface="JetBrains Mono" pitchFamily="49" charset="0"/>
                <a:ea typeface="JetBrains Mono" pitchFamily="49" charset="-122"/>
                <a:cs typeface="JetBrains Mono" pitchFamily="49" charset="-120"/>
              </a:rPr>
              <a:t>Sin versiones ajenas</a:t>
            </a:r>
            <a:endParaRPr lang="en-US" sz="1400" dirty="0"/>
          </a:p>
        </p:txBody>
      </p:sp>
      <p:sp>
        <p:nvSpPr>
          <p:cNvPr id="7" name="Text 5"/>
          <p:cNvSpPr/>
          <p:nvPr/>
        </p:nvSpPr>
        <p:spPr>
          <a:xfrm>
            <a:off x="6096000" y="4788396"/>
            <a:ext cx="2702570" cy="401290"/>
          </a:xfrm>
          <a:prstGeom prst="roundRect">
            <a:avLst>
              <a:gd name="adj" fmla="val 50000"/>
            </a:avLst>
          </a:prstGeom>
          <a:solidFill>
            <a:srgbClr val="2A5E9C"/>
          </a:solidFill>
          <a:ln/>
        </p:spPr>
        <p:txBody>
          <a:bodyPr wrap="none" lIns="0" tIns="0" rIns="0" bIns="0" rtlCol="0" anchor="ctr">
            <a:normAutofit/>
          </a:bodyPr>
          <a:lstStyle/>
          <a:p>
            <a:pPr algn="ctr" indent="0" marL="0">
              <a:lnSpc>
                <a:spcPts val="1960"/>
              </a:lnSpc>
              <a:buNone/>
            </a:pPr>
            <a:r>
              <a:rPr lang="en-US" sz="1400" dirty="0">
                <a:solidFill>
                  <a:srgbClr val="F6F5F1"/>
                </a:solidFill>
                <a:latin typeface="JetBrains Mono" pitchFamily="49" charset="0"/>
                <a:ea typeface="JetBrains Mono" pitchFamily="49" charset="-122"/>
                <a:cs typeface="JetBrains Mono" pitchFamily="49" charset="-120"/>
              </a:rPr>
              <a:t>Sin formatos impuestos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F6FB5"/>
                </a:solidFill>
                <a:latin typeface="JetBrains Mono" pitchFamily="49" charset="0"/>
                <a:ea typeface="JetBrains Mono" pitchFamily="49" charset="-122"/>
                <a:cs typeface="JetBrains Mono" pitchFamily="49" charset="-120"/>
              </a:rPr>
              <a:t>AHORA · KIT PROPIO</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IBM Plex Sans" pitchFamily="34" charset="0"/>
                <a:ea typeface="IBM Plex Sans" pitchFamily="34" charset="-122"/>
                <a:cs typeface="IBM Plex Sans" pitchFamily="34" charset="-120"/>
              </a:rPr>
              <a:t>Solo formatos nativos de GitHub Copilot</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63341"/>
          <a:ext cx="10553700" cy="2702074"/>
        </p:xfrm>
        <a:graphic>
          <a:graphicData uri="http://schemas.openxmlformats.org/drawingml/2006/table">
            <a:tbl>
              <a:tblPr/>
              <a:tblGrid>
                <a:gridCol w="2532888"/>
                <a:gridCol w="3588258"/>
                <a:gridCol w="3166110"/>
                <a:gridCol w="1266444"/>
              </a:tblGrid>
              <a:tr h="386011">
                <a:tc>
                  <a:txBody>
                    <a:bodyPr/>
                    <a:lstStyle/>
                    <a:p>
                      <a:pPr indent="0" marL="0">
                        <a:lnSpc>
                          <a:spcPts val="1960"/>
                        </a:lnSpc>
                        <a:buNone/>
                      </a:pPr>
                      <a:r>
                        <a:rPr lang="en-US" sz="1400" b="1" dirty="0">
                          <a:solidFill>
                            <a:srgbClr val="F6F5F1"/>
                          </a:solidFill>
                          <a:latin typeface="IBM Plex Sans" pitchFamily="34" charset="0"/>
                          <a:ea typeface="IBM Plex Sans" pitchFamily="34" charset="-122"/>
                          <a:cs typeface="IBM Plex Sans" pitchFamily="34" charset="-120"/>
                        </a:rPr>
                        <a:t>Pieza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141D26"/>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41D26"/>
                      </a:solidFill>
                      <a:prstDash val="solid"/>
                      <a:round/>
                      <a:headEnd type="none" w="med" len="med"/>
                      <a:tailEnd type="none" w="med" len="med"/>
                    </a:lnB>
                    <a:solidFill>
                      <a:srgbClr val="14202B"/>
                    </a:solidFill>
                  </a:tcPr>
                </a:tc>
                <a:tc>
                  <a:txBody>
                    <a:bodyPr/>
                    <a:lstStyle/>
                    <a:p>
                      <a:pPr indent="0" marL="0">
                        <a:lnSpc>
                          <a:spcPts val="1960"/>
                        </a:lnSpc>
                        <a:buNone/>
                      </a:pPr>
                      <a:r>
                        <a:rPr lang="en-US" sz="1400" b="1" dirty="0">
                          <a:solidFill>
                            <a:srgbClr val="F6F5F1"/>
                          </a:solidFill>
                          <a:latin typeface="IBM Plex Sans" pitchFamily="34" charset="0"/>
                          <a:ea typeface="IBM Plex Sans" pitchFamily="34" charset="-122"/>
                          <a:cs typeface="IBM Plex Sans" pitchFamily="34" charset="-120"/>
                        </a:rPr>
                        <a:t>Formato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41D26"/>
                      </a:solidFill>
                      <a:prstDash val="solid"/>
                      <a:round/>
                      <a:headEnd type="none" w="med" len="med"/>
                      <a:tailEnd type="none" w="med" len="med"/>
                    </a:lnL>
                    <a:lnR w="12700" cap="flat" cmpd="sng" algn="ctr">
                      <a:solidFill>
                        <a:srgbClr val="141D26"/>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41D26"/>
                      </a:solidFill>
                      <a:prstDash val="solid"/>
                      <a:round/>
                      <a:headEnd type="none" w="med" len="med"/>
                      <a:tailEnd type="none" w="med" len="med"/>
                    </a:lnB>
                    <a:solidFill>
                      <a:srgbClr val="14202B"/>
                    </a:solidFill>
                  </a:tcPr>
                </a:tc>
                <a:tc>
                  <a:txBody>
                    <a:bodyPr/>
                    <a:lstStyle/>
                    <a:p>
                      <a:pPr indent="0" marL="0">
                        <a:lnSpc>
                          <a:spcPts val="1960"/>
                        </a:lnSpc>
                        <a:buNone/>
                      </a:pPr>
                      <a:r>
                        <a:rPr lang="en-US" sz="1400" b="1" dirty="0">
                          <a:solidFill>
                            <a:srgbClr val="F6F5F1"/>
                          </a:solidFill>
                          <a:latin typeface="IBM Plex Sans" pitchFamily="34" charset="0"/>
                          <a:ea typeface="IBM Plex Sans" pitchFamily="34" charset="-122"/>
                          <a:cs typeface="IBM Plex Sans" pitchFamily="34" charset="-120"/>
                        </a:rPr>
                        <a:t>Carpeta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41D26"/>
                      </a:solidFill>
                      <a:prstDash val="solid"/>
                      <a:round/>
                      <a:headEnd type="none" w="med" len="med"/>
                      <a:tailEnd type="none" w="med" len="med"/>
                    </a:lnL>
                    <a:lnR w="12700" cap="flat" cmpd="sng" algn="ctr">
                      <a:solidFill>
                        <a:srgbClr val="141D26"/>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41D26"/>
                      </a:solidFill>
                      <a:prstDash val="solid"/>
                      <a:round/>
                      <a:headEnd type="none" w="med" len="med"/>
                      <a:tailEnd type="none" w="med" len="med"/>
                    </a:lnB>
                    <a:solidFill>
                      <a:srgbClr val="14202B"/>
                    </a:solidFill>
                  </a:tcPr>
                </a:tc>
                <a:tc>
                  <a:txBody>
                    <a:bodyPr/>
                    <a:lstStyle/>
                    <a:p>
                      <a:pPr algn="r" indent="0" marL="0">
                        <a:lnSpc>
                          <a:spcPts val="1960"/>
                        </a:lnSpc>
                        <a:buNone/>
                      </a:pPr>
                      <a:r>
                        <a:rPr lang="en-US" sz="1400" b="1" dirty="0">
                          <a:solidFill>
                            <a:srgbClr val="F6F5F1"/>
                          </a:solidFill>
                          <a:latin typeface="IBM Plex Sans" pitchFamily="34" charset="0"/>
                          <a:ea typeface="IBM Plex Sans" pitchFamily="34" charset="-122"/>
                          <a:cs typeface="IBM Plex Sans" pitchFamily="34" charset="-120"/>
                        </a:rPr>
                        <a:t>Cantidad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41D26"/>
                      </a:solidFill>
                      <a:prstDash val="solid"/>
                      <a:round/>
                      <a:headEnd type="none" w="med" len="med"/>
                      <a:tailEnd type="none" w="med" len="med"/>
                    </a:lnL>
                    <a:lnR w="12700" cap="flat" cmpd="sng" algn="ctr">
                      <a:solidFill>
                        <a:srgbClr val="141D26"/>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41D26"/>
                      </a:solidFill>
                      <a:prstDash val="solid"/>
                      <a:round/>
                      <a:headEnd type="none" w="med" len="med"/>
                      <a:tailEnd type="none" w="med" len="med"/>
                    </a:lnB>
                    <a:solidFill>
                      <a:srgbClr val="14202B"/>
                    </a:solidFill>
                  </a:tcPr>
                </a:tc>
              </a:tr>
              <a:tr h="386011">
                <a:tc>
                  <a:txBody>
                    <a:bodyPr/>
                    <a:lstStyle/>
                    <a:p>
                      <a:pP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Agentes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41D2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*.agent.md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41D2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.github/agents/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41D2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11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41D2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386011">
                <a:tc>
                  <a:txBody>
                    <a:bodyPr/>
                    <a:lstStyle/>
                    <a:p>
                      <a:pP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Skills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0BEB9"/>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EB9"/>
                      </a:solidFill>
                      <a:prstDash val="solid"/>
                      <a:round/>
                      <a:headEnd type="none" w="med" len="med"/>
                      <a:tailEnd type="none" w="med" len="med"/>
                    </a:lnB>
                    <a:solidFill>
                      <a:srgbClr val="F0EEE8"/>
                    </a:solidFill>
                  </a:tcPr>
                </a:tc>
                <a:tc>
                  <a:txBody>
                    <a:bodyPr/>
                    <a:lstStyle/>
                    <a:p>
                      <a:pP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SKILL.md + plantillas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0BEB9"/>
                      </a:solidFill>
                      <a:prstDash val="solid"/>
                      <a:round/>
                      <a:headEnd type="none" w="med" len="med"/>
                      <a:tailEnd type="none" w="med" len="med"/>
                    </a:lnL>
                    <a:lnR w="12700" cap="flat" cmpd="sng" algn="ctr">
                      <a:solidFill>
                        <a:srgbClr val="C0BEB9"/>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EB9"/>
                      </a:solidFill>
                      <a:prstDash val="solid"/>
                      <a:round/>
                      <a:headEnd type="none" w="med" len="med"/>
                      <a:tailEnd type="none" w="med" len="med"/>
                    </a:lnB>
                    <a:solidFill>
                      <a:srgbClr val="F0EEE8"/>
                    </a:solidFill>
                  </a:tcPr>
                </a:tc>
                <a:tc>
                  <a:txBody>
                    <a:bodyPr/>
                    <a:lstStyle/>
                    <a:p>
                      <a:pP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.github/skills/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0BEB9"/>
                      </a:solidFill>
                      <a:prstDash val="solid"/>
                      <a:round/>
                      <a:headEnd type="none" w="med" len="med"/>
                      <a:tailEnd type="none" w="med" len="med"/>
                    </a:lnL>
                    <a:lnR w="12700" cap="flat" cmpd="sng" algn="ctr">
                      <a:solidFill>
                        <a:srgbClr val="C0BEB9"/>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EB9"/>
                      </a:solidFill>
                      <a:prstDash val="solid"/>
                      <a:round/>
                      <a:headEnd type="none" w="med" len="med"/>
                      <a:tailEnd type="none" w="med" len="med"/>
                    </a:lnB>
                    <a:solidFill>
                      <a:srgbClr val="F0EEE8"/>
                    </a:solidFill>
                  </a:tcPr>
                </a:tc>
                <a:tc>
                  <a:txBody>
                    <a:bodyPr/>
                    <a:lstStyle/>
                    <a:p>
                      <a:pPr algn="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15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0BEB9"/>
                      </a:solidFill>
                      <a:prstDash val="solid"/>
                      <a:round/>
                      <a:headEnd type="none" w="med" len="med"/>
                      <a:tailEnd type="none" w="med" len="med"/>
                    </a:lnL>
                    <a:lnR w="12700" cap="flat" cmpd="sng" algn="ctr">
                      <a:solidFill>
                        <a:srgbClr val="C0BEB9"/>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EB9"/>
                      </a:solidFill>
                      <a:prstDash val="solid"/>
                      <a:round/>
                      <a:headEnd type="none" w="med" len="med"/>
                      <a:tailEnd type="none" w="med" len="med"/>
                    </a:lnB>
                    <a:solidFill>
                      <a:srgbClr val="F0EEE8"/>
                    </a:solidFill>
                  </a:tcPr>
                </a:tc>
              </a:tr>
              <a:tr h="386011">
                <a:tc>
                  <a:txBody>
                    <a:bodyPr/>
                    <a:lstStyle/>
                    <a:p>
                      <a:pP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Instrucciones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0BEB9"/>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*.instructions.md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0BEB9"/>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.github/instructions/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0BEB9"/>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0BEB9"/>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386011">
                <a:tc>
                  <a:txBody>
                    <a:bodyPr/>
                    <a:lstStyle/>
                    <a:p>
                      <a:pP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Comandos /sdd-*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0BEB9"/>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EB9"/>
                      </a:solidFill>
                      <a:prstDash val="solid"/>
                      <a:round/>
                      <a:headEnd type="none" w="med" len="med"/>
                      <a:tailEnd type="none" w="med" len="med"/>
                    </a:lnB>
                    <a:solidFill>
                      <a:srgbClr val="F0EEE8"/>
                    </a:solidFill>
                  </a:tcPr>
                </a:tc>
                <a:tc>
                  <a:txBody>
                    <a:bodyPr/>
                    <a:lstStyle/>
                    <a:p>
                      <a:pP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*.prompt.md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0BEB9"/>
                      </a:solidFill>
                      <a:prstDash val="solid"/>
                      <a:round/>
                      <a:headEnd type="none" w="med" len="med"/>
                      <a:tailEnd type="none" w="med" len="med"/>
                    </a:lnL>
                    <a:lnR w="12700" cap="flat" cmpd="sng" algn="ctr">
                      <a:solidFill>
                        <a:srgbClr val="C0BEB9"/>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EB9"/>
                      </a:solidFill>
                      <a:prstDash val="solid"/>
                      <a:round/>
                      <a:headEnd type="none" w="med" len="med"/>
                      <a:tailEnd type="none" w="med" len="med"/>
                    </a:lnB>
                    <a:solidFill>
                      <a:srgbClr val="F0EEE8"/>
                    </a:solidFill>
                  </a:tcPr>
                </a:tc>
                <a:tc>
                  <a:txBody>
                    <a:bodyPr/>
                    <a:lstStyle/>
                    <a:p>
                      <a:pP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.github/prompts/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0BEB9"/>
                      </a:solidFill>
                      <a:prstDash val="solid"/>
                      <a:round/>
                      <a:headEnd type="none" w="med" len="med"/>
                      <a:tailEnd type="none" w="med" len="med"/>
                    </a:lnL>
                    <a:lnR w="12700" cap="flat" cmpd="sng" algn="ctr">
                      <a:solidFill>
                        <a:srgbClr val="C0BEB9"/>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EB9"/>
                      </a:solidFill>
                      <a:prstDash val="solid"/>
                      <a:round/>
                      <a:headEnd type="none" w="med" len="med"/>
                      <a:tailEnd type="none" w="med" len="med"/>
                    </a:lnB>
                    <a:solidFill>
                      <a:srgbClr val="F0EEE8"/>
                    </a:solidFill>
                  </a:tcPr>
                </a:tc>
                <a:tc>
                  <a:txBody>
                    <a:bodyPr/>
                    <a:lstStyle/>
                    <a:p>
                      <a:pPr algn="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15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0BEB9"/>
                      </a:solidFill>
                      <a:prstDash val="solid"/>
                      <a:round/>
                      <a:headEnd type="none" w="med" len="med"/>
                      <a:tailEnd type="none" w="med" len="med"/>
                    </a:lnL>
                    <a:lnR w="12700" cap="flat" cmpd="sng" algn="ctr">
                      <a:solidFill>
                        <a:srgbClr val="C0BEB9"/>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EB9"/>
                      </a:solidFill>
                      <a:prstDash val="solid"/>
                      <a:round/>
                      <a:headEnd type="none" w="med" len="med"/>
                      <a:tailEnd type="none" w="med" len="med"/>
                    </a:lnB>
                    <a:solidFill>
                      <a:srgbClr val="F0EEE8"/>
                    </a:solidFill>
                  </a:tcPr>
                </a:tc>
              </a:tr>
              <a:tr h="386011">
                <a:tc>
                  <a:txBody>
                    <a:bodyPr/>
                    <a:lstStyle/>
                    <a:p>
                      <a:pP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Guardarraíl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0BEB9"/>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Hook preToolUse + política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0BEB9"/>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.github/hooks/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0BEB9"/>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algn="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0BEB9"/>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386011">
                <a:tc>
                  <a:txBody>
                    <a:bodyPr/>
                    <a:lstStyle/>
                    <a:p>
                      <a:pP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Contexto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0BEB9"/>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EB9"/>
                      </a:solidFill>
                      <a:prstDash val="solid"/>
                      <a:round/>
                      <a:headEnd type="none" w="med" len="med"/>
                      <a:tailEnd type="none" w="med" len="med"/>
                    </a:lnB>
                    <a:solidFill>
                      <a:srgbClr val="F0EEE8"/>
                    </a:solidFill>
                  </a:tcPr>
                </a:tc>
                <a:tc>
                  <a:txBody>
                    <a:bodyPr/>
                    <a:lstStyle/>
                    <a:p>
                      <a:pP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AGENTS.md · MEMORY.md · constitución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0BEB9"/>
                      </a:solidFill>
                      <a:prstDash val="solid"/>
                      <a:round/>
                      <a:headEnd type="none" w="med" len="med"/>
                      <a:tailEnd type="none" w="med" len="med"/>
                    </a:lnL>
                    <a:lnR w="12700" cap="flat" cmpd="sng" algn="ctr">
                      <a:solidFill>
                        <a:srgbClr val="C0BEB9"/>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EB9"/>
                      </a:solidFill>
                      <a:prstDash val="solid"/>
                      <a:round/>
                      <a:headEnd type="none" w="med" len="med"/>
                      <a:tailEnd type="none" w="med" len="med"/>
                    </a:lnB>
                    <a:solidFill>
                      <a:srgbClr val="F0EEE8"/>
                    </a:solidFill>
                  </a:tcPr>
                </a:tc>
                <a:tc>
                  <a:txBody>
                    <a:bodyPr/>
                    <a:lstStyle/>
                    <a:p>
                      <a:pP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Raíz y docs/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0BEB9"/>
                      </a:solidFill>
                      <a:prstDash val="solid"/>
                      <a:round/>
                      <a:headEnd type="none" w="med" len="med"/>
                      <a:tailEnd type="none" w="med" len="med"/>
                    </a:lnL>
                    <a:lnR w="12700" cap="flat" cmpd="sng" algn="ctr">
                      <a:solidFill>
                        <a:srgbClr val="C0BEB9"/>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EB9"/>
                      </a:solidFill>
                      <a:prstDash val="solid"/>
                      <a:round/>
                      <a:headEnd type="none" w="med" len="med"/>
                      <a:tailEnd type="none" w="med" len="med"/>
                    </a:lnB>
                    <a:solidFill>
                      <a:srgbClr val="F0EEE8"/>
                    </a:solidFill>
                  </a:tcPr>
                </a:tc>
                <a:tc>
                  <a:txBody>
                    <a:bodyPr/>
                    <a:lstStyle/>
                    <a:p>
                      <a:pPr algn="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0BEB9"/>
                      </a:solidFill>
                      <a:prstDash val="solid"/>
                      <a:round/>
                      <a:headEnd type="none" w="med" len="med"/>
                      <a:tailEnd type="none" w="med" len="med"/>
                    </a:lnL>
                    <a:lnR w="12700" cap="flat" cmpd="sng" algn="ctr">
                      <a:solidFill>
                        <a:srgbClr val="C0BEB9"/>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EB9"/>
                      </a:solidFill>
                      <a:prstDash val="solid"/>
                      <a:round/>
                      <a:headEnd type="none" w="med" len="med"/>
                      <a:tailEnd type="none" w="med" len="med"/>
                    </a:lnB>
                    <a:solidFill>
                      <a:srgbClr val="F0EEE8"/>
                    </a:solidFill>
                  </a:tcPr>
                </a:tc>
              </a:tr>
            </a:tbl>
          </a:graphicData>
        </a:graphic>
      </p:graphicFrame>
      <p:sp>
        <p:nvSpPr>
          <p:cNvPr id="5" name="Text 2"/>
          <p:cNvSpPr/>
          <p:nvPr/>
        </p:nvSpPr>
        <p:spPr>
          <a:xfrm>
            <a:off x="812800" y="5021014"/>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Adoptar el estándar en un repositorio nuevo es </a:t>
            </a:r>
            <a:r>
              <a:rPr lang="en-US" sz="1400" b="1" dirty="0">
                <a:solidFill>
                  <a:srgbClr val="4A5568"/>
                </a:solidFill>
                <a:latin typeface="IBM Plex Sans" pitchFamily="34" charset="0"/>
                <a:ea typeface="IBM Plex Sans" pitchFamily="34" charset="-122"/>
                <a:cs typeface="IBM Plex Sans" pitchFamily="34" charset="-120"/>
              </a:rPr>
              <a:t>copiar carpetas</a:t>
            </a:r>
            <a:r>
              <a:rPr lang="en-US" sz="1400" dirty="0">
                <a:solidFill>
                  <a:srgbClr val="4A5568"/>
                </a:solidFill>
                <a:latin typeface="IBM Plex Sans" pitchFamily="34" charset="0"/>
                <a:ea typeface="IBM Plex Sans" pitchFamily="34" charset="-122"/>
                <a:cs typeface="IBM Plex Sans" pitchFamily="34" charset="-120"/>
              </a:rPr>
              <a:t>: nada que instalar ni que actualizar fuera del repositorio.</a:t>
            </a:r>
            <a:endParaRPr lang="en-US" sz="1400" dirty="0"/>
          </a:p>
        </p:txBody>
      </p:sp>
      <p:sp>
        <p:nvSpPr>
          <p:cNvPr id="6" name="Text 3"/>
          <p:cNvSpPr/>
          <p:nvPr/>
        </p:nvSpPr>
        <p:spPr>
          <a:xfrm>
            <a:off x="812800" y="6238280"/>
            <a:ext cx="47183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079"/>
                </a:solidFill>
                <a:latin typeface="JetBrains Mono" pitchFamily="49" charset="0"/>
                <a:ea typeface="JetBrains Mono" pitchFamily="49" charset="-122"/>
                <a:cs typeface="JetBrains Mono" pitchFamily="49" charset="-120"/>
              </a:rPr>
              <a:t>De OpenSpec a un sistema multiagente propio</a:t>
            </a:r>
            <a:endParaRPr lang="en-US" sz="1200" dirty="0"/>
          </a:p>
        </p:txBody>
      </p:sp>
      <p:sp>
        <p:nvSpPr>
          <p:cNvPr id="7" name="Text 4"/>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079"/>
                </a:solidFill>
                <a:latin typeface="JetBrains Mono" pitchFamily="49" charset="0"/>
                <a:ea typeface="JetBrains Mono" pitchFamily="49" charset="-122"/>
                <a:cs typeface="JetBrains Mono" pitchFamily="49"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F6FB5"/>
                </a:solidFill>
                <a:latin typeface="JetBrains Mono" pitchFamily="49" charset="0"/>
                <a:ea typeface="JetBrains Mono" pitchFamily="49" charset="-122"/>
                <a:cs typeface="JetBrains Mono" pitchFamily="49" charset="-120"/>
              </a:rPr>
              <a:t>AHORA · KIT PROPIO</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IBM Plex Sans" pitchFamily="34" charset="0"/>
                <a:ea typeface="IBM Plex Sans" pitchFamily="34" charset="-122"/>
                <a:cs typeface="IBM Plex Sans" pitchFamily="34" charset="-120"/>
              </a:rPr>
              <a:t>Un orquestador y un especialista por etapa</a:t>
            </a:r>
            <a:endParaRPr lang="en-US" sz="3200" dirty="0"/>
          </a:p>
        </p:txBody>
      </p:sp>
      <p:sp>
        <p:nvSpPr>
          <p:cNvPr id="4" name="Shape 2"/>
          <p:cNvSpPr/>
          <p:nvPr/>
        </p:nvSpPr>
        <p:spPr>
          <a:xfrm>
            <a:off x="812800" y="1950641"/>
            <a:ext cx="10566400" cy="604490"/>
          </a:xfrm>
          <a:prstGeom prst="roundRect">
            <a:avLst>
              <a:gd name="adj" fmla="val 16808"/>
            </a:avLst>
          </a:prstGeom>
          <a:solidFill>
            <a:srgbClr val="14202B"/>
          </a:solidFill>
          <a:ln/>
        </p:spPr>
      </p:sp>
      <p:pic>
        <p:nvPicPr>
          <p:cNvPr id="5" name="Image 0" descr="Users">    </p:cNvPr>
          <p:cNvPicPr>
            <a:picLocks noChangeAspect="1"/>
          </p:cNvPicPr>
          <p:nvPr/>
        </p:nvPicPr>
        <p:blipFill>
          <a:blip r:embed="rId1"/>
          <a:srcRect l="0" r="0" t="0" b="0"/>
          <a:stretch/>
        </p:blipFill>
        <p:spPr>
          <a:xfrm>
            <a:off x="1066800" y="2138561"/>
            <a:ext cx="228600" cy="228600"/>
          </a:xfrm>
          <a:prstGeom prst="rect">
            <a:avLst/>
          </a:prstGeom>
        </p:spPr>
      </p:pic>
      <p:sp>
        <p:nvSpPr>
          <p:cNvPr id="6" name="Text 3"/>
          <p:cNvSpPr/>
          <p:nvPr/>
        </p:nvSpPr>
        <p:spPr>
          <a:xfrm>
            <a:off x="1447800" y="2128441"/>
            <a:ext cx="1758066" cy="27429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F6F5F1"/>
                </a:solidFill>
                <a:latin typeface="JetBrains Mono" pitchFamily="49" charset="0"/>
                <a:ea typeface="JetBrains Mono" pitchFamily="49" charset="-122"/>
                <a:cs typeface="JetBrains Mono" pitchFamily="49" charset="-120"/>
              </a:rPr>
              <a:t>sdd-orchestrator</a:t>
            </a:r>
            <a:endParaRPr lang="en-US" sz="1400" dirty="0"/>
          </a:p>
        </p:txBody>
      </p:sp>
      <p:sp>
        <p:nvSpPr>
          <p:cNvPr id="7" name="Text 4"/>
          <p:cNvSpPr/>
          <p:nvPr/>
        </p:nvSpPr>
        <p:spPr>
          <a:xfrm>
            <a:off x="3307060" y="2128441"/>
            <a:ext cx="805268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DC"/>
                </a:solidFill>
                <a:latin typeface="IBM Plex Sans" pitchFamily="34" charset="0"/>
                <a:ea typeface="IBM Plex Sans" pitchFamily="34" charset="-122"/>
                <a:cs typeface="IBM Plex Sans" pitchFamily="34" charset="-120"/>
              </a:rPr>
              <a:t>Coordina, delega cada etapa, valida la evidencia y aplica los gates. No edita archivos.</a:t>
            </a:r>
            <a:endParaRPr lang="en-US" sz="1400" dirty="0"/>
          </a:p>
        </p:txBody>
      </p:sp>
      <p:sp>
        <p:nvSpPr>
          <p:cNvPr id="8" name="Shape 5"/>
          <p:cNvSpPr/>
          <p:nvPr/>
        </p:nvSpPr>
        <p:spPr>
          <a:xfrm>
            <a:off x="815975" y="2761506"/>
            <a:ext cx="1984970" cy="1266031"/>
          </a:xfrm>
          <a:prstGeom prst="roundRect">
            <a:avLst>
              <a:gd name="adj" fmla="val 5768"/>
            </a:avLst>
          </a:prstGeom>
          <a:solidFill>
            <a:srgbClr val="FCFBF8"/>
          </a:solidFill>
          <a:ln w="6350">
            <a:solidFill>
              <a:srgbClr val="DEDAD1"/>
            </a:solidFill>
            <a:prstDash val="solid"/>
          </a:ln>
        </p:spPr>
      </p:sp>
      <p:sp>
        <p:nvSpPr>
          <p:cNvPr id="9" name="Text 6"/>
          <p:cNvSpPr/>
          <p:nvPr/>
        </p:nvSpPr>
        <p:spPr>
          <a:xfrm>
            <a:off x="971550" y="2917081"/>
            <a:ext cx="17246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FB5"/>
                </a:solidFill>
                <a:latin typeface="JetBrains Mono" pitchFamily="49" charset="0"/>
                <a:ea typeface="JetBrains Mono" pitchFamily="49" charset="-122"/>
                <a:cs typeface="JetBrains Mono" pitchFamily="49" charset="-120"/>
              </a:rPr>
              <a:t>1 · Exploración</a:t>
            </a:r>
            <a:endParaRPr lang="en-US" sz="1200" dirty="0"/>
          </a:p>
        </p:txBody>
      </p:sp>
      <p:sp>
        <p:nvSpPr>
          <p:cNvPr id="10" name="Text 7"/>
          <p:cNvSpPr/>
          <p:nvPr/>
        </p:nvSpPr>
        <p:spPr>
          <a:xfrm>
            <a:off x="971550" y="3181201"/>
            <a:ext cx="172462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02B"/>
                </a:solidFill>
                <a:latin typeface="JetBrains Mono" pitchFamily="49" charset="0"/>
                <a:ea typeface="JetBrains Mono" pitchFamily="49" charset="-122"/>
                <a:cs typeface="JetBrains Mono" pitchFamily="49" charset="-120"/>
              </a:rPr>
              <a:t>sdd-explorer</a:t>
            </a:r>
            <a:endParaRPr lang="en-US" sz="1200" dirty="0"/>
          </a:p>
        </p:txBody>
      </p:sp>
      <p:sp>
        <p:nvSpPr>
          <p:cNvPr id="11" name="Text 8"/>
          <p:cNvSpPr/>
          <p:nvPr/>
        </p:nvSpPr>
        <p:spPr>
          <a:xfrm>
            <a:off x="971550" y="3445321"/>
            <a:ext cx="17246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research.md</a:t>
            </a:r>
            <a:endParaRPr lang="en-US" sz="1200" dirty="0"/>
          </a:p>
        </p:txBody>
      </p:sp>
      <p:sp>
        <p:nvSpPr>
          <p:cNvPr id="12" name="Shape 9"/>
          <p:cNvSpPr/>
          <p:nvPr/>
        </p:nvSpPr>
        <p:spPr>
          <a:xfrm>
            <a:off x="2959695" y="2761506"/>
            <a:ext cx="1985020" cy="1266031"/>
          </a:xfrm>
          <a:prstGeom prst="roundRect">
            <a:avLst>
              <a:gd name="adj" fmla="val 5768"/>
            </a:avLst>
          </a:prstGeom>
          <a:solidFill>
            <a:srgbClr val="FCFBF8"/>
          </a:solidFill>
          <a:ln w="6350">
            <a:solidFill>
              <a:srgbClr val="DEDAD1"/>
            </a:solidFill>
            <a:prstDash val="solid"/>
          </a:ln>
        </p:spPr>
      </p:sp>
      <p:sp>
        <p:nvSpPr>
          <p:cNvPr id="13" name="Text 10"/>
          <p:cNvSpPr/>
          <p:nvPr/>
        </p:nvSpPr>
        <p:spPr>
          <a:xfrm>
            <a:off x="3115270" y="2917081"/>
            <a:ext cx="18262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FB5"/>
                </a:solidFill>
                <a:latin typeface="JetBrains Mono" pitchFamily="49" charset="0"/>
                <a:ea typeface="JetBrains Mono" pitchFamily="49" charset="-122"/>
                <a:cs typeface="JetBrains Mono" pitchFamily="49" charset="-120"/>
              </a:rPr>
              <a:t>2 · Especificación</a:t>
            </a:r>
            <a:endParaRPr lang="en-US" sz="1200" dirty="0"/>
          </a:p>
        </p:txBody>
      </p:sp>
      <p:sp>
        <p:nvSpPr>
          <p:cNvPr id="14" name="Text 11"/>
          <p:cNvSpPr/>
          <p:nvPr/>
        </p:nvSpPr>
        <p:spPr>
          <a:xfrm>
            <a:off x="3115270" y="3181201"/>
            <a:ext cx="17246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02B"/>
                </a:solidFill>
                <a:latin typeface="JetBrains Mono" pitchFamily="49" charset="0"/>
                <a:ea typeface="JetBrains Mono" pitchFamily="49" charset="-122"/>
                <a:cs typeface="JetBrains Mono" pitchFamily="49" charset="-120"/>
              </a:rPr>
              <a:t>sdd-spec-writer</a:t>
            </a:r>
            <a:endParaRPr lang="en-US" sz="1200" dirty="0"/>
          </a:p>
        </p:txBody>
      </p:sp>
      <p:sp>
        <p:nvSpPr>
          <p:cNvPr id="15" name="Text 12"/>
          <p:cNvSpPr/>
          <p:nvPr/>
        </p:nvSpPr>
        <p:spPr>
          <a:xfrm>
            <a:off x="3115270" y="3445321"/>
            <a:ext cx="17246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spec.md en EARS</a:t>
            </a:r>
            <a:endParaRPr lang="en-US" sz="1200" dirty="0"/>
          </a:p>
        </p:txBody>
      </p:sp>
      <p:sp>
        <p:nvSpPr>
          <p:cNvPr id="16" name="Shape 13"/>
          <p:cNvSpPr/>
          <p:nvPr/>
        </p:nvSpPr>
        <p:spPr>
          <a:xfrm>
            <a:off x="5103465" y="2761506"/>
            <a:ext cx="1985020" cy="1266031"/>
          </a:xfrm>
          <a:prstGeom prst="roundRect">
            <a:avLst>
              <a:gd name="adj" fmla="val 5768"/>
            </a:avLst>
          </a:prstGeom>
          <a:solidFill>
            <a:srgbClr val="FCFBF8"/>
          </a:solidFill>
          <a:ln w="6350">
            <a:solidFill>
              <a:srgbClr val="DEDAD1"/>
            </a:solidFill>
            <a:prstDash val="solid"/>
          </a:ln>
        </p:spPr>
      </p:sp>
      <p:sp>
        <p:nvSpPr>
          <p:cNvPr id="17" name="Text 14"/>
          <p:cNvSpPr/>
          <p:nvPr/>
        </p:nvSpPr>
        <p:spPr>
          <a:xfrm>
            <a:off x="5259040" y="2917081"/>
            <a:ext cx="17246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FB5"/>
                </a:solidFill>
                <a:latin typeface="JetBrains Mono" pitchFamily="49" charset="0"/>
                <a:ea typeface="JetBrains Mono" pitchFamily="49" charset="-122"/>
                <a:cs typeface="JetBrains Mono" pitchFamily="49" charset="-120"/>
              </a:rPr>
              <a:t>3 · QA de la spec</a:t>
            </a:r>
            <a:endParaRPr lang="en-US" sz="1200" dirty="0"/>
          </a:p>
        </p:txBody>
      </p:sp>
      <p:sp>
        <p:nvSpPr>
          <p:cNvPr id="18" name="Text 15"/>
          <p:cNvSpPr/>
          <p:nvPr/>
        </p:nvSpPr>
        <p:spPr>
          <a:xfrm>
            <a:off x="5259040" y="3181201"/>
            <a:ext cx="17246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02B"/>
                </a:solidFill>
                <a:latin typeface="JetBrains Mono" pitchFamily="49" charset="0"/>
                <a:ea typeface="JetBrains Mono" pitchFamily="49" charset="-122"/>
                <a:cs typeface="JetBrains Mono" pitchFamily="49" charset="-120"/>
              </a:rPr>
              <a:t>sdd-spec-reviewer</a:t>
            </a:r>
            <a:endParaRPr lang="en-US" sz="1200" dirty="0"/>
          </a:p>
        </p:txBody>
      </p:sp>
      <p:sp>
        <p:nvSpPr>
          <p:cNvPr id="19" name="Text 16"/>
          <p:cNvSpPr/>
          <p:nvPr/>
        </p:nvSpPr>
        <p:spPr>
          <a:xfrm>
            <a:off x="5259040" y="3445321"/>
            <a:ext cx="17246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Solo lectura · informe</a:t>
            </a:r>
            <a:endParaRPr lang="en-US" sz="1200" dirty="0"/>
          </a:p>
        </p:txBody>
      </p:sp>
      <p:sp>
        <p:nvSpPr>
          <p:cNvPr id="20" name="Shape 17"/>
          <p:cNvSpPr/>
          <p:nvPr/>
        </p:nvSpPr>
        <p:spPr>
          <a:xfrm>
            <a:off x="7247235" y="2761506"/>
            <a:ext cx="1985020" cy="1266031"/>
          </a:xfrm>
          <a:prstGeom prst="roundRect">
            <a:avLst>
              <a:gd name="adj" fmla="val 5768"/>
            </a:avLst>
          </a:prstGeom>
          <a:solidFill>
            <a:srgbClr val="FCFBF8"/>
          </a:solidFill>
          <a:ln w="6350">
            <a:solidFill>
              <a:srgbClr val="DEDAD1"/>
            </a:solidFill>
            <a:prstDash val="solid"/>
          </a:ln>
        </p:spPr>
      </p:sp>
      <p:sp>
        <p:nvSpPr>
          <p:cNvPr id="21" name="Text 18"/>
          <p:cNvSpPr/>
          <p:nvPr/>
        </p:nvSpPr>
        <p:spPr>
          <a:xfrm>
            <a:off x="7402810" y="2917081"/>
            <a:ext cx="17246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FB5"/>
                </a:solidFill>
                <a:latin typeface="JetBrains Mono" pitchFamily="49" charset="0"/>
                <a:ea typeface="JetBrains Mono" pitchFamily="49" charset="-122"/>
                <a:cs typeface="JetBrains Mono" pitchFamily="49" charset="-120"/>
              </a:rPr>
              <a:t>4 · Diseño</a:t>
            </a:r>
            <a:endParaRPr lang="en-US" sz="1200" dirty="0"/>
          </a:p>
        </p:txBody>
      </p:sp>
      <p:sp>
        <p:nvSpPr>
          <p:cNvPr id="22" name="Text 19"/>
          <p:cNvSpPr/>
          <p:nvPr/>
        </p:nvSpPr>
        <p:spPr>
          <a:xfrm>
            <a:off x="7402810" y="3181201"/>
            <a:ext cx="17246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02B"/>
                </a:solidFill>
                <a:latin typeface="JetBrains Mono" pitchFamily="49" charset="0"/>
                <a:ea typeface="JetBrains Mono" pitchFamily="49" charset="-122"/>
                <a:cs typeface="JetBrains Mono" pitchFamily="49" charset="-120"/>
              </a:rPr>
              <a:t>sdd-architect</a:t>
            </a:r>
            <a:endParaRPr lang="en-US" sz="1200" dirty="0"/>
          </a:p>
        </p:txBody>
      </p:sp>
      <p:sp>
        <p:nvSpPr>
          <p:cNvPr id="23" name="Text 20"/>
          <p:cNvSpPr/>
          <p:nvPr/>
        </p:nvSpPr>
        <p:spPr>
          <a:xfrm>
            <a:off x="7402810" y="3445321"/>
            <a:ext cx="172467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plan.md, contratos y ADR</a:t>
            </a:r>
            <a:endParaRPr lang="en-US" sz="1200" dirty="0"/>
          </a:p>
        </p:txBody>
      </p:sp>
      <p:sp>
        <p:nvSpPr>
          <p:cNvPr id="24" name="Shape 21"/>
          <p:cNvSpPr/>
          <p:nvPr/>
        </p:nvSpPr>
        <p:spPr>
          <a:xfrm>
            <a:off x="9391005" y="2761506"/>
            <a:ext cx="1985020" cy="1266031"/>
          </a:xfrm>
          <a:prstGeom prst="roundRect">
            <a:avLst>
              <a:gd name="adj" fmla="val 5768"/>
            </a:avLst>
          </a:prstGeom>
          <a:solidFill>
            <a:srgbClr val="FCFBF8"/>
          </a:solidFill>
          <a:ln w="6350">
            <a:solidFill>
              <a:srgbClr val="DEDAD1"/>
            </a:solidFill>
            <a:prstDash val="solid"/>
          </a:ln>
        </p:spPr>
      </p:sp>
      <p:sp>
        <p:nvSpPr>
          <p:cNvPr id="25" name="Text 22"/>
          <p:cNvSpPr/>
          <p:nvPr/>
        </p:nvSpPr>
        <p:spPr>
          <a:xfrm>
            <a:off x="9546580" y="2917081"/>
            <a:ext cx="17246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FB5"/>
                </a:solidFill>
                <a:latin typeface="JetBrains Mono" pitchFamily="49" charset="0"/>
                <a:ea typeface="JetBrains Mono" pitchFamily="49" charset="-122"/>
                <a:cs typeface="JetBrains Mono" pitchFamily="49" charset="-120"/>
              </a:rPr>
              <a:t>5 · Tareas</a:t>
            </a:r>
            <a:endParaRPr lang="en-US" sz="1200" dirty="0"/>
          </a:p>
        </p:txBody>
      </p:sp>
      <p:sp>
        <p:nvSpPr>
          <p:cNvPr id="26" name="Text 23"/>
          <p:cNvSpPr/>
          <p:nvPr/>
        </p:nvSpPr>
        <p:spPr>
          <a:xfrm>
            <a:off x="9546580" y="3181201"/>
            <a:ext cx="17246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02B"/>
                </a:solidFill>
                <a:latin typeface="JetBrains Mono" pitchFamily="49" charset="0"/>
                <a:ea typeface="JetBrains Mono" pitchFamily="49" charset="-122"/>
                <a:cs typeface="JetBrains Mono" pitchFamily="49" charset="-120"/>
              </a:rPr>
              <a:t>sdd-task-planner</a:t>
            </a:r>
            <a:endParaRPr lang="en-US" sz="1200" dirty="0"/>
          </a:p>
        </p:txBody>
      </p:sp>
      <p:sp>
        <p:nvSpPr>
          <p:cNvPr id="27" name="Text 24"/>
          <p:cNvSpPr/>
          <p:nvPr/>
        </p:nvSpPr>
        <p:spPr>
          <a:xfrm>
            <a:off x="9546580" y="3445321"/>
            <a:ext cx="17246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tasks.md</a:t>
            </a:r>
            <a:endParaRPr lang="en-US" sz="1200" dirty="0"/>
          </a:p>
        </p:txBody>
      </p:sp>
      <p:sp>
        <p:nvSpPr>
          <p:cNvPr id="28" name="Shape 25"/>
          <p:cNvSpPr/>
          <p:nvPr/>
        </p:nvSpPr>
        <p:spPr>
          <a:xfrm>
            <a:off x="815975" y="4186287"/>
            <a:ext cx="1984970" cy="1266031"/>
          </a:xfrm>
          <a:prstGeom prst="roundRect">
            <a:avLst>
              <a:gd name="adj" fmla="val 5768"/>
            </a:avLst>
          </a:prstGeom>
          <a:solidFill>
            <a:srgbClr val="FCFBF8"/>
          </a:solidFill>
          <a:ln w="6350">
            <a:solidFill>
              <a:srgbClr val="DEDAD1"/>
            </a:solidFill>
            <a:prstDash val="solid"/>
          </a:ln>
        </p:spPr>
      </p:sp>
      <p:sp>
        <p:nvSpPr>
          <p:cNvPr id="29" name="Text 26"/>
          <p:cNvSpPr/>
          <p:nvPr/>
        </p:nvSpPr>
        <p:spPr>
          <a:xfrm>
            <a:off x="971550" y="4341862"/>
            <a:ext cx="17246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521D"/>
                </a:solidFill>
                <a:latin typeface="JetBrains Mono" pitchFamily="49" charset="0"/>
                <a:ea typeface="JetBrains Mono" pitchFamily="49" charset="-122"/>
                <a:cs typeface="JetBrains Mono" pitchFamily="49" charset="-120"/>
              </a:rPr>
              <a:t>6a · RED</a:t>
            </a:r>
            <a:endParaRPr lang="en-US" sz="1200" dirty="0"/>
          </a:p>
        </p:txBody>
      </p:sp>
      <p:sp>
        <p:nvSpPr>
          <p:cNvPr id="30" name="Text 27"/>
          <p:cNvSpPr/>
          <p:nvPr/>
        </p:nvSpPr>
        <p:spPr>
          <a:xfrm>
            <a:off x="971550" y="4605982"/>
            <a:ext cx="172462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02B"/>
                </a:solidFill>
                <a:latin typeface="JetBrains Mono" pitchFamily="49" charset="0"/>
                <a:ea typeface="JetBrains Mono" pitchFamily="49" charset="-122"/>
                <a:cs typeface="JetBrains Mono" pitchFamily="49" charset="-120"/>
              </a:rPr>
              <a:t>tdd-test-author</a:t>
            </a:r>
            <a:endParaRPr lang="en-US" sz="1200" dirty="0"/>
          </a:p>
        </p:txBody>
      </p:sp>
      <p:sp>
        <p:nvSpPr>
          <p:cNvPr id="31" name="Text 28"/>
          <p:cNvSpPr/>
          <p:nvPr/>
        </p:nvSpPr>
        <p:spPr>
          <a:xfrm>
            <a:off x="971550" y="4870103"/>
            <a:ext cx="17246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Tests que fallan</a:t>
            </a:r>
            <a:endParaRPr lang="en-US" sz="1200" dirty="0"/>
          </a:p>
        </p:txBody>
      </p:sp>
      <p:sp>
        <p:nvSpPr>
          <p:cNvPr id="32" name="Shape 29"/>
          <p:cNvSpPr/>
          <p:nvPr/>
        </p:nvSpPr>
        <p:spPr>
          <a:xfrm>
            <a:off x="2959695" y="4186287"/>
            <a:ext cx="1985020" cy="1266031"/>
          </a:xfrm>
          <a:prstGeom prst="roundRect">
            <a:avLst>
              <a:gd name="adj" fmla="val 5768"/>
            </a:avLst>
          </a:prstGeom>
          <a:solidFill>
            <a:srgbClr val="FCFBF8"/>
          </a:solidFill>
          <a:ln w="6350">
            <a:solidFill>
              <a:srgbClr val="DEDAD1"/>
            </a:solidFill>
            <a:prstDash val="solid"/>
          </a:ln>
        </p:spPr>
      </p:sp>
      <p:sp>
        <p:nvSpPr>
          <p:cNvPr id="33" name="Text 30"/>
          <p:cNvSpPr/>
          <p:nvPr/>
        </p:nvSpPr>
        <p:spPr>
          <a:xfrm>
            <a:off x="3115270" y="4341862"/>
            <a:ext cx="17246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FB5"/>
                </a:solidFill>
                <a:latin typeface="JetBrains Mono" pitchFamily="49" charset="0"/>
                <a:ea typeface="JetBrains Mono" pitchFamily="49" charset="-122"/>
                <a:cs typeface="JetBrains Mono" pitchFamily="49" charset="-120"/>
              </a:rPr>
              <a:t>6b · GREEN</a:t>
            </a:r>
            <a:endParaRPr lang="en-US" sz="1200" dirty="0"/>
          </a:p>
        </p:txBody>
      </p:sp>
      <p:sp>
        <p:nvSpPr>
          <p:cNvPr id="34" name="Text 31"/>
          <p:cNvSpPr/>
          <p:nvPr/>
        </p:nvSpPr>
        <p:spPr>
          <a:xfrm>
            <a:off x="3115270" y="4605982"/>
            <a:ext cx="17246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02B"/>
                </a:solidFill>
                <a:latin typeface="JetBrains Mono" pitchFamily="49" charset="0"/>
                <a:ea typeface="JetBrains Mono" pitchFamily="49" charset="-122"/>
                <a:cs typeface="JetBrains Mono" pitchFamily="49" charset="-120"/>
              </a:rPr>
              <a:t>tdd-implementer</a:t>
            </a:r>
            <a:endParaRPr lang="en-US" sz="1200" dirty="0"/>
          </a:p>
        </p:txBody>
      </p:sp>
      <p:sp>
        <p:nvSpPr>
          <p:cNvPr id="35" name="Text 32"/>
          <p:cNvSpPr/>
          <p:nvPr/>
        </p:nvSpPr>
        <p:spPr>
          <a:xfrm>
            <a:off x="3115270" y="4870103"/>
            <a:ext cx="172467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Código mínimo + refactor</a:t>
            </a:r>
            <a:endParaRPr lang="en-US" sz="1200" dirty="0"/>
          </a:p>
        </p:txBody>
      </p:sp>
      <p:sp>
        <p:nvSpPr>
          <p:cNvPr id="36" name="Shape 33"/>
          <p:cNvSpPr/>
          <p:nvPr/>
        </p:nvSpPr>
        <p:spPr>
          <a:xfrm>
            <a:off x="5103465" y="4186287"/>
            <a:ext cx="1985020" cy="1266031"/>
          </a:xfrm>
          <a:prstGeom prst="roundRect">
            <a:avLst>
              <a:gd name="adj" fmla="val 5768"/>
            </a:avLst>
          </a:prstGeom>
          <a:solidFill>
            <a:srgbClr val="FCFBF8"/>
          </a:solidFill>
          <a:ln w="6350">
            <a:solidFill>
              <a:srgbClr val="DEDAD1"/>
            </a:solidFill>
            <a:prstDash val="solid"/>
          </a:ln>
        </p:spPr>
      </p:sp>
      <p:sp>
        <p:nvSpPr>
          <p:cNvPr id="37" name="Text 34"/>
          <p:cNvSpPr/>
          <p:nvPr/>
        </p:nvSpPr>
        <p:spPr>
          <a:xfrm>
            <a:off x="5259040" y="4341862"/>
            <a:ext cx="17246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FB5"/>
                </a:solidFill>
                <a:latin typeface="JetBrains Mono" pitchFamily="49" charset="0"/>
                <a:ea typeface="JetBrains Mono" pitchFamily="49" charset="-122"/>
                <a:cs typeface="JetBrains Mono" pitchFamily="49" charset="-120"/>
              </a:rPr>
              <a:t>7 · Revisión</a:t>
            </a:r>
            <a:endParaRPr lang="en-US" sz="1200" dirty="0"/>
          </a:p>
        </p:txBody>
      </p:sp>
      <p:sp>
        <p:nvSpPr>
          <p:cNvPr id="38" name="Text 35"/>
          <p:cNvSpPr/>
          <p:nvPr/>
        </p:nvSpPr>
        <p:spPr>
          <a:xfrm>
            <a:off x="5259040" y="4605982"/>
            <a:ext cx="17246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02B"/>
                </a:solidFill>
                <a:latin typeface="JetBrains Mono" pitchFamily="49" charset="0"/>
                <a:ea typeface="JetBrains Mono" pitchFamily="49" charset="-122"/>
                <a:cs typeface="JetBrains Mono" pitchFamily="49" charset="-120"/>
              </a:rPr>
              <a:t>code-reviewer</a:t>
            </a:r>
            <a:endParaRPr lang="en-US" sz="1200" dirty="0"/>
          </a:p>
        </p:txBody>
      </p:sp>
      <p:sp>
        <p:nvSpPr>
          <p:cNvPr id="39" name="Text 36"/>
          <p:cNvSpPr/>
          <p:nvPr/>
        </p:nvSpPr>
        <p:spPr>
          <a:xfrm>
            <a:off x="5259040" y="4870103"/>
            <a:ext cx="17246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Solo lectura · informe</a:t>
            </a:r>
            <a:endParaRPr lang="en-US" sz="1200" dirty="0"/>
          </a:p>
        </p:txBody>
      </p:sp>
      <p:sp>
        <p:nvSpPr>
          <p:cNvPr id="40" name="Shape 37"/>
          <p:cNvSpPr/>
          <p:nvPr/>
        </p:nvSpPr>
        <p:spPr>
          <a:xfrm>
            <a:off x="7247235" y="4186287"/>
            <a:ext cx="1985020" cy="1266031"/>
          </a:xfrm>
          <a:prstGeom prst="roundRect">
            <a:avLst>
              <a:gd name="adj" fmla="val 5768"/>
            </a:avLst>
          </a:prstGeom>
          <a:solidFill>
            <a:srgbClr val="FCFBF8"/>
          </a:solidFill>
          <a:ln w="6350">
            <a:solidFill>
              <a:srgbClr val="DEDAD1"/>
            </a:solidFill>
            <a:prstDash val="solid"/>
          </a:ln>
        </p:spPr>
      </p:sp>
      <p:sp>
        <p:nvSpPr>
          <p:cNvPr id="41" name="Text 38"/>
          <p:cNvSpPr/>
          <p:nvPr/>
        </p:nvSpPr>
        <p:spPr>
          <a:xfrm>
            <a:off x="7402810" y="4341862"/>
            <a:ext cx="17246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FB5"/>
                </a:solidFill>
                <a:latin typeface="JetBrains Mono" pitchFamily="49" charset="0"/>
                <a:ea typeface="JetBrains Mono" pitchFamily="49" charset="-122"/>
                <a:cs typeface="JetBrains Mono" pitchFamily="49" charset="-120"/>
              </a:rPr>
              <a:t>8 · Verificación</a:t>
            </a:r>
            <a:endParaRPr lang="en-US" sz="1200" dirty="0"/>
          </a:p>
        </p:txBody>
      </p:sp>
      <p:sp>
        <p:nvSpPr>
          <p:cNvPr id="42" name="Text 39"/>
          <p:cNvSpPr/>
          <p:nvPr/>
        </p:nvSpPr>
        <p:spPr>
          <a:xfrm>
            <a:off x="7402810" y="4605982"/>
            <a:ext cx="17246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02B"/>
                </a:solidFill>
                <a:latin typeface="JetBrains Mono" pitchFamily="49" charset="0"/>
                <a:ea typeface="JetBrains Mono" pitchFamily="49" charset="-122"/>
                <a:cs typeface="JetBrains Mono" pitchFamily="49" charset="-120"/>
              </a:rPr>
              <a:t>sdd-verifier</a:t>
            </a:r>
            <a:endParaRPr lang="en-US" sz="1200" dirty="0"/>
          </a:p>
        </p:txBody>
      </p:sp>
      <p:sp>
        <p:nvSpPr>
          <p:cNvPr id="43" name="Text 40"/>
          <p:cNvSpPr/>
          <p:nvPr/>
        </p:nvSpPr>
        <p:spPr>
          <a:xfrm>
            <a:off x="7402810" y="4870103"/>
            <a:ext cx="17246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Solo lectura · matriz RF</a:t>
            </a:r>
            <a:endParaRPr lang="en-US" sz="1200" dirty="0"/>
          </a:p>
        </p:txBody>
      </p:sp>
      <p:sp>
        <p:nvSpPr>
          <p:cNvPr id="44" name="Shape 41"/>
          <p:cNvSpPr/>
          <p:nvPr/>
        </p:nvSpPr>
        <p:spPr>
          <a:xfrm>
            <a:off x="9391005" y="4186287"/>
            <a:ext cx="1985020" cy="1266031"/>
          </a:xfrm>
          <a:prstGeom prst="roundRect">
            <a:avLst>
              <a:gd name="adj" fmla="val 5768"/>
            </a:avLst>
          </a:prstGeom>
          <a:solidFill>
            <a:srgbClr val="FCFBF8"/>
          </a:solidFill>
          <a:ln w="6350">
            <a:solidFill>
              <a:srgbClr val="DEDAD1"/>
            </a:solidFill>
            <a:prstDash val="solid"/>
          </a:ln>
        </p:spPr>
      </p:sp>
      <p:sp>
        <p:nvSpPr>
          <p:cNvPr id="45" name="Text 42"/>
          <p:cNvSpPr/>
          <p:nvPr/>
        </p:nvSpPr>
        <p:spPr>
          <a:xfrm>
            <a:off x="9546580" y="4341862"/>
            <a:ext cx="17246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FB5"/>
                </a:solidFill>
                <a:latin typeface="JetBrains Mono" pitchFamily="49" charset="0"/>
                <a:ea typeface="JetBrains Mono" pitchFamily="49" charset="-122"/>
                <a:cs typeface="JetBrains Mono" pitchFamily="49" charset="-120"/>
              </a:rPr>
              <a:t>9 · Cierre</a:t>
            </a:r>
            <a:endParaRPr lang="en-US" sz="1200" dirty="0"/>
          </a:p>
        </p:txBody>
      </p:sp>
      <p:sp>
        <p:nvSpPr>
          <p:cNvPr id="46" name="Text 43"/>
          <p:cNvSpPr/>
          <p:nvPr/>
        </p:nvSpPr>
        <p:spPr>
          <a:xfrm>
            <a:off x="9546580" y="4605982"/>
            <a:ext cx="17246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02B"/>
                </a:solidFill>
                <a:latin typeface="JetBrains Mono" pitchFamily="49" charset="0"/>
                <a:ea typeface="JetBrains Mono" pitchFamily="49" charset="-122"/>
                <a:cs typeface="JetBrains Mono" pitchFamily="49" charset="-120"/>
              </a:rPr>
              <a:t>sdd-archivist</a:t>
            </a:r>
            <a:endParaRPr lang="en-US" sz="1200" dirty="0"/>
          </a:p>
        </p:txBody>
      </p:sp>
      <p:sp>
        <p:nvSpPr>
          <p:cNvPr id="47" name="Text 44"/>
          <p:cNvSpPr/>
          <p:nvPr/>
        </p:nvSpPr>
        <p:spPr>
          <a:xfrm>
            <a:off x="9546580" y="4870103"/>
            <a:ext cx="182627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Informes, MEMORY y PR</a:t>
            </a:r>
            <a:endParaRPr lang="en-US" sz="1200" dirty="0"/>
          </a:p>
        </p:txBody>
      </p:sp>
      <p:sp>
        <p:nvSpPr>
          <p:cNvPr id="48" name="Text 45"/>
          <p:cNvSpPr/>
          <p:nvPr/>
        </p:nvSpPr>
        <p:spPr>
          <a:xfrm>
            <a:off x="812800" y="6238280"/>
            <a:ext cx="47183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079"/>
                </a:solidFill>
                <a:latin typeface="JetBrains Mono" pitchFamily="49" charset="0"/>
                <a:ea typeface="JetBrains Mono" pitchFamily="49" charset="-122"/>
                <a:cs typeface="JetBrains Mono" pitchFamily="49" charset="-120"/>
              </a:rPr>
              <a:t>De OpenSpec a un sistema multiagente propio</a:t>
            </a:r>
            <a:endParaRPr lang="en-US" sz="1200" dirty="0"/>
          </a:p>
        </p:txBody>
      </p:sp>
      <p:sp>
        <p:nvSpPr>
          <p:cNvPr id="49" name="Text 46"/>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079"/>
                </a:solidFill>
                <a:latin typeface="JetBrains Mono" pitchFamily="49" charset="0"/>
                <a:ea typeface="JetBrains Mono" pitchFamily="49" charset="-122"/>
                <a:cs typeface="JetBrains Mono" pitchFamily="49"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F6FB5"/>
                </a:solidFill>
                <a:latin typeface="JetBrains Mono" pitchFamily="49" charset="0"/>
                <a:ea typeface="JetBrains Mono" pitchFamily="49" charset="-122"/>
                <a:cs typeface="JetBrains Mono" pitchFamily="49" charset="-120"/>
              </a:rPr>
              <a:t>AHORA · KIT PROPIO</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IBM Plex Sans" pitchFamily="34" charset="0"/>
                <a:ea typeface="IBM Plex Sans" pitchFamily="34" charset="-122"/>
                <a:cs typeface="IBM Plex Sans" pitchFamily="34" charset="-120"/>
              </a:rPr>
              <a:t>El flujo completo, con tres gates humanos</a:t>
            </a:r>
            <a:endParaRPr lang="en-US" sz="3200" dirty="0"/>
          </a:p>
        </p:txBody>
      </p:sp>
      <p:sp>
        <p:nvSpPr>
          <p:cNvPr id="4" name="Text 2"/>
          <p:cNvSpPr/>
          <p:nvPr/>
        </p:nvSpPr>
        <p:spPr>
          <a:xfrm>
            <a:off x="812800" y="195064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A7079"/>
                </a:solidFill>
                <a:latin typeface="JetBrains Mono" pitchFamily="49" charset="0"/>
                <a:ea typeface="JetBrains Mono" pitchFamily="49" charset="-122"/>
                <a:cs typeface="JetBrains Mono" pitchFamily="49" charset="-120"/>
              </a:rPr>
              <a:t>DEFINIR · EL QUÉ Y EL POR QUÉ</a:t>
            </a:r>
            <a:endParaRPr lang="en-US" sz="1200" dirty="0"/>
          </a:p>
        </p:txBody>
      </p:sp>
      <p:sp>
        <p:nvSpPr>
          <p:cNvPr id="5" name="Text 3"/>
          <p:cNvSpPr/>
          <p:nvPr/>
        </p:nvSpPr>
        <p:spPr>
          <a:xfrm>
            <a:off x="815975" y="2268736"/>
            <a:ext cx="1460847" cy="458440"/>
          </a:xfrm>
          <a:prstGeom prst="roundRect">
            <a:avLst>
              <a:gd name="adj" fmla="val 15929"/>
            </a:avLst>
          </a:prstGeom>
          <a:solidFill>
            <a:srgbClr val="FCFBF8"/>
          </a:solidFill>
          <a:ln w="6350">
            <a:solidFill>
              <a:srgbClr val="DEDAD1"/>
            </a:solidFill>
            <a:prstDash val="solid"/>
          </a:ln>
        </p:spPr>
        <p:txBody>
          <a:bodyPr wrap="none" lIns="0" tIns="0" rIns="0" bIns="0" rtlCol="0" anchor="ctr">
            <a:normAutofit/>
          </a:bodyPr>
          <a:lstStyle/>
          <a:p>
            <a:pPr algn="ctr" indent="0" marL="0">
              <a:lnSpc>
                <a:spcPts val="1960"/>
              </a:lnSpc>
              <a:buNone/>
            </a:pPr>
            <a:r>
              <a:rPr lang="en-US" sz="1400" b="1" dirty="0">
                <a:solidFill>
                  <a:srgbClr val="14202B"/>
                </a:solidFill>
                <a:latin typeface="IBM Plex Sans" pitchFamily="34" charset="0"/>
                <a:ea typeface="IBM Plex Sans" pitchFamily="34" charset="-122"/>
                <a:cs typeface="IBM Plex Sans" pitchFamily="34" charset="-120"/>
              </a:rPr>
              <a:t>0</a:t>
            </a:r>
            <a:r>
              <a:rPr lang="en-US" sz="1400" dirty="0">
                <a:solidFill>
                  <a:srgbClr val="14202B"/>
                </a:solidFill>
                <a:latin typeface="IBM Plex Sans" pitchFamily="34" charset="0"/>
                <a:ea typeface="IBM Plex Sans" pitchFamily="34" charset="-122"/>
                <a:cs typeface="IBM Plex Sans" pitchFamily="34" charset="-120"/>
              </a:rPr>
              <a:t> Constitución</a:t>
            </a:r>
            <a:endParaRPr lang="en-US" sz="1400" dirty="0"/>
          </a:p>
        </p:txBody>
      </p:sp>
      <p:pic>
        <p:nvPicPr>
          <p:cNvPr id="6" name="Image 0" descr="arrow-right">    </p:cNvPr>
          <p:cNvPicPr>
            <a:picLocks noChangeAspect="1"/>
          </p:cNvPicPr>
          <p:nvPr/>
        </p:nvPicPr>
        <p:blipFill>
          <a:blip r:embed="rId1"/>
          <a:srcRect l="0" r="0" t="0" b="0"/>
          <a:stretch/>
        </p:blipFill>
        <p:spPr>
          <a:xfrm>
            <a:off x="2381597" y="2447131"/>
            <a:ext cx="203200" cy="101600"/>
          </a:xfrm>
          <a:prstGeom prst="rect">
            <a:avLst/>
          </a:prstGeom>
        </p:spPr>
      </p:pic>
      <p:sp>
        <p:nvSpPr>
          <p:cNvPr id="7" name="Text 4"/>
          <p:cNvSpPr/>
          <p:nvPr/>
        </p:nvSpPr>
        <p:spPr>
          <a:xfrm>
            <a:off x="2689572" y="2268736"/>
            <a:ext cx="1398637" cy="458440"/>
          </a:xfrm>
          <a:prstGeom prst="roundRect">
            <a:avLst>
              <a:gd name="adj" fmla="val 15929"/>
            </a:avLst>
          </a:prstGeom>
          <a:solidFill>
            <a:srgbClr val="FCFBF8"/>
          </a:solidFill>
          <a:ln w="6350">
            <a:solidFill>
              <a:srgbClr val="DEDAD1"/>
            </a:solidFill>
            <a:prstDash val="solid"/>
          </a:ln>
        </p:spPr>
        <p:txBody>
          <a:bodyPr wrap="none" lIns="0" tIns="0" rIns="0" bIns="0" rtlCol="0" anchor="ctr">
            <a:normAutofit/>
          </a:bodyPr>
          <a:lstStyle/>
          <a:p>
            <a:pPr algn="ctr" indent="0" marL="0">
              <a:lnSpc>
                <a:spcPts val="1960"/>
              </a:lnSpc>
              <a:buNone/>
            </a:pPr>
            <a:r>
              <a:rPr lang="en-US" sz="1400" b="1" dirty="0">
                <a:solidFill>
                  <a:srgbClr val="14202B"/>
                </a:solidFill>
                <a:latin typeface="IBM Plex Sans" pitchFamily="34" charset="0"/>
                <a:ea typeface="IBM Plex Sans" pitchFamily="34" charset="-122"/>
                <a:cs typeface="IBM Plex Sans" pitchFamily="34" charset="-120"/>
              </a:rPr>
              <a:t>1</a:t>
            </a:r>
            <a:r>
              <a:rPr lang="en-US" sz="1400" dirty="0">
                <a:solidFill>
                  <a:srgbClr val="14202B"/>
                </a:solidFill>
                <a:latin typeface="IBM Plex Sans" pitchFamily="34" charset="0"/>
                <a:ea typeface="IBM Plex Sans" pitchFamily="34" charset="-122"/>
                <a:cs typeface="IBM Plex Sans" pitchFamily="34" charset="-120"/>
              </a:rPr>
              <a:t> Exploración</a:t>
            </a:r>
            <a:endParaRPr lang="en-US" sz="1400" dirty="0"/>
          </a:p>
        </p:txBody>
      </p:sp>
      <p:pic>
        <p:nvPicPr>
          <p:cNvPr id="8" name="Image 1" descr="arrow-right">    </p:cNvPr>
          <p:cNvPicPr>
            <a:picLocks noChangeAspect="1"/>
          </p:cNvPicPr>
          <p:nvPr/>
        </p:nvPicPr>
        <p:blipFill>
          <a:blip r:embed="rId2"/>
          <a:srcRect l="0" r="0" t="0" b="0"/>
          <a:stretch/>
        </p:blipFill>
        <p:spPr>
          <a:xfrm>
            <a:off x="4192984" y="2447131"/>
            <a:ext cx="203200" cy="101600"/>
          </a:xfrm>
          <a:prstGeom prst="rect">
            <a:avLst/>
          </a:prstGeom>
        </p:spPr>
      </p:pic>
      <p:sp>
        <p:nvSpPr>
          <p:cNvPr id="9" name="Text 5"/>
          <p:cNvSpPr/>
          <p:nvPr/>
        </p:nvSpPr>
        <p:spPr>
          <a:xfrm>
            <a:off x="4500959" y="2268736"/>
            <a:ext cx="1570583" cy="458440"/>
          </a:xfrm>
          <a:prstGeom prst="roundRect">
            <a:avLst>
              <a:gd name="adj" fmla="val 15929"/>
            </a:avLst>
          </a:prstGeom>
          <a:solidFill>
            <a:srgbClr val="FCFBF8"/>
          </a:solidFill>
          <a:ln w="6350">
            <a:solidFill>
              <a:srgbClr val="DEDAD1"/>
            </a:solidFill>
            <a:prstDash val="solid"/>
          </a:ln>
        </p:spPr>
        <p:txBody>
          <a:bodyPr wrap="none" lIns="0" tIns="0" rIns="0" bIns="0" rtlCol="0" anchor="ctr">
            <a:normAutofit/>
          </a:bodyPr>
          <a:lstStyle/>
          <a:p>
            <a:pPr algn="ctr" indent="0" marL="0">
              <a:lnSpc>
                <a:spcPts val="1960"/>
              </a:lnSpc>
              <a:buNone/>
            </a:pPr>
            <a:r>
              <a:rPr lang="en-US" sz="1400" b="1" dirty="0">
                <a:solidFill>
                  <a:srgbClr val="14202B"/>
                </a:solidFill>
                <a:latin typeface="IBM Plex Sans" pitchFamily="34" charset="0"/>
                <a:ea typeface="IBM Plex Sans" pitchFamily="34" charset="-122"/>
                <a:cs typeface="IBM Plex Sans" pitchFamily="34" charset="-120"/>
              </a:rPr>
              <a:t>2</a:t>
            </a:r>
            <a:r>
              <a:rPr lang="en-US" sz="1400" dirty="0">
                <a:solidFill>
                  <a:srgbClr val="14202B"/>
                </a:solidFill>
                <a:latin typeface="IBM Plex Sans" pitchFamily="34" charset="0"/>
                <a:ea typeface="IBM Plex Sans" pitchFamily="34" charset="-122"/>
                <a:cs typeface="IBM Plex Sans" pitchFamily="34" charset="-120"/>
              </a:rPr>
              <a:t> Spec en EARS</a:t>
            </a:r>
            <a:endParaRPr lang="en-US" sz="1400" dirty="0"/>
          </a:p>
        </p:txBody>
      </p:sp>
      <p:pic>
        <p:nvPicPr>
          <p:cNvPr id="10" name="Image 2" descr="arrow-right">    </p:cNvPr>
          <p:cNvPicPr>
            <a:picLocks noChangeAspect="1"/>
          </p:cNvPicPr>
          <p:nvPr/>
        </p:nvPicPr>
        <p:blipFill>
          <a:blip r:embed="rId3"/>
          <a:srcRect l="0" r="0" t="0" b="0"/>
          <a:stretch/>
        </p:blipFill>
        <p:spPr>
          <a:xfrm>
            <a:off x="6176318" y="2447131"/>
            <a:ext cx="203200" cy="101600"/>
          </a:xfrm>
          <a:prstGeom prst="rect">
            <a:avLst/>
          </a:prstGeom>
        </p:spPr>
      </p:pic>
      <p:sp>
        <p:nvSpPr>
          <p:cNvPr id="11" name="Text 6"/>
          <p:cNvSpPr/>
          <p:nvPr/>
        </p:nvSpPr>
        <p:spPr>
          <a:xfrm>
            <a:off x="6484293" y="2268736"/>
            <a:ext cx="1442889" cy="458440"/>
          </a:xfrm>
          <a:prstGeom prst="roundRect">
            <a:avLst>
              <a:gd name="adj" fmla="val 15929"/>
            </a:avLst>
          </a:prstGeom>
          <a:solidFill>
            <a:srgbClr val="FCFBF8"/>
          </a:solidFill>
          <a:ln w="6350">
            <a:solidFill>
              <a:srgbClr val="DEDAD1"/>
            </a:solidFill>
            <a:prstDash val="solid"/>
          </a:ln>
        </p:spPr>
        <p:txBody>
          <a:bodyPr wrap="none" lIns="0" tIns="0" rIns="0" bIns="0" rtlCol="0" anchor="ctr">
            <a:normAutofit/>
          </a:bodyPr>
          <a:lstStyle/>
          <a:p>
            <a:pPr algn="ctr" indent="0" marL="0">
              <a:lnSpc>
                <a:spcPts val="1960"/>
              </a:lnSpc>
              <a:buNone/>
            </a:pPr>
            <a:r>
              <a:rPr lang="en-US" sz="1400" b="1" dirty="0">
                <a:solidFill>
                  <a:srgbClr val="14202B"/>
                </a:solidFill>
                <a:latin typeface="IBM Plex Sans" pitchFamily="34" charset="0"/>
                <a:ea typeface="IBM Plex Sans" pitchFamily="34" charset="-122"/>
                <a:cs typeface="IBM Plex Sans" pitchFamily="34" charset="-120"/>
              </a:rPr>
              <a:t>3</a:t>
            </a:r>
            <a:r>
              <a:rPr lang="en-US" sz="1400" dirty="0">
                <a:solidFill>
                  <a:srgbClr val="14202B"/>
                </a:solidFill>
                <a:latin typeface="IBM Plex Sans" pitchFamily="34" charset="0"/>
                <a:ea typeface="IBM Plex Sans" pitchFamily="34" charset="-122"/>
                <a:cs typeface="IBM Plex Sans" pitchFamily="34" charset="-120"/>
              </a:rPr>
              <a:t> Clarificación</a:t>
            </a:r>
            <a:endParaRPr lang="en-US" sz="1400" dirty="0"/>
          </a:p>
        </p:txBody>
      </p:sp>
      <p:pic>
        <p:nvPicPr>
          <p:cNvPr id="12" name="Image 3" descr="arrow-right">    </p:cNvPr>
          <p:cNvPicPr>
            <a:picLocks noChangeAspect="1"/>
          </p:cNvPicPr>
          <p:nvPr/>
        </p:nvPicPr>
        <p:blipFill>
          <a:blip r:embed="rId4"/>
          <a:srcRect l="0" r="0" t="0" b="0"/>
          <a:stretch/>
        </p:blipFill>
        <p:spPr>
          <a:xfrm>
            <a:off x="8031956" y="2447131"/>
            <a:ext cx="203200" cy="101600"/>
          </a:xfrm>
          <a:prstGeom prst="rect">
            <a:avLst/>
          </a:prstGeom>
        </p:spPr>
      </p:pic>
      <p:sp>
        <p:nvSpPr>
          <p:cNvPr id="13" name="Shape 7"/>
          <p:cNvSpPr/>
          <p:nvPr/>
        </p:nvSpPr>
        <p:spPr>
          <a:xfrm>
            <a:off x="8336756" y="2271911"/>
            <a:ext cx="1629271" cy="452090"/>
          </a:xfrm>
          <a:prstGeom prst="roundRect">
            <a:avLst>
              <a:gd name="adj" fmla="val 16855"/>
            </a:avLst>
          </a:prstGeom>
          <a:solidFill>
            <a:srgbClr val="14202B"/>
          </a:solidFill>
          <a:ln/>
        </p:spPr>
      </p:sp>
      <p:pic>
        <p:nvPicPr>
          <p:cNvPr id="14" name="Image 4" descr="Lock">    </p:cNvPr>
          <p:cNvPicPr>
            <a:picLocks noChangeAspect="1"/>
          </p:cNvPicPr>
          <p:nvPr/>
        </p:nvPicPr>
        <p:blipFill>
          <a:blip r:embed="rId5"/>
          <a:srcRect l="0" r="0" t="0" b="0"/>
          <a:stretch/>
        </p:blipFill>
        <p:spPr>
          <a:xfrm>
            <a:off x="8489156" y="2409031"/>
            <a:ext cx="177800" cy="177800"/>
          </a:xfrm>
          <a:prstGeom prst="rect">
            <a:avLst/>
          </a:prstGeom>
        </p:spPr>
      </p:pic>
      <p:sp>
        <p:nvSpPr>
          <p:cNvPr id="15" name="Text 8"/>
          <p:cNvSpPr/>
          <p:nvPr/>
        </p:nvSpPr>
        <p:spPr>
          <a:xfrm>
            <a:off x="8743156" y="2373511"/>
            <a:ext cx="1121271" cy="27429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F6F5F1"/>
                </a:solidFill>
                <a:latin typeface="IBM Plex Sans" pitchFamily="34" charset="0"/>
                <a:ea typeface="IBM Plex Sans" pitchFamily="34" charset="-122"/>
                <a:cs typeface="IBM Plex Sans" pitchFamily="34" charset="-120"/>
              </a:rPr>
              <a:t>Gate 1 · spec</a:t>
            </a:r>
            <a:endParaRPr lang="en-US" sz="1400" dirty="0"/>
          </a:p>
        </p:txBody>
      </p:sp>
      <p:sp>
        <p:nvSpPr>
          <p:cNvPr id="16" name="Text 9"/>
          <p:cNvSpPr/>
          <p:nvPr/>
        </p:nvSpPr>
        <p:spPr>
          <a:xfrm>
            <a:off x="812800" y="298435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A7079"/>
                </a:solidFill>
                <a:latin typeface="JetBrains Mono" pitchFamily="49" charset="0"/>
                <a:ea typeface="JetBrains Mono" pitchFamily="49" charset="-122"/>
                <a:cs typeface="JetBrains Mono" pitchFamily="49" charset="-120"/>
              </a:rPr>
              <a:t>PLANIFICAR · EL CÓMO</a:t>
            </a:r>
            <a:endParaRPr lang="en-US" sz="1200" dirty="0"/>
          </a:p>
        </p:txBody>
      </p:sp>
      <p:sp>
        <p:nvSpPr>
          <p:cNvPr id="17" name="Text 10"/>
          <p:cNvSpPr/>
          <p:nvPr/>
        </p:nvSpPr>
        <p:spPr>
          <a:xfrm>
            <a:off x="815975" y="3302446"/>
            <a:ext cx="1632446" cy="458440"/>
          </a:xfrm>
          <a:prstGeom prst="roundRect">
            <a:avLst>
              <a:gd name="adj" fmla="val 15929"/>
            </a:avLst>
          </a:prstGeom>
          <a:solidFill>
            <a:srgbClr val="FCFBF8"/>
          </a:solidFill>
          <a:ln w="6350">
            <a:solidFill>
              <a:srgbClr val="DEDAD1"/>
            </a:solidFill>
            <a:prstDash val="solid"/>
          </a:ln>
        </p:spPr>
        <p:txBody>
          <a:bodyPr wrap="none" lIns="0" tIns="0" rIns="0" bIns="0" rtlCol="0" anchor="ctr">
            <a:normAutofit/>
          </a:bodyPr>
          <a:lstStyle/>
          <a:p>
            <a:pPr algn="ctr" indent="0" marL="0">
              <a:lnSpc>
                <a:spcPts val="1960"/>
              </a:lnSpc>
              <a:buNone/>
            </a:pPr>
            <a:r>
              <a:rPr lang="en-US" sz="1400" b="1" dirty="0">
                <a:solidFill>
                  <a:srgbClr val="14202B"/>
                </a:solidFill>
                <a:latin typeface="IBM Plex Sans" pitchFamily="34" charset="0"/>
                <a:ea typeface="IBM Plex Sans" pitchFamily="34" charset="-122"/>
                <a:cs typeface="IBM Plex Sans" pitchFamily="34" charset="-120"/>
              </a:rPr>
              <a:t>4</a:t>
            </a:r>
            <a:r>
              <a:rPr lang="en-US" sz="1400" dirty="0">
                <a:solidFill>
                  <a:srgbClr val="14202B"/>
                </a:solidFill>
                <a:latin typeface="IBM Plex Sans" pitchFamily="34" charset="0"/>
                <a:ea typeface="IBM Plex Sans" pitchFamily="34" charset="-122"/>
                <a:cs typeface="IBM Plex Sans" pitchFamily="34" charset="-120"/>
              </a:rPr>
              <a:t> Diseño técnico</a:t>
            </a:r>
            <a:endParaRPr lang="en-US" sz="1400" dirty="0"/>
          </a:p>
        </p:txBody>
      </p:sp>
      <p:pic>
        <p:nvPicPr>
          <p:cNvPr id="18" name="Image 5" descr="arrow-right">    </p:cNvPr>
          <p:cNvPicPr>
            <a:picLocks noChangeAspect="1"/>
          </p:cNvPicPr>
          <p:nvPr/>
        </p:nvPicPr>
        <p:blipFill>
          <a:blip r:embed="rId6"/>
          <a:srcRect l="0" r="0" t="0" b="0"/>
          <a:stretch/>
        </p:blipFill>
        <p:spPr>
          <a:xfrm>
            <a:off x="2553196" y="3480842"/>
            <a:ext cx="203200" cy="101600"/>
          </a:xfrm>
          <a:prstGeom prst="rect">
            <a:avLst/>
          </a:prstGeom>
        </p:spPr>
      </p:pic>
      <p:sp>
        <p:nvSpPr>
          <p:cNvPr id="19" name="Text 11"/>
          <p:cNvSpPr/>
          <p:nvPr/>
        </p:nvSpPr>
        <p:spPr>
          <a:xfrm>
            <a:off x="2861171" y="3302446"/>
            <a:ext cx="987574" cy="458440"/>
          </a:xfrm>
          <a:prstGeom prst="roundRect">
            <a:avLst>
              <a:gd name="adj" fmla="val 15929"/>
            </a:avLst>
          </a:prstGeom>
          <a:solidFill>
            <a:srgbClr val="FCFBF8"/>
          </a:solidFill>
          <a:ln w="6350">
            <a:solidFill>
              <a:srgbClr val="DEDAD1"/>
            </a:solidFill>
            <a:prstDash val="solid"/>
          </a:ln>
        </p:spPr>
        <p:txBody>
          <a:bodyPr wrap="none" lIns="0" tIns="0" rIns="0" bIns="0" rtlCol="0" anchor="ctr">
            <a:normAutofit/>
          </a:bodyPr>
          <a:lstStyle/>
          <a:p>
            <a:pPr algn="ctr" indent="0" marL="0">
              <a:lnSpc>
                <a:spcPts val="1960"/>
              </a:lnSpc>
              <a:buNone/>
            </a:pPr>
            <a:r>
              <a:rPr lang="en-US" sz="1400" b="1" dirty="0">
                <a:solidFill>
                  <a:srgbClr val="14202B"/>
                </a:solidFill>
                <a:latin typeface="IBM Plex Sans" pitchFamily="34" charset="0"/>
                <a:ea typeface="IBM Plex Sans" pitchFamily="34" charset="-122"/>
                <a:cs typeface="IBM Plex Sans" pitchFamily="34" charset="-120"/>
              </a:rPr>
              <a:t>5</a:t>
            </a:r>
            <a:r>
              <a:rPr lang="en-US" sz="1400" dirty="0">
                <a:solidFill>
                  <a:srgbClr val="14202B"/>
                </a:solidFill>
                <a:latin typeface="IBM Plex Sans" pitchFamily="34" charset="0"/>
                <a:ea typeface="IBM Plex Sans" pitchFamily="34" charset="-122"/>
                <a:cs typeface="IBM Plex Sans" pitchFamily="34" charset="-120"/>
              </a:rPr>
              <a:t> Tareas</a:t>
            </a:r>
            <a:endParaRPr lang="en-US" sz="1400" dirty="0"/>
          </a:p>
        </p:txBody>
      </p:sp>
      <p:pic>
        <p:nvPicPr>
          <p:cNvPr id="20" name="Image 6" descr="arrow-right">    </p:cNvPr>
          <p:cNvPicPr>
            <a:picLocks noChangeAspect="1"/>
          </p:cNvPicPr>
          <p:nvPr/>
        </p:nvPicPr>
        <p:blipFill>
          <a:blip r:embed="rId7"/>
          <a:srcRect l="0" r="0" t="0" b="0"/>
          <a:stretch/>
        </p:blipFill>
        <p:spPr>
          <a:xfrm>
            <a:off x="3953520" y="3480842"/>
            <a:ext cx="203200" cy="101600"/>
          </a:xfrm>
          <a:prstGeom prst="rect">
            <a:avLst/>
          </a:prstGeom>
        </p:spPr>
      </p:pic>
      <p:sp>
        <p:nvSpPr>
          <p:cNvPr id="21" name="Text 12"/>
          <p:cNvSpPr/>
          <p:nvPr/>
        </p:nvSpPr>
        <p:spPr>
          <a:xfrm>
            <a:off x="4261495" y="3302446"/>
            <a:ext cx="1327646" cy="458440"/>
          </a:xfrm>
          <a:prstGeom prst="roundRect">
            <a:avLst>
              <a:gd name="adj" fmla="val 15929"/>
            </a:avLst>
          </a:prstGeom>
          <a:solidFill>
            <a:srgbClr val="FCFBF8"/>
          </a:solidFill>
          <a:ln w="6350">
            <a:solidFill>
              <a:srgbClr val="DEDAD1"/>
            </a:solidFill>
            <a:prstDash val="solid"/>
          </a:ln>
        </p:spPr>
        <p:txBody>
          <a:bodyPr wrap="none" lIns="0" tIns="0" rIns="0" bIns="0" rtlCol="0" anchor="ctr">
            <a:normAutofit/>
          </a:bodyPr>
          <a:lstStyle/>
          <a:p>
            <a:pPr algn="ct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Consistencia</a:t>
            </a:r>
            <a:endParaRPr lang="en-US" sz="1400" dirty="0"/>
          </a:p>
        </p:txBody>
      </p:sp>
      <p:pic>
        <p:nvPicPr>
          <p:cNvPr id="22" name="Image 7" descr="arrow-right">    </p:cNvPr>
          <p:cNvPicPr>
            <a:picLocks noChangeAspect="1"/>
          </p:cNvPicPr>
          <p:nvPr/>
        </p:nvPicPr>
        <p:blipFill>
          <a:blip r:embed="rId8"/>
          <a:srcRect l="0" r="0" t="0" b="0"/>
          <a:stretch/>
        </p:blipFill>
        <p:spPr>
          <a:xfrm>
            <a:off x="5693916" y="3480842"/>
            <a:ext cx="203200" cy="101600"/>
          </a:xfrm>
          <a:prstGeom prst="rect">
            <a:avLst/>
          </a:prstGeom>
        </p:spPr>
      </p:pic>
      <p:sp>
        <p:nvSpPr>
          <p:cNvPr id="23" name="Shape 13"/>
          <p:cNvSpPr/>
          <p:nvPr/>
        </p:nvSpPr>
        <p:spPr>
          <a:xfrm>
            <a:off x="5998716" y="3305621"/>
            <a:ext cx="2305248" cy="452090"/>
          </a:xfrm>
          <a:prstGeom prst="roundRect">
            <a:avLst>
              <a:gd name="adj" fmla="val 16855"/>
            </a:avLst>
          </a:prstGeom>
          <a:solidFill>
            <a:srgbClr val="14202B"/>
          </a:solidFill>
          <a:ln/>
        </p:spPr>
      </p:sp>
      <p:pic>
        <p:nvPicPr>
          <p:cNvPr id="24" name="Image 8" descr="Lock">    </p:cNvPr>
          <p:cNvPicPr>
            <a:picLocks noChangeAspect="1"/>
          </p:cNvPicPr>
          <p:nvPr/>
        </p:nvPicPr>
        <p:blipFill>
          <a:blip r:embed="rId9"/>
          <a:srcRect l="0" r="0" t="0" b="0"/>
          <a:stretch/>
        </p:blipFill>
        <p:spPr>
          <a:xfrm>
            <a:off x="6151116" y="3442742"/>
            <a:ext cx="177800" cy="177800"/>
          </a:xfrm>
          <a:prstGeom prst="rect">
            <a:avLst/>
          </a:prstGeom>
        </p:spPr>
      </p:pic>
      <p:sp>
        <p:nvSpPr>
          <p:cNvPr id="25" name="Text 14"/>
          <p:cNvSpPr/>
          <p:nvPr/>
        </p:nvSpPr>
        <p:spPr>
          <a:xfrm>
            <a:off x="6405116" y="3407221"/>
            <a:ext cx="1798842" cy="27429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F6F5F1"/>
                </a:solidFill>
                <a:latin typeface="IBM Plex Sans" pitchFamily="34" charset="0"/>
                <a:ea typeface="IBM Plex Sans" pitchFamily="34" charset="-122"/>
                <a:cs typeface="IBM Plex Sans" pitchFamily="34" charset="-120"/>
              </a:rPr>
              <a:t>Gate 2 · plan y tareas</a:t>
            </a:r>
            <a:endParaRPr lang="en-US" sz="1400" dirty="0"/>
          </a:p>
        </p:txBody>
      </p:sp>
      <p:sp>
        <p:nvSpPr>
          <p:cNvPr id="26" name="Text 15"/>
          <p:cNvSpPr/>
          <p:nvPr/>
        </p:nvSpPr>
        <p:spPr>
          <a:xfrm>
            <a:off x="812800" y="4018062"/>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6A7079"/>
                </a:solidFill>
                <a:latin typeface="JetBrains Mono" pitchFamily="49" charset="0"/>
                <a:ea typeface="JetBrains Mono" pitchFamily="49" charset="-122"/>
                <a:cs typeface="JetBrains Mono" pitchFamily="49" charset="-120"/>
              </a:rPr>
              <a:t>CONSTRUIR Y CERRAR</a:t>
            </a:r>
            <a:endParaRPr lang="en-US" sz="1200" dirty="0"/>
          </a:p>
        </p:txBody>
      </p:sp>
      <p:sp>
        <p:nvSpPr>
          <p:cNvPr id="27" name="Text 16"/>
          <p:cNvSpPr/>
          <p:nvPr/>
        </p:nvSpPr>
        <p:spPr>
          <a:xfrm>
            <a:off x="815975" y="4336157"/>
            <a:ext cx="1566317" cy="458440"/>
          </a:xfrm>
          <a:prstGeom prst="roundRect">
            <a:avLst>
              <a:gd name="adj" fmla="val 15929"/>
            </a:avLst>
          </a:prstGeom>
          <a:solidFill>
            <a:srgbClr val="FCFBF8"/>
          </a:solidFill>
          <a:ln w="6350">
            <a:solidFill>
              <a:srgbClr val="DEDAD1"/>
            </a:solidFill>
            <a:prstDash val="solid"/>
          </a:ln>
        </p:spPr>
        <p:txBody>
          <a:bodyPr wrap="none" lIns="0" tIns="0" rIns="0" bIns="0" rtlCol="0" anchor="ctr">
            <a:normAutofit/>
          </a:bodyPr>
          <a:lstStyle/>
          <a:p>
            <a:pPr algn="ctr" indent="0" marL="0">
              <a:lnSpc>
                <a:spcPts val="1960"/>
              </a:lnSpc>
              <a:buNone/>
            </a:pPr>
            <a:r>
              <a:rPr lang="en-US" sz="1400" b="1" dirty="0">
                <a:solidFill>
                  <a:srgbClr val="14202B"/>
                </a:solidFill>
                <a:latin typeface="IBM Plex Sans" pitchFamily="34" charset="0"/>
                <a:ea typeface="IBM Plex Sans" pitchFamily="34" charset="-122"/>
                <a:cs typeface="IBM Plex Sans" pitchFamily="34" charset="-120"/>
              </a:rPr>
              <a:t>6</a:t>
            </a:r>
            <a:r>
              <a:rPr lang="en-US" sz="1400" dirty="0">
                <a:solidFill>
                  <a:srgbClr val="14202B"/>
                </a:solidFill>
                <a:latin typeface="IBM Plex Sans" pitchFamily="34" charset="0"/>
                <a:ea typeface="IBM Plex Sans" pitchFamily="34" charset="-122"/>
                <a:cs typeface="IBM Plex Sans" pitchFamily="34" charset="-120"/>
              </a:rPr>
              <a:t> TDD por tarea</a:t>
            </a:r>
            <a:endParaRPr lang="en-US" sz="1400" dirty="0"/>
          </a:p>
        </p:txBody>
      </p:sp>
      <p:pic>
        <p:nvPicPr>
          <p:cNvPr id="28" name="Image 9" descr="arrow-right">    </p:cNvPr>
          <p:cNvPicPr>
            <a:picLocks noChangeAspect="1"/>
          </p:cNvPicPr>
          <p:nvPr/>
        </p:nvPicPr>
        <p:blipFill>
          <a:blip r:embed="rId10"/>
          <a:srcRect l="0" r="0" t="0" b="0"/>
          <a:stretch/>
        </p:blipFill>
        <p:spPr>
          <a:xfrm>
            <a:off x="2487067" y="4514552"/>
            <a:ext cx="203200" cy="101600"/>
          </a:xfrm>
          <a:prstGeom prst="rect">
            <a:avLst/>
          </a:prstGeom>
        </p:spPr>
      </p:pic>
      <p:sp>
        <p:nvSpPr>
          <p:cNvPr id="29" name="Text 17"/>
          <p:cNvSpPr/>
          <p:nvPr/>
        </p:nvSpPr>
        <p:spPr>
          <a:xfrm>
            <a:off x="2795042" y="4336157"/>
            <a:ext cx="1130697" cy="458440"/>
          </a:xfrm>
          <a:prstGeom prst="roundRect">
            <a:avLst>
              <a:gd name="adj" fmla="val 15929"/>
            </a:avLst>
          </a:prstGeom>
          <a:solidFill>
            <a:srgbClr val="FCFBF8"/>
          </a:solidFill>
          <a:ln w="6350">
            <a:solidFill>
              <a:srgbClr val="DEDAD1"/>
            </a:solidFill>
            <a:prstDash val="solid"/>
          </a:ln>
        </p:spPr>
        <p:txBody>
          <a:bodyPr wrap="none" lIns="0" tIns="0" rIns="0" bIns="0" rtlCol="0" anchor="ctr">
            <a:normAutofit/>
          </a:bodyPr>
          <a:lstStyle/>
          <a:p>
            <a:pPr algn="ctr" indent="0" marL="0">
              <a:lnSpc>
                <a:spcPts val="1960"/>
              </a:lnSpc>
              <a:buNone/>
            </a:pPr>
            <a:r>
              <a:rPr lang="en-US" sz="1400" b="1" dirty="0">
                <a:solidFill>
                  <a:srgbClr val="14202B"/>
                </a:solidFill>
                <a:latin typeface="IBM Plex Sans" pitchFamily="34" charset="0"/>
                <a:ea typeface="IBM Plex Sans" pitchFamily="34" charset="-122"/>
                <a:cs typeface="IBM Plex Sans" pitchFamily="34" charset="-120"/>
              </a:rPr>
              <a:t>7</a:t>
            </a:r>
            <a:r>
              <a:rPr lang="en-US" sz="1400" dirty="0">
                <a:solidFill>
                  <a:srgbClr val="14202B"/>
                </a:solidFill>
                <a:latin typeface="IBM Plex Sans" pitchFamily="34" charset="0"/>
                <a:ea typeface="IBM Plex Sans" pitchFamily="34" charset="-122"/>
                <a:cs typeface="IBM Plex Sans" pitchFamily="34" charset="-120"/>
              </a:rPr>
              <a:t> Revisión</a:t>
            </a:r>
            <a:endParaRPr lang="en-US" sz="1400" dirty="0"/>
          </a:p>
        </p:txBody>
      </p:sp>
      <p:pic>
        <p:nvPicPr>
          <p:cNvPr id="30" name="Image 10" descr="arrow-right">    </p:cNvPr>
          <p:cNvPicPr>
            <a:picLocks noChangeAspect="1"/>
          </p:cNvPicPr>
          <p:nvPr/>
        </p:nvPicPr>
        <p:blipFill>
          <a:blip r:embed="rId11"/>
          <a:srcRect l="0" r="0" t="0" b="0"/>
          <a:stretch/>
        </p:blipFill>
        <p:spPr>
          <a:xfrm>
            <a:off x="4030514" y="4514552"/>
            <a:ext cx="203200" cy="101600"/>
          </a:xfrm>
          <a:prstGeom prst="rect">
            <a:avLst/>
          </a:prstGeom>
        </p:spPr>
      </p:pic>
      <p:sp>
        <p:nvSpPr>
          <p:cNvPr id="31" name="Text 18"/>
          <p:cNvSpPr/>
          <p:nvPr/>
        </p:nvSpPr>
        <p:spPr>
          <a:xfrm>
            <a:off x="4338489" y="4336157"/>
            <a:ext cx="1389757" cy="458440"/>
          </a:xfrm>
          <a:prstGeom prst="roundRect">
            <a:avLst>
              <a:gd name="adj" fmla="val 15929"/>
            </a:avLst>
          </a:prstGeom>
          <a:solidFill>
            <a:srgbClr val="FCFBF8"/>
          </a:solidFill>
          <a:ln w="6350">
            <a:solidFill>
              <a:srgbClr val="DEDAD1"/>
            </a:solidFill>
            <a:prstDash val="solid"/>
          </a:ln>
        </p:spPr>
        <p:txBody>
          <a:bodyPr wrap="none" lIns="0" tIns="0" rIns="0" bIns="0" rtlCol="0" anchor="ctr">
            <a:normAutofit/>
          </a:bodyPr>
          <a:lstStyle/>
          <a:p>
            <a:pPr algn="ctr" indent="0" marL="0">
              <a:lnSpc>
                <a:spcPts val="1960"/>
              </a:lnSpc>
              <a:buNone/>
            </a:pPr>
            <a:r>
              <a:rPr lang="en-US" sz="1400" b="1" dirty="0">
                <a:solidFill>
                  <a:srgbClr val="14202B"/>
                </a:solidFill>
                <a:latin typeface="IBM Plex Sans" pitchFamily="34" charset="0"/>
                <a:ea typeface="IBM Plex Sans" pitchFamily="34" charset="-122"/>
                <a:cs typeface="IBM Plex Sans" pitchFamily="34" charset="-120"/>
              </a:rPr>
              <a:t>8</a:t>
            </a:r>
            <a:r>
              <a:rPr lang="en-US" sz="1400" dirty="0">
                <a:solidFill>
                  <a:srgbClr val="14202B"/>
                </a:solidFill>
                <a:latin typeface="IBM Plex Sans" pitchFamily="34" charset="0"/>
                <a:ea typeface="IBM Plex Sans" pitchFamily="34" charset="-122"/>
                <a:cs typeface="IBM Plex Sans" pitchFamily="34" charset="-120"/>
              </a:rPr>
              <a:t> Verificación</a:t>
            </a:r>
            <a:endParaRPr lang="en-US" sz="1400" dirty="0"/>
          </a:p>
        </p:txBody>
      </p:sp>
      <p:pic>
        <p:nvPicPr>
          <p:cNvPr id="32" name="Image 11" descr="arrow-right">    </p:cNvPr>
          <p:cNvPicPr>
            <a:picLocks noChangeAspect="1"/>
          </p:cNvPicPr>
          <p:nvPr/>
        </p:nvPicPr>
        <p:blipFill>
          <a:blip r:embed="rId12"/>
          <a:srcRect l="0" r="0" t="0" b="0"/>
          <a:stretch/>
        </p:blipFill>
        <p:spPr>
          <a:xfrm>
            <a:off x="5833021" y="4514552"/>
            <a:ext cx="203200" cy="101600"/>
          </a:xfrm>
          <a:prstGeom prst="rect">
            <a:avLst/>
          </a:prstGeom>
        </p:spPr>
      </p:pic>
      <p:sp>
        <p:nvSpPr>
          <p:cNvPr id="33" name="Text 19"/>
          <p:cNvSpPr/>
          <p:nvPr/>
        </p:nvSpPr>
        <p:spPr>
          <a:xfrm>
            <a:off x="6140996" y="4336157"/>
            <a:ext cx="939552" cy="458440"/>
          </a:xfrm>
          <a:prstGeom prst="roundRect">
            <a:avLst>
              <a:gd name="adj" fmla="val 15929"/>
            </a:avLst>
          </a:prstGeom>
          <a:solidFill>
            <a:srgbClr val="FCFBF8"/>
          </a:solidFill>
          <a:ln w="6350">
            <a:solidFill>
              <a:srgbClr val="DEDAD1"/>
            </a:solidFill>
            <a:prstDash val="solid"/>
          </a:ln>
        </p:spPr>
        <p:txBody>
          <a:bodyPr wrap="none" lIns="0" tIns="0" rIns="0" bIns="0" rtlCol="0" anchor="ctr">
            <a:normAutofit/>
          </a:bodyPr>
          <a:lstStyle/>
          <a:p>
            <a:pPr algn="ctr" indent="0" marL="0">
              <a:lnSpc>
                <a:spcPts val="1960"/>
              </a:lnSpc>
              <a:buNone/>
            </a:pPr>
            <a:r>
              <a:rPr lang="en-US" sz="1400" b="1" dirty="0">
                <a:solidFill>
                  <a:srgbClr val="14202B"/>
                </a:solidFill>
                <a:latin typeface="IBM Plex Sans" pitchFamily="34" charset="0"/>
                <a:ea typeface="IBM Plex Sans" pitchFamily="34" charset="-122"/>
                <a:cs typeface="IBM Plex Sans" pitchFamily="34" charset="-120"/>
              </a:rPr>
              <a:t>9</a:t>
            </a:r>
            <a:r>
              <a:rPr lang="en-US" sz="1400" dirty="0">
                <a:solidFill>
                  <a:srgbClr val="14202B"/>
                </a:solidFill>
                <a:latin typeface="IBM Plex Sans" pitchFamily="34" charset="0"/>
                <a:ea typeface="IBM Plex Sans" pitchFamily="34" charset="-122"/>
                <a:cs typeface="IBM Plex Sans" pitchFamily="34" charset="-120"/>
              </a:rPr>
              <a:t> Cierre</a:t>
            </a:r>
            <a:endParaRPr lang="en-US" sz="1400" dirty="0"/>
          </a:p>
        </p:txBody>
      </p:sp>
      <p:pic>
        <p:nvPicPr>
          <p:cNvPr id="34" name="Image 12" descr="arrow-right">    </p:cNvPr>
          <p:cNvPicPr>
            <a:picLocks noChangeAspect="1"/>
          </p:cNvPicPr>
          <p:nvPr/>
        </p:nvPicPr>
        <p:blipFill>
          <a:blip r:embed="rId13"/>
          <a:srcRect l="0" r="0" t="0" b="0"/>
          <a:stretch/>
        </p:blipFill>
        <p:spPr>
          <a:xfrm>
            <a:off x="7185323" y="4514552"/>
            <a:ext cx="203200" cy="101600"/>
          </a:xfrm>
          <a:prstGeom prst="rect">
            <a:avLst/>
          </a:prstGeom>
        </p:spPr>
      </p:pic>
      <p:sp>
        <p:nvSpPr>
          <p:cNvPr id="35" name="Shape 20"/>
          <p:cNvSpPr/>
          <p:nvPr/>
        </p:nvSpPr>
        <p:spPr>
          <a:xfrm>
            <a:off x="7490123" y="4339332"/>
            <a:ext cx="2148334" cy="452090"/>
          </a:xfrm>
          <a:prstGeom prst="roundRect">
            <a:avLst>
              <a:gd name="adj" fmla="val 16855"/>
            </a:avLst>
          </a:prstGeom>
          <a:solidFill>
            <a:srgbClr val="14202B"/>
          </a:solidFill>
          <a:ln/>
        </p:spPr>
      </p:sp>
      <p:pic>
        <p:nvPicPr>
          <p:cNvPr id="36" name="Image 13" descr="Lock">    </p:cNvPr>
          <p:cNvPicPr>
            <a:picLocks noChangeAspect="1"/>
          </p:cNvPicPr>
          <p:nvPr/>
        </p:nvPicPr>
        <p:blipFill>
          <a:blip r:embed="rId14"/>
          <a:srcRect l="0" r="0" t="0" b="0"/>
          <a:stretch/>
        </p:blipFill>
        <p:spPr>
          <a:xfrm>
            <a:off x="7642523" y="4476452"/>
            <a:ext cx="177800" cy="177800"/>
          </a:xfrm>
          <a:prstGeom prst="rect">
            <a:avLst/>
          </a:prstGeom>
        </p:spPr>
      </p:pic>
      <p:sp>
        <p:nvSpPr>
          <p:cNvPr id="37" name="Text 21"/>
          <p:cNvSpPr/>
          <p:nvPr/>
        </p:nvSpPr>
        <p:spPr>
          <a:xfrm>
            <a:off x="7896523" y="4440932"/>
            <a:ext cx="1640334" cy="274290"/>
          </a:xfrm>
          <a:prstGeom prst="rect">
            <a:avLst/>
          </a:prstGeom>
          <a:noFill/>
          <a:ln/>
        </p:spPr>
        <p:txBody>
          <a:bodyPr wrap="none" lIns="0" tIns="0" rIns="0" bIns="0" rtlCol="0" anchor="t">
            <a:normAutofit/>
          </a:bodyPr>
          <a:lstStyle/>
          <a:p>
            <a:pPr algn="l" indent="0" marL="0">
              <a:lnSpc>
                <a:spcPts val="1960"/>
              </a:lnSpc>
              <a:buNone/>
            </a:pPr>
            <a:r>
              <a:rPr lang="en-US" sz="1400" b="1" dirty="0">
                <a:solidFill>
                  <a:srgbClr val="F6F5F1"/>
                </a:solidFill>
                <a:latin typeface="IBM Plex Sans" pitchFamily="34" charset="0"/>
                <a:ea typeface="IBM Plex Sans" pitchFamily="34" charset="-122"/>
                <a:cs typeface="IBM Plex Sans" pitchFamily="34" charset="-120"/>
              </a:rPr>
              <a:t>Gate 3 · aceptación</a:t>
            </a:r>
            <a:endParaRPr lang="en-US" sz="1400" dirty="0"/>
          </a:p>
        </p:txBody>
      </p:sp>
      <p:sp>
        <p:nvSpPr>
          <p:cNvPr id="38" name="Text 22"/>
          <p:cNvSpPr/>
          <p:nvPr/>
        </p:nvSpPr>
        <p:spPr>
          <a:xfrm>
            <a:off x="812800" y="5153372"/>
            <a:ext cx="1088339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Bucles con límite: clarificación, máx. 3 vueltas · GREEN, máx. 3 intentos · revisión y verificación, máx. 2. Un cambio de requisitos vuelve siempre a la etapa 2.</a:t>
            </a:r>
            <a:endParaRPr lang="en-US" sz="1400" dirty="0"/>
          </a:p>
        </p:txBody>
      </p:sp>
      <p:sp>
        <p:nvSpPr>
          <p:cNvPr id="39" name="Text 23"/>
          <p:cNvSpPr/>
          <p:nvPr/>
        </p:nvSpPr>
        <p:spPr>
          <a:xfrm>
            <a:off x="812800" y="6238280"/>
            <a:ext cx="47183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079"/>
                </a:solidFill>
                <a:latin typeface="JetBrains Mono" pitchFamily="49" charset="0"/>
                <a:ea typeface="JetBrains Mono" pitchFamily="49" charset="-122"/>
                <a:cs typeface="JetBrains Mono" pitchFamily="49" charset="-120"/>
              </a:rPr>
              <a:t>De OpenSpec a un sistema multiagente propio</a:t>
            </a:r>
            <a:endParaRPr lang="en-US" sz="1200" dirty="0"/>
          </a:p>
        </p:txBody>
      </p:sp>
      <p:sp>
        <p:nvSpPr>
          <p:cNvPr id="40" name="Text 24"/>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079"/>
                </a:solidFill>
                <a:latin typeface="JetBrains Mono" pitchFamily="49" charset="0"/>
                <a:ea typeface="JetBrains Mono" pitchFamily="49" charset="-122"/>
                <a:cs typeface="JetBrains Mono" pitchFamily="49"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F6FB5"/>
                </a:solidFill>
                <a:latin typeface="JetBrains Mono" pitchFamily="49" charset="0"/>
                <a:ea typeface="JetBrains Mono" pitchFamily="49" charset="-122"/>
                <a:cs typeface="JetBrains Mono" pitchFamily="49" charset="-120"/>
              </a:rPr>
              <a:t>AHORA · KIT PROPIO</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IBM Plex Sans" pitchFamily="34" charset="0"/>
                <a:ea typeface="IBM Plex Sans" pitchFamily="34" charset="-122"/>
                <a:cs typeface="IBM Plex Sans" pitchFamily="34" charset="-120"/>
              </a:rPr>
              <a:t>TDD real: quien prueba no implementa</a:t>
            </a:r>
            <a:endParaRPr lang="en-US" sz="3200" dirty="0"/>
          </a:p>
        </p:txBody>
      </p:sp>
      <p:sp>
        <p:nvSpPr>
          <p:cNvPr id="4" name="Shape 2"/>
          <p:cNvSpPr/>
          <p:nvPr/>
        </p:nvSpPr>
        <p:spPr>
          <a:xfrm>
            <a:off x="819150" y="1906191"/>
            <a:ext cx="4965700" cy="1856581"/>
          </a:xfrm>
          <a:prstGeom prst="roundRect">
            <a:avLst>
              <a:gd name="adj" fmla="val 5130"/>
            </a:avLst>
          </a:prstGeom>
          <a:solidFill>
            <a:srgbClr val="FCFBF8"/>
          </a:solidFill>
          <a:ln w="12700">
            <a:solidFill>
              <a:srgbClr val="A8521D"/>
            </a:solidFill>
            <a:prstDash val="solid"/>
          </a:ln>
        </p:spPr>
      </p:sp>
      <p:sp>
        <p:nvSpPr>
          <p:cNvPr id="5" name="Text 3"/>
          <p:cNvSpPr/>
          <p:nvPr/>
        </p:nvSpPr>
        <p:spPr>
          <a:xfrm>
            <a:off x="1079500" y="2115741"/>
            <a:ext cx="45783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521D"/>
                </a:solidFill>
                <a:latin typeface="JetBrains Mono" pitchFamily="49" charset="0"/>
                <a:ea typeface="JetBrains Mono" pitchFamily="49" charset="-122"/>
                <a:cs typeface="JetBrains Mono" pitchFamily="49" charset="-120"/>
              </a:rPr>
              <a:t>6a · RED · tdd-test-author</a:t>
            </a:r>
            <a:endParaRPr lang="en-US" sz="1200" dirty="0"/>
          </a:p>
        </p:txBody>
      </p:sp>
      <p:sp>
        <p:nvSpPr>
          <p:cNvPr id="6" name="Text 4"/>
          <p:cNvSpPr/>
          <p:nvPr/>
        </p:nvSpPr>
        <p:spPr>
          <a:xfrm>
            <a:off x="1079500" y="2430661"/>
            <a:ext cx="457835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02B"/>
                </a:solidFill>
                <a:latin typeface="IBM Plex Sans" pitchFamily="34" charset="0"/>
                <a:ea typeface="IBM Plex Sans" pitchFamily="34" charset="-122"/>
                <a:cs typeface="IBM Plex Sans" pitchFamily="34" charset="-120"/>
              </a:rPr>
              <a:t>Primero, el test que falla</a:t>
            </a:r>
            <a:endParaRPr lang="en-US" sz="1800" dirty="0"/>
          </a:p>
        </p:txBody>
      </p:sp>
      <p:sp>
        <p:nvSpPr>
          <p:cNvPr id="7" name="Text 5"/>
          <p:cNvSpPr/>
          <p:nvPr/>
        </p:nvSpPr>
        <p:spPr>
          <a:xfrm>
            <a:off x="1157732" y="2806551"/>
            <a:ext cx="4492498" cy="772071"/>
          </a:xfrm>
          <a:prstGeom prst="rect">
            <a:avLst/>
          </a:prstGeom>
          <a:noFill/>
          <a:ln/>
        </p:spPr>
        <p:txBody>
          <a:bodyPr wrap="square" lIns="0" tIns="0" rIns="0" bIns="0" rtlCol="0" anchor="t">
            <a:normAutofit/>
          </a:bodyPr>
          <a:lstStyle/>
          <a:p>
            <a:pPr algn="l" marL="175768" indent="-175768">
              <a:lnSpc>
                <a:spcPts val="1960"/>
              </a:lnSpc>
              <a:buSzPct val="100000"/>
              <a:buChar char="•"/>
            </a:pPr>
            <a:r>
              <a:rPr lang="en-US" sz="1400" dirty="0">
                <a:solidFill>
                  <a:srgbClr val="4A5568"/>
                </a:solidFill>
                <a:latin typeface="IBM Plex Sans" pitchFamily="34" charset="0"/>
                <a:ea typeface="IBM Plex Sans" pitchFamily="34" charset="-122"/>
                <a:cs typeface="IBM Plex Sans" pitchFamily="34" charset="-120"/>
              </a:rPr>
              <a:t>Tests de la tarea, con el RF en su nombre</a:t>
            </a:r>
            <a:endParaRPr lang="en-US" sz="1400" dirty="0"/>
          </a:p>
          <a:p>
            <a:pPr algn="l" marL="175768" indent="-175768">
              <a:lnSpc>
                <a:spcPts val="1960"/>
              </a:lnSpc>
              <a:buSzPct val="100000"/>
              <a:buChar char="•"/>
            </a:pPr>
            <a:r>
              <a:rPr lang="en-US" sz="1400" dirty="0">
                <a:solidFill>
                  <a:srgbClr val="4A5568"/>
                </a:solidFill>
                <a:latin typeface="IBM Plex Sans" pitchFamily="34" charset="0"/>
                <a:ea typeface="IBM Plex Sans" pitchFamily="34" charset="-122"/>
                <a:cs typeface="IBM Plex Sans" pitchFamily="34" charset="-120"/>
              </a:rPr>
              <a:t>Demuestra que fallan por la razón esperada</a:t>
            </a:r>
            <a:endParaRPr lang="en-US" sz="1400" dirty="0"/>
          </a:p>
          <a:p>
            <a:pPr algn="l" marL="175768" indent="-175768">
              <a:lnSpc>
                <a:spcPts val="1960"/>
              </a:lnSpc>
              <a:buSzPct val="100000"/>
              <a:buChar char="•"/>
            </a:pPr>
            <a:r>
              <a:rPr lang="en-US" sz="1400" dirty="0">
                <a:solidFill>
                  <a:srgbClr val="4A5568"/>
                </a:solidFill>
                <a:latin typeface="IBM Plex Sans" pitchFamily="34" charset="0"/>
                <a:ea typeface="IBM Plex Sans" pitchFamily="34" charset="-122"/>
                <a:cs typeface="IBM Plex Sans" pitchFamily="34" charset="-120"/>
              </a:rPr>
              <a:t>Solo puede escribir archivos de test</a:t>
            </a:r>
            <a:endParaRPr lang="en-US" sz="1400" dirty="0"/>
          </a:p>
        </p:txBody>
      </p:sp>
      <p:pic>
        <p:nvPicPr>
          <p:cNvPr id="8" name="Image 0" descr="arrow-right">    </p:cNvPr>
          <p:cNvPicPr>
            <a:picLocks noChangeAspect="1"/>
          </p:cNvPicPr>
          <p:nvPr/>
        </p:nvPicPr>
        <p:blipFill>
          <a:blip r:embed="rId1"/>
          <a:srcRect l="0" r="0" t="0" b="0"/>
          <a:stretch/>
        </p:blipFill>
        <p:spPr>
          <a:xfrm>
            <a:off x="5943600" y="2758281"/>
            <a:ext cx="304800" cy="152400"/>
          </a:xfrm>
          <a:prstGeom prst="rect">
            <a:avLst/>
          </a:prstGeom>
        </p:spPr>
      </p:pic>
      <p:sp>
        <p:nvSpPr>
          <p:cNvPr id="9" name="Shape 6"/>
          <p:cNvSpPr/>
          <p:nvPr/>
        </p:nvSpPr>
        <p:spPr>
          <a:xfrm>
            <a:off x="6407150" y="1906191"/>
            <a:ext cx="4965700" cy="1856581"/>
          </a:xfrm>
          <a:prstGeom prst="roundRect">
            <a:avLst>
              <a:gd name="adj" fmla="val 5130"/>
            </a:avLst>
          </a:prstGeom>
          <a:solidFill>
            <a:srgbClr val="FCFBF8"/>
          </a:solidFill>
          <a:ln w="12700">
            <a:solidFill>
              <a:srgbClr val="2F6FB5"/>
            </a:solidFill>
            <a:prstDash val="solid"/>
          </a:ln>
        </p:spPr>
      </p:sp>
      <p:sp>
        <p:nvSpPr>
          <p:cNvPr id="10" name="Text 7"/>
          <p:cNvSpPr/>
          <p:nvPr/>
        </p:nvSpPr>
        <p:spPr>
          <a:xfrm>
            <a:off x="6667500" y="2115741"/>
            <a:ext cx="45783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FB5"/>
                </a:solidFill>
                <a:latin typeface="JetBrains Mono" pitchFamily="49" charset="0"/>
                <a:ea typeface="JetBrains Mono" pitchFamily="49" charset="-122"/>
                <a:cs typeface="JetBrains Mono" pitchFamily="49" charset="-120"/>
              </a:rPr>
              <a:t>6b · GREEN + REFACTOR · tdd-implementer</a:t>
            </a:r>
            <a:endParaRPr lang="en-US" sz="1200" dirty="0"/>
          </a:p>
        </p:txBody>
      </p:sp>
      <p:sp>
        <p:nvSpPr>
          <p:cNvPr id="11" name="Text 8"/>
          <p:cNvSpPr/>
          <p:nvPr/>
        </p:nvSpPr>
        <p:spPr>
          <a:xfrm>
            <a:off x="6667500" y="2430661"/>
            <a:ext cx="457835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02B"/>
                </a:solidFill>
                <a:latin typeface="IBM Plex Sans" pitchFamily="34" charset="0"/>
                <a:ea typeface="IBM Plex Sans" pitchFamily="34" charset="-122"/>
                <a:cs typeface="IBM Plex Sans" pitchFamily="34" charset="-120"/>
              </a:rPr>
              <a:t>Después, el código mínimo</a:t>
            </a:r>
            <a:endParaRPr lang="en-US" sz="1800" dirty="0"/>
          </a:p>
        </p:txBody>
      </p:sp>
      <p:sp>
        <p:nvSpPr>
          <p:cNvPr id="12" name="Text 9"/>
          <p:cNvSpPr/>
          <p:nvPr/>
        </p:nvSpPr>
        <p:spPr>
          <a:xfrm>
            <a:off x="6745732" y="2806551"/>
            <a:ext cx="4492498" cy="772071"/>
          </a:xfrm>
          <a:prstGeom prst="rect">
            <a:avLst/>
          </a:prstGeom>
          <a:noFill/>
          <a:ln/>
        </p:spPr>
        <p:txBody>
          <a:bodyPr wrap="square" lIns="0" tIns="0" rIns="0" bIns="0" rtlCol="0" anchor="t">
            <a:normAutofit/>
          </a:bodyPr>
          <a:lstStyle/>
          <a:p>
            <a:pPr algn="l" marL="175768" indent="-175768">
              <a:lnSpc>
                <a:spcPts val="1960"/>
              </a:lnSpc>
              <a:buSzPct val="100000"/>
              <a:buChar char="•"/>
            </a:pPr>
            <a:r>
              <a:rPr lang="en-US" sz="1400" dirty="0">
                <a:solidFill>
                  <a:srgbClr val="4A5568"/>
                </a:solidFill>
                <a:latin typeface="IBM Plex Sans" pitchFamily="34" charset="0"/>
                <a:ea typeface="IBM Plex Sans" pitchFamily="34" charset="-122"/>
                <a:cs typeface="IBM Plex Sans" pitchFamily="34" charset="-120"/>
              </a:rPr>
              <a:t>Código mínimo hasta que los tests pasan</a:t>
            </a:r>
            <a:endParaRPr lang="en-US" sz="1400" dirty="0"/>
          </a:p>
          <a:p>
            <a:pPr algn="l" marL="175768" indent="-175768">
              <a:lnSpc>
                <a:spcPts val="1960"/>
              </a:lnSpc>
              <a:buSzPct val="100000"/>
              <a:buChar char="•"/>
            </a:pPr>
            <a:r>
              <a:rPr lang="en-US" sz="1400" dirty="0">
                <a:solidFill>
                  <a:srgbClr val="4A5568"/>
                </a:solidFill>
                <a:latin typeface="IBM Plex Sans" pitchFamily="34" charset="0"/>
                <a:ea typeface="IBM Plex Sans" pitchFamily="34" charset="-122"/>
                <a:cs typeface="IBM Plex Sans" pitchFamily="34" charset="-120"/>
              </a:rPr>
              <a:t>Suite completa en verde y refactor</a:t>
            </a:r>
            <a:endParaRPr lang="en-US" sz="1400" dirty="0"/>
          </a:p>
          <a:p>
            <a:pPr algn="l" marL="175768" indent="-175768">
              <a:lnSpc>
                <a:spcPts val="1960"/>
              </a:lnSpc>
              <a:buSzPct val="100000"/>
              <a:buChar char="•"/>
            </a:pPr>
            <a:r>
              <a:rPr lang="en-US" sz="1400" dirty="0">
                <a:solidFill>
                  <a:srgbClr val="4A5568"/>
                </a:solidFill>
                <a:latin typeface="IBM Plex Sans" pitchFamily="34" charset="0"/>
                <a:ea typeface="IBM Plex Sans" pitchFamily="34" charset="-122"/>
                <a:cs typeface="IBM Plex Sans" pitchFamily="34" charset="-120"/>
              </a:rPr>
              <a:t>Nunca puede modificar un test</a:t>
            </a:r>
            <a:endParaRPr lang="en-US" sz="1400" dirty="0"/>
          </a:p>
        </p:txBody>
      </p:sp>
      <p:sp>
        <p:nvSpPr>
          <p:cNvPr id="13" name="Shape 10"/>
          <p:cNvSpPr/>
          <p:nvPr/>
        </p:nvSpPr>
        <p:spPr>
          <a:xfrm>
            <a:off x="812800" y="3946922"/>
            <a:ext cx="10566400" cy="1097161"/>
          </a:xfrm>
          <a:prstGeom prst="roundRect">
            <a:avLst>
              <a:gd name="adj" fmla="val 9260"/>
            </a:avLst>
          </a:prstGeom>
          <a:solidFill>
            <a:srgbClr val="14202B"/>
          </a:solidFill>
          <a:ln/>
        </p:spPr>
      </p:sp>
      <p:sp>
        <p:nvSpPr>
          <p:cNvPr id="14" name="Text 11"/>
          <p:cNvSpPr/>
          <p:nvPr/>
        </p:nvSpPr>
        <p:spPr>
          <a:xfrm>
            <a:off x="1041400" y="4124722"/>
            <a:ext cx="104124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5F1"/>
                </a:solidFill>
                <a:latin typeface="JetBrains Mono" pitchFamily="49" charset="0"/>
                <a:ea typeface="JetBrains Mono" pitchFamily="49" charset="-122"/>
                <a:cs typeface="JetBrains Mono" pitchFamily="49" charset="-120"/>
              </a:rPr>
              <a:t>- [x] T03 · RF-02, CL-01 (ejemplo en tasks.md)</a:t>
            </a:r>
            <a:endParaRPr lang="en-US" sz="1200" dirty="0"/>
          </a:p>
        </p:txBody>
      </p:sp>
      <p:sp>
        <p:nvSpPr>
          <p:cNvPr id="15" name="Text 12"/>
          <p:cNvSpPr/>
          <p:nvPr/>
        </p:nvSpPr>
        <p:spPr>
          <a:xfrm>
            <a:off x="1041400" y="4388842"/>
            <a:ext cx="104124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39A5F"/>
                </a:solidFill>
                <a:latin typeface="JetBrains Mono" pitchFamily="49" charset="0"/>
                <a:ea typeface="JetBrains Mono" pitchFamily="49" charset="-122"/>
                <a:cs typeface="JetBrains Mono" pitchFamily="49" charset="-120"/>
              </a:rPr>
              <a:t>Evidencia RED: npm run test -- --include=… · salida 1 · 3 tests nuevos fallan (aserción)</a:t>
            </a:r>
            <a:endParaRPr lang="en-US" sz="1200" dirty="0"/>
          </a:p>
        </p:txBody>
      </p:sp>
      <p:sp>
        <p:nvSpPr>
          <p:cNvPr id="16" name="Text 13"/>
          <p:cNvSpPr/>
          <p:nvPr/>
        </p:nvSpPr>
        <p:spPr>
          <a:xfrm>
            <a:off x="1041400" y="4652963"/>
            <a:ext cx="104124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FB0E6"/>
                </a:solidFill>
                <a:latin typeface="JetBrains Mono" pitchFamily="49" charset="0"/>
                <a:ea typeface="JetBrains Mono" pitchFamily="49" charset="-122"/>
                <a:cs typeface="JetBrains Mono" pitchFamily="49" charset="-120"/>
              </a:rPr>
              <a:t>Evidencia GREEN: npm run test -- --watch=false · salida 0 · 0 fallando · 0 omitidos</a:t>
            </a:r>
            <a:endParaRPr lang="en-US" sz="1200" dirty="0"/>
          </a:p>
        </p:txBody>
      </p:sp>
      <p:sp>
        <p:nvSpPr>
          <p:cNvPr id="17" name="Text 14"/>
          <p:cNvSpPr/>
          <p:nvPr/>
        </p:nvSpPr>
        <p:spPr>
          <a:xfrm>
            <a:off x="812800" y="5221883"/>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Sin evidencia no hay etapa terminada. Y el hook bloquea a quien intente salirse de su rol.</a:t>
            </a:r>
            <a:endParaRPr lang="en-US" sz="1400" dirty="0"/>
          </a:p>
        </p:txBody>
      </p:sp>
      <p:sp>
        <p:nvSpPr>
          <p:cNvPr id="18" name="Text 15"/>
          <p:cNvSpPr/>
          <p:nvPr/>
        </p:nvSpPr>
        <p:spPr>
          <a:xfrm>
            <a:off x="812800" y="6238280"/>
            <a:ext cx="47183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079"/>
                </a:solidFill>
                <a:latin typeface="JetBrains Mono" pitchFamily="49" charset="0"/>
                <a:ea typeface="JetBrains Mono" pitchFamily="49" charset="-122"/>
                <a:cs typeface="JetBrains Mono" pitchFamily="49" charset="-120"/>
              </a:rPr>
              <a:t>De OpenSpec a un sistema multiagente propio</a:t>
            </a:r>
            <a:endParaRPr lang="en-US" sz="1200" dirty="0"/>
          </a:p>
        </p:txBody>
      </p:sp>
      <p:sp>
        <p:nvSpPr>
          <p:cNvPr id="19" name="Text 16"/>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079"/>
                </a:solidFill>
                <a:latin typeface="JetBrains Mono" pitchFamily="49" charset="0"/>
                <a:ea typeface="JetBrains Mono" pitchFamily="49" charset="-122"/>
                <a:cs typeface="JetBrains Mono" pitchFamily="49"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F6FB5"/>
                </a:solidFill>
                <a:latin typeface="JetBrains Mono" pitchFamily="49" charset="0"/>
                <a:ea typeface="JetBrains Mono" pitchFamily="49" charset="-122"/>
                <a:cs typeface="JetBrains Mono" pitchFamily="49" charset="-120"/>
              </a:rPr>
              <a:t>AHORA · KIT PROPIO</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IBM Plex Sans" pitchFamily="34" charset="0"/>
                <a:ea typeface="IBM Plex Sans" pitchFamily="34" charset="-122"/>
                <a:cs typeface="IBM Plex Sans" pitchFamily="34" charset="-120"/>
              </a:rPr>
              <a:t>Guardarraíles en cinco capas</a:t>
            </a:r>
            <a:endParaRPr lang="en-US" sz="3200" dirty="0"/>
          </a:p>
        </p:txBody>
      </p:sp>
      <p:sp>
        <p:nvSpPr>
          <p:cNvPr id="4" name="Shape 2"/>
          <p:cNvSpPr/>
          <p:nvPr/>
        </p:nvSpPr>
        <p:spPr>
          <a:xfrm>
            <a:off x="812800" y="1953816"/>
            <a:ext cx="10566400" cy="0"/>
          </a:xfrm>
          <a:prstGeom prst="line">
            <a:avLst/>
          </a:prstGeom>
          <a:noFill/>
          <a:ln w="6350">
            <a:solidFill>
              <a:srgbClr val="DEDAD1"/>
            </a:solidFill>
            <a:prstDash val="solid"/>
          </a:ln>
        </p:spPr>
      </p:sp>
      <p:sp>
        <p:nvSpPr>
          <p:cNvPr id="5" name="Text 3"/>
          <p:cNvSpPr/>
          <p:nvPr/>
        </p:nvSpPr>
        <p:spPr>
          <a:xfrm>
            <a:off x="812800" y="2083991"/>
            <a:ext cx="508000"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2F6FB5"/>
                </a:solidFill>
                <a:latin typeface="JetBrains Mono" pitchFamily="49" charset="0"/>
                <a:ea typeface="JetBrains Mono" pitchFamily="49" charset="-122"/>
                <a:cs typeface="JetBrains Mono" pitchFamily="49" charset="-120"/>
              </a:rPr>
              <a:t>1</a:t>
            </a:r>
            <a:endParaRPr lang="en-US" sz="1800" dirty="0"/>
          </a:p>
        </p:txBody>
      </p:sp>
      <p:sp>
        <p:nvSpPr>
          <p:cNvPr id="6" name="Text 4"/>
          <p:cNvSpPr/>
          <p:nvPr/>
        </p:nvSpPr>
        <p:spPr>
          <a:xfrm>
            <a:off x="1473200" y="2131616"/>
            <a:ext cx="274701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2B"/>
                </a:solidFill>
                <a:latin typeface="IBM Plex Sans" pitchFamily="34" charset="0"/>
                <a:ea typeface="IBM Plex Sans" pitchFamily="34" charset="-122"/>
                <a:cs typeface="IBM Plex Sans" pitchFamily="34" charset="-120"/>
              </a:rPr>
              <a:t>Herramientas por agente</a:t>
            </a:r>
            <a:endParaRPr lang="en-US" sz="1400" dirty="0"/>
          </a:p>
        </p:txBody>
      </p:sp>
      <p:sp>
        <p:nvSpPr>
          <p:cNvPr id="7" name="Text 5"/>
          <p:cNvSpPr/>
          <p:nvPr/>
        </p:nvSpPr>
        <p:spPr>
          <a:xfrm>
            <a:off x="4343400" y="2160191"/>
            <a:ext cx="72468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Quien no tiene «edit» no puede editar: QA de la spec, revisor, verificador y orquestador.</a:t>
            </a:r>
            <a:endParaRPr lang="en-US" sz="1200" dirty="0"/>
          </a:p>
        </p:txBody>
      </p:sp>
      <p:sp>
        <p:nvSpPr>
          <p:cNvPr id="8" name="Shape 6"/>
          <p:cNvSpPr/>
          <p:nvPr/>
        </p:nvSpPr>
        <p:spPr>
          <a:xfrm>
            <a:off x="812800" y="2534196"/>
            <a:ext cx="10566400" cy="0"/>
          </a:xfrm>
          <a:prstGeom prst="line">
            <a:avLst/>
          </a:prstGeom>
          <a:noFill/>
          <a:ln w="6350">
            <a:solidFill>
              <a:srgbClr val="DEDAD1"/>
            </a:solidFill>
            <a:prstDash val="solid"/>
          </a:ln>
        </p:spPr>
      </p:sp>
      <p:sp>
        <p:nvSpPr>
          <p:cNvPr id="9" name="Text 7"/>
          <p:cNvSpPr/>
          <p:nvPr/>
        </p:nvSpPr>
        <p:spPr>
          <a:xfrm>
            <a:off x="812800" y="2664371"/>
            <a:ext cx="508000"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2F6FB5"/>
                </a:solidFill>
                <a:latin typeface="JetBrains Mono" pitchFamily="49" charset="0"/>
                <a:ea typeface="JetBrains Mono" pitchFamily="49" charset="-122"/>
                <a:cs typeface="JetBrains Mono" pitchFamily="49" charset="-120"/>
              </a:rPr>
              <a:t>2</a:t>
            </a:r>
            <a:endParaRPr lang="en-US" sz="1800" dirty="0"/>
          </a:p>
        </p:txBody>
      </p:sp>
      <p:sp>
        <p:nvSpPr>
          <p:cNvPr id="10" name="Text 8"/>
          <p:cNvSpPr/>
          <p:nvPr/>
        </p:nvSpPr>
        <p:spPr>
          <a:xfrm>
            <a:off x="1473200" y="2711996"/>
            <a:ext cx="274701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2B"/>
                </a:solidFill>
                <a:latin typeface="IBM Plex Sans" pitchFamily="34" charset="0"/>
                <a:ea typeface="IBM Plex Sans" pitchFamily="34" charset="-122"/>
                <a:cs typeface="IBM Plex Sans" pitchFamily="34" charset="-120"/>
              </a:rPr>
              <a:t>Instrucciones y límites</a:t>
            </a:r>
            <a:endParaRPr lang="en-US" sz="1400" dirty="0"/>
          </a:p>
        </p:txBody>
      </p:sp>
      <p:sp>
        <p:nvSpPr>
          <p:cNvPr id="11" name="Text 9"/>
          <p:cNvSpPr/>
          <p:nvPr/>
        </p:nvSpPr>
        <p:spPr>
          <a:xfrm>
            <a:off x="4343400" y="2740571"/>
            <a:ext cx="72468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Cada agente sabe qué hace, qué no hace y cuándo devolver BLOQUEADO en vez de improvisar.</a:t>
            </a:r>
            <a:endParaRPr lang="en-US" sz="1200" dirty="0"/>
          </a:p>
        </p:txBody>
      </p:sp>
      <p:sp>
        <p:nvSpPr>
          <p:cNvPr id="12" name="Shape 10"/>
          <p:cNvSpPr/>
          <p:nvPr/>
        </p:nvSpPr>
        <p:spPr>
          <a:xfrm>
            <a:off x="812800" y="3114576"/>
            <a:ext cx="10566400" cy="0"/>
          </a:xfrm>
          <a:prstGeom prst="line">
            <a:avLst/>
          </a:prstGeom>
          <a:noFill/>
          <a:ln w="6350">
            <a:solidFill>
              <a:srgbClr val="DEDAD1"/>
            </a:solidFill>
            <a:prstDash val="solid"/>
          </a:ln>
        </p:spPr>
      </p:sp>
      <p:sp>
        <p:nvSpPr>
          <p:cNvPr id="13" name="Text 11"/>
          <p:cNvSpPr/>
          <p:nvPr/>
        </p:nvSpPr>
        <p:spPr>
          <a:xfrm>
            <a:off x="812800" y="3244751"/>
            <a:ext cx="508000"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2F6FB5"/>
                </a:solidFill>
                <a:latin typeface="JetBrains Mono" pitchFamily="49" charset="0"/>
                <a:ea typeface="JetBrains Mono" pitchFamily="49" charset="-122"/>
                <a:cs typeface="JetBrains Mono" pitchFamily="49" charset="-120"/>
              </a:rPr>
              <a:t>3</a:t>
            </a:r>
            <a:endParaRPr lang="en-US" sz="1800" dirty="0"/>
          </a:p>
        </p:txBody>
      </p:sp>
      <p:sp>
        <p:nvSpPr>
          <p:cNvPr id="14" name="Text 12"/>
          <p:cNvSpPr/>
          <p:nvPr/>
        </p:nvSpPr>
        <p:spPr>
          <a:xfrm>
            <a:off x="1473200" y="3292376"/>
            <a:ext cx="274701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2B"/>
                </a:solidFill>
                <a:latin typeface="IBM Plex Sans" pitchFamily="34" charset="0"/>
                <a:ea typeface="IBM Plex Sans" pitchFamily="34" charset="-122"/>
                <a:cs typeface="IBM Plex Sans" pitchFamily="34" charset="-120"/>
              </a:rPr>
              <a:t>Hook de política</a:t>
            </a:r>
            <a:endParaRPr lang="en-US" sz="1400" dirty="0"/>
          </a:p>
        </p:txBody>
      </p:sp>
      <p:sp>
        <p:nvSpPr>
          <p:cNvPr id="15" name="Text 13"/>
          <p:cNvSpPr/>
          <p:nvPr/>
        </p:nvSpPr>
        <p:spPr>
          <a:xfrm>
            <a:off x="4343400" y="3320951"/>
            <a:ext cx="724687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Permisos por ruta y comandos prohibidos (push, --force, --no-verify). 64 casos probados; si falla, no bloquea.</a:t>
            </a:r>
            <a:endParaRPr lang="en-US" sz="1200" dirty="0"/>
          </a:p>
        </p:txBody>
      </p:sp>
      <p:sp>
        <p:nvSpPr>
          <p:cNvPr id="16" name="Shape 14"/>
          <p:cNvSpPr/>
          <p:nvPr/>
        </p:nvSpPr>
        <p:spPr>
          <a:xfrm>
            <a:off x="812800" y="3877766"/>
            <a:ext cx="10566400" cy="0"/>
          </a:xfrm>
          <a:prstGeom prst="line">
            <a:avLst/>
          </a:prstGeom>
          <a:noFill/>
          <a:ln w="6350">
            <a:solidFill>
              <a:srgbClr val="DEDAD1"/>
            </a:solidFill>
            <a:prstDash val="solid"/>
          </a:ln>
        </p:spPr>
      </p:sp>
      <p:sp>
        <p:nvSpPr>
          <p:cNvPr id="17" name="Text 15"/>
          <p:cNvSpPr/>
          <p:nvPr/>
        </p:nvSpPr>
        <p:spPr>
          <a:xfrm>
            <a:off x="812800" y="4007941"/>
            <a:ext cx="508000"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2F6FB5"/>
                </a:solidFill>
                <a:latin typeface="JetBrains Mono" pitchFamily="49" charset="0"/>
                <a:ea typeface="JetBrains Mono" pitchFamily="49" charset="-122"/>
                <a:cs typeface="JetBrains Mono" pitchFamily="49" charset="-120"/>
              </a:rPr>
              <a:t>4</a:t>
            </a:r>
            <a:endParaRPr lang="en-US" sz="1800" dirty="0"/>
          </a:p>
        </p:txBody>
      </p:sp>
      <p:sp>
        <p:nvSpPr>
          <p:cNvPr id="18" name="Text 16"/>
          <p:cNvSpPr/>
          <p:nvPr/>
        </p:nvSpPr>
        <p:spPr>
          <a:xfrm>
            <a:off x="1473200" y="4055566"/>
            <a:ext cx="274701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2B"/>
                </a:solidFill>
                <a:latin typeface="IBM Plex Sans" pitchFamily="34" charset="0"/>
                <a:ea typeface="IBM Plex Sans" pitchFamily="34" charset="-122"/>
                <a:cs typeface="IBM Plex Sans" pitchFamily="34" charset="-120"/>
              </a:rPr>
              <a:t>Gates humanos</a:t>
            </a:r>
            <a:endParaRPr lang="en-US" sz="1400" dirty="0"/>
          </a:p>
        </p:txBody>
      </p:sp>
      <p:sp>
        <p:nvSpPr>
          <p:cNvPr id="19" name="Text 17"/>
          <p:cNvSpPr/>
          <p:nvPr/>
        </p:nvSpPr>
        <p:spPr>
          <a:xfrm>
            <a:off x="4343400" y="4084141"/>
            <a:ext cx="72468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Spec, plan con tareas y aceptación final: nada avanza sin tu aprobación explícita.</a:t>
            </a:r>
            <a:endParaRPr lang="en-US" sz="1200" dirty="0"/>
          </a:p>
        </p:txBody>
      </p:sp>
      <p:sp>
        <p:nvSpPr>
          <p:cNvPr id="20" name="Shape 18"/>
          <p:cNvSpPr/>
          <p:nvPr/>
        </p:nvSpPr>
        <p:spPr>
          <a:xfrm>
            <a:off x="812800" y="4458146"/>
            <a:ext cx="10566400" cy="0"/>
          </a:xfrm>
          <a:prstGeom prst="line">
            <a:avLst/>
          </a:prstGeom>
          <a:noFill/>
          <a:ln w="6350">
            <a:solidFill>
              <a:srgbClr val="DEDAD1"/>
            </a:solidFill>
            <a:prstDash val="solid"/>
          </a:ln>
        </p:spPr>
      </p:sp>
      <p:sp>
        <p:nvSpPr>
          <p:cNvPr id="21" name="Shape 19"/>
          <p:cNvSpPr/>
          <p:nvPr/>
        </p:nvSpPr>
        <p:spPr>
          <a:xfrm>
            <a:off x="812800" y="5038527"/>
            <a:ext cx="10566400" cy="0"/>
          </a:xfrm>
          <a:prstGeom prst="line">
            <a:avLst/>
          </a:prstGeom>
          <a:noFill/>
          <a:ln w="6350">
            <a:solidFill>
              <a:srgbClr val="DEDAD1"/>
            </a:solidFill>
            <a:prstDash val="solid"/>
          </a:ln>
        </p:spPr>
      </p:sp>
      <p:sp>
        <p:nvSpPr>
          <p:cNvPr id="22" name="Text 20"/>
          <p:cNvSpPr/>
          <p:nvPr/>
        </p:nvSpPr>
        <p:spPr>
          <a:xfrm>
            <a:off x="812800" y="4588321"/>
            <a:ext cx="508000"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2F6FB5"/>
                </a:solidFill>
                <a:latin typeface="JetBrains Mono" pitchFamily="49" charset="0"/>
                <a:ea typeface="JetBrains Mono" pitchFamily="49" charset="-122"/>
                <a:cs typeface="JetBrains Mono" pitchFamily="49" charset="-120"/>
              </a:rPr>
              <a:t>5</a:t>
            </a:r>
            <a:endParaRPr lang="en-US" sz="1800" dirty="0"/>
          </a:p>
        </p:txBody>
      </p:sp>
      <p:sp>
        <p:nvSpPr>
          <p:cNvPr id="23" name="Text 21"/>
          <p:cNvSpPr/>
          <p:nvPr/>
        </p:nvSpPr>
        <p:spPr>
          <a:xfrm>
            <a:off x="1473200" y="4635946"/>
            <a:ext cx="274701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2B"/>
                </a:solidFill>
                <a:latin typeface="IBM Plex Sans" pitchFamily="34" charset="0"/>
                <a:ea typeface="IBM Plex Sans" pitchFamily="34" charset="-122"/>
                <a:cs typeface="IBM Plex Sans" pitchFamily="34" charset="-120"/>
              </a:rPr>
              <a:t>Verificación independiente</a:t>
            </a:r>
            <a:endParaRPr lang="en-US" sz="1400" dirty="0"/>
          </a:p>
        </p:txBody>
      </p:sp>
      <p:sp>
        <p:nvSpPr>
          <p:cNvPr id="24" name="Text 22"/>
          <p:cNvSpPr/>
          <p:nvPr/>
        </p:nvSpPr>
        <p:spPr>
          <a:xfrm>
            <a:off x="4343400" y="4664521"/>
            <a:ext cx="72468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Quien comprueba no construye, y solo cuenta la evidencia que ejecuta él mismo.</a:t>
            </a:r>
            <a:endParaRPr lang="en-US" sz="1200" dirty="0"/>
          </a:p>
        </p:txBody>
      </p:sp>
      <p:sp>
        <p:nvSpPr>
          <p:cNvPr id="25" name="Text 23"/>
          <p:cNvSpPr/>
          <p:nvPr/>
        </p:nvSpPr>
        <p:spPr>
          <a:xfrm>
            <a:off x="812800" y="5397302"/>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Defensa en profundidad: si una capa falla, las demás siguen activas.</a:t>
            </a:r>
            <a:endParaRPr lang="en-US" sz="1400" dirty="0"/>
          </a:p>
        </p:txBody>
      </p:sp>
      <p:sp>
        <p:nvSpPr>
          <p:cNvPr id="26" name="Text 24"/>
          <p:cNvSpPr/>
          <p:nvPr/>
        </p:nvSpPr>
        <p:spPr>
          <a:xfrm>
            <a:off x="812800" y="6238280"/>
            <a:ext cx="47183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079"/>
                </a:solidFill>
                <a:latin typeface="JetBrains Mono" pitchFamily="49" charset="0"/>
                <a:ea typeface="JetBrains Mono" pitchFamily="49" charset="-122"/>
                <a:cs typeface="JetBrains Mono" pitchFamily="49" charset="-120"/>
              </a:rPr>
              <a:t>De OpenSpec a un sistema multiagente propio</a:t>
            </a:r>
            <a:endParaRPr lang="en-US" sz="1200" dirty="0"/>
          </a:p>
        </p:txBody>
      </p:sp>
      <p:sp>
        <p:nvSpPr>
          <p:cNvPr id="27" name="Text 25"/>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079"/>
                </a:solidFill>
                <a:latin typeface="JetBrains Mono" pitchFamily="49" charset="0"/>
                <a:ea typeface="JetBrains Mono" pitchFamily="49" charset="-122"/>
                <a:cs typeface="JetBrains Mono" pitchFamily="49"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F6FB5"/>
                </a:solidFill>
                <a:latin typeface="JetBrains Mono" pitchFamily="49" charset="0"/>
                <a:ea typeface="JetBrains Mono" pitchFamily="49" charset="-122"/>
                <a:cs typeface="JetBrains Mono" pitchFamily="49" charset="-120"/>
              </a:rPr>
              <a:t>AHORA · TRAZABILIDAD</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IBM Plex Sans" pitchFamily="34" charset="0"/>
                <a:ea typeface="IBM Plex Sans" pitchFamily="34" charset="-122"/>
                <a:cs typeface="IBM Plex Sans" pitchFamily="34" charset="-120"/>
              </a:rPr>
              <a:t>De la idea al test que la demuestra</a:t>
            </a:r>
            <a:endParaRPr lang="en-US" sz="3200" dirty="0"/>
          </a:p>
        </p:txBody>
      </p:sp>
      <p:sp>
        <p:nvSpPr>
          <p:cNvPr id="4" name="Shape 2"/>
          <p:cNvSpPr/>
          <p:nvPr/>
        </p:nvSpPr>
        <p:spPr>
          <a:xfrm>
            <a:off x="815975" y="1953816"/>
            <a:ext cx="1418134" cy="773361"/>
          </a:xfrm>
          <a:prstGeom prst="roundRect">
            <a:avLst>
              <a:gd name="adj" fmla="val 9443"/>
            </a:avLst>
          </a:prstGeom>
          <a:solidFill>
            <a:srgbClr val="FCFBF8"/>
          </a:solidFill>
          <a:ln w="6350">
            <a:solidFill>
              <a:srgbClr val="DEDAD1"/>
            </a:solidFill>
            <a:prstDash val="solid"/>
          </a:ln>
        </p:spPr>
      </p:sp>
      <p:sp>
        <p:nvSpPr>
          <p:cNvPr id="5" name="Text 3"/>
          <p:cNvSpPr/>
          <p:nvPr/>
        </p:nvSpPr>
        <p:spPr>
          <a:xfrm>
            <a:off x="946150" y="2083991"/>
            <a:ext cx="120858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079"/>
                </a:solidFill>
                <a:latin typeface="JetBrains Mono" pitchFamily="49" charset="0"/>
                <a:ea typeface="JetBrains Mono" pitchFamily="49" charset="-122"/>
                <a:cs typeface="JetBrains Mono" pitchFamily="49" charset="-120"/>
              </a:rPr>
              <a:t>spec.md</a:t>
            </a:r>
            <a:endParaRPr lang="en-US" sz="1200" dirty="0"/>
          </a:p>
        </p:txBody>
      </p:sp>
      <p:sp>
        <p:nvSpPr>
          <p:cNvPr id="6" name="Text 4"/>
          <p:cNvSpPr/>
          <p:nvPr/>
        </p:nvSpPr>
        <p:spPr>
          <a:xfrm>
            <a:off x="946150" y="2348111"/>
            <a:ext cx="1208584"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2B"/>
                </a:solidFill>
                <a:latin typeface="IBM Plex Sans" pitchFamily="34" charset="0"/>
                <a:ea typeface="IBM Plex Sans" pitchFamily="34" charset="-122"/>
                <a:cs typeface="IBM Plex Sans" pitchFamily="34" charset="-120"/>
              </a:rPr>
              <a:t>HU-01</a:t>
            </a:r>
            <a:endParaRPr lang="en-US" sz="1400" dirty="0"/>
          </a:p>
        </p:txBody>
      </p:sp>
      <p:pic>
        <p:nvPicPr>
          <p:cNvPr id="7" name="Image 0" descr="arrow-right">    </p:cNvPr>
          <p:cNvPicPr>
            <a:picLocks noChangeAspect="1"/>
          </p:cNvPicPr>
          <p:nvPr/>
        </p:nvPicPr>
        <p:blipFill>
          <a:blip r:embed="rId1"/>
          <a:srcRect l="0" r="0" t="0" b="0"/>
          <a:stretch/>
        </p:blipFill>
        <p:spPr>
          <a:xfrm>
            <a:off x="2338884" y="2289671"/>
            <a:ext cx="203200" cy="101600"/>
          </a:xfrm>
          <a:prstGeom prst="rect">
            <a:avLst/>
          </a:prstGeom>
        </p:spPr>
      </p:pic>
      <p:sp>
        <p:nvSpPr>
          <p:cNvPr id="8" name="Shape 5"/>
          <p:cNvSpPr/>
          <p:nvPr/>
        </p:nvSpPr>
        <p:spPr>
          <a:xfrm>
            <a:off x="2646859" y="1953816"/>
            <a:ext cx="1418183" cy="773361"/>
          </a:xfrm>
          <a:prstGeom prst="roundRect">
            <a:avLst>
              <a:gd name="adj" fmla="val 9443"/>
            </a:avLst>
          </a:prstGeom>
          <a:solidFill>
            <a:srgbClr val="FCFBF8"/>
          </a:solidFill>
          <a:ln w="6350">
            <a:solidFill>
              <a:srgbClr val="DEDAD1"/>
            </a:solidFill>
            <a:prstDash val="solid"/>
          </a:ln>
        </p:spPr>
      </p:sp>
      <p:sp>
        <p:nvSpPr>
          <p:cNvPr id="9" name="Text 6"/>
          <p:cNvSpPr/>
          <p:nvPr/>
        </p:nvSpPr>
        <p:spPr>
          <a:xfrm>
            <a:off x="2777034" y="2083991"/>
            <a:ext cx="12086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079"/>
                </a:solidFill>
                <a:latin typeface="JetBrains Mono" pitchFamily="49" charset="0"/>
                <a:ea typeface="JetBrains Mono" pitchFamily="49" charset="-122"/>
                <a:cs typeface="JetBrains Mono" pitchFamily="49" charset="-120"/>
              </a:rPr>
              <a:t>spec.md</a:t>
            </a:r>
            <a:endParaRPr lang="en-US" sz="1200" dirty="0"/>
          </a:p>
        </p:txBody>
      </p:sp>
      <p:sp>
        <p:nvSpPr>
          <p:cNvPr id="10" name="Text 7"/>
          <p:cNvSpPr/>
          <p:nvPr/>
        </p:nvSpPr>
        <p:spPr>
          <a:xfrm>
            <a:off x="2777034" y="2348111"/>
            <a:ext cx="1208633"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2B"/>
                </a:solidFill>
                <a:latin typeface="IBM Plex Sans" pitchFamily="34" charset="0"/>
                <a:ea typeface="IBM Plex Sans" pitchFamily="34" charset="-122"/>
                <a:cs typeface="IBM Plex Sans" pitchFamily="34" charset="-120"/>
              </a:rPr>
              <a:t>RF-03</a:t>
            </a:r>
            <a:endParaRPr lang="en-US" sz="1400" dirty="0"/>
          </a:p>
        </p:txBody>
      </p:sp>
      <p:pic>
        <p:nvPicPr>
          <p:cNvPr id="11" name="Image 1" descr="arrow-right">    </p:cNvPr>
          <p:cNvPicPr>
            <a:picLocks noChangeAspect="1"/>
          </p:cNvPicPr>
          <p:nvPr/>
        </p:nvPicPr>
        <p:blipFill>
          <a:blip r:embed="rId2"/>
          <a:srcRect l="0" r="0" t="0" b="0"/>
          <a:stretch/>
        </p:blipFill>
        <p:spPr>
          <a:xfrm>
            <a:off x="4169817" y="2289671"/>
            <a:ext cx="203200" cy="101600"/>
          </a:xfrm>
          <a:prstGeom prst="rect">
            <a:avLst/>
          </a:prstGeom>
        </p:spPr>
      </p:pic>
      <p:sp>
        <p:nvSpPr>
          <p:cNvPr id="12" name="Shape 8"/>
          <p:cNvSpPr/>
          <p:nvPr/>
        </p:nvSpPr>
        <p:spPr>
          <a:xfrm>
            <a:off x="4477792" y="1953816"/>
            <a:ext cx="1418134" cy="773361"/>
          </a:xfrm>
          <a:prstGeom prst="roundRect">
            <a:avLst>
              <a:gd name="adj" fmla="val 9443"/>
            </a:avLst>
          </a:prstGeom>
          <a:solidFill>
            <a:srgbClr val="FCFBF8"/>
          </a:solidFill>
          <a:ln w="6350">
            <a:solidFill>
              <a:srgbClr val="DEDAD1"/>
            </a:solidFill>
            <a:prstDash val="solid"/>
          </a:ln>
        </p:spPr>
      </p:sp>
      <p:sp>
        <p:nvSpPr>
          <p:cNvPr id="13" name="Text 9"/>
          <p:cNvSpPr/>
          <p:nvPr/>
        </p:nvSpPr>
        <p:spPr>
          <a:xfrm>
            <a:off x="4607967" y="2083991"/>
            <a:ext cx="120858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079"/>
                </a:solidFill>
                <a:latin typeface="JetBrains Mono" pitchFamily="49" charset="0"/>
                <a:ea typeface="JetBrains Mono" pitchFamily="49" charset="-122"/>
                <a:cs typeface="JetBrains Mono" pitchFamily="49" charset="-120"/>
              </a:rPr>
              <a:t>plan.md</a:t>
            </a:r>
            <a:endParaRPr lang="en-US" sz="1200" dirty="0"/>
          </a:p>
        </p:txBody>
      </p:sp>
      <p:sp>
        <p:nvSpPr>
          <p:cNvPr id="14" name="Text 10"/>
          <p:cNvSpPr/>
          <p:nvPr/>
        </p:nvSpPr>
        <p:spPr>
          <a:xfrm>
            <a:off x="4607967" y="2348111"/>
            <a:ext cx="1208584"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2B"/>
                </a:solidFill>
                <a:latin typeface="IBM Plex Sans" pitchFamily="34" charset="0"/>
                <a:ea typeface="IBM Plex Sans" pitchFamily="34" charset="-122"/>
                <a:cs typeface="IBM Plex Sans" pitchFamily="34" charset="-120"/>
              </a:rPr>
              <a:t>§4.2</a:t>
            </a:r>
            <a:endParaRPr lang="en-US" sz="1400" dirty="0"/>
          </a:p>
        </p:txBody>
      </p:sp>
      <p:pic>
        <p:nvPicPr>
          <p:cNvPr id="15" name="Image 2" descr="arrow-right">    </p:cNvPr>
          <p:cNvPicPr>
            <a:picLocks noChangeAspect="1"/>
          </p:cNvPicPr>
          <p:nvPr/>
        </p:nvPicPr>
        <p:blipFill>
          <a:blip r:embed="rId3"/>
          <a:srcRect l="0" r="0" t="0" b="0"/>
          <a:stretch/>
        </p:blipFill>
        <p:spPr>
          <a:xfrm>
            <a:off x="6000700" y="2289671"/>
            <a:ext cx="203200" cy="101600"/>
          </a:xfrm>
          <a:prstGeom prst="rect">
            <a:avLst/>
          </a:prstGeom>
        </p:spPr>
      </p:pic>
      <p:sp>
        <p:nvSpPr>
          <p:cNvPr id="16" name="Shape 11"/>
          <p:cNvSpPr/>
          <p:nvPr/>
        </p:nvSpPr>
        <p:spPr>
          <a:xfrm>
            <a:off x="6308675" y="1953816"/>
            <a:ext cx="1418183" cy="773361"/>
          </a:xfrm>
          <a:prstGeom prst="roundRect">
            <a:avLst>
              <a:gd name="adj" fmla="val 9443"/>
            </a:avLst>
          </a:prstGeom>
          <a:solidFill>
            <a:srgbClr val="FCFBF8"/>
          </a:solidFill>
          <a:ln w="6350">
            <a:solidFill>
              <a:srgbClr val="DEDAD1"/>
            </a:solidFill>
            <a:prstDash val="solid"/>
          </a:ln>
        </p:spPr>
      </p:sp>
      <p:sp>
        <p:nvSpPr>
          <p:cNvPr id="17" name="Text 12"/>
          <p:cNvSpPr/>
          <p:nvPr/>
        </p:nvSpPr>
        <p:spPr>
          <a:xfrm>
            <a:off x="6438850" y="2083991"/>
            <a:ext cx="12086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079"/>
                </a:solidFill>
                <a:latin typeface="JetBrains Mono" pitchFamily="49" charset="0"/>
                <a:ea typeface="JetBrains Mono" pitchFamily="49" charset="-122"/>
                <a:cs typeface="JetBrains Mono" pitchFamily="49" charset="-120"/>
              </a:rPr>
              <a:t>tasks.md</a:t>
            </a:r>
            <a:endParaRPr lang="en-US" sz="1200" dirty="0"/>
          </a:p>
        </p:txBody>
      </p:sp>
      <p:sp>
        <p:nvSpPr>
          <p:cNvPr id="18" name="Text 13"/>
          <p:cNvSpPr/>
          <p:nvPr/>
        </p:nvSpPr>
        <p:spPr>
          <a:xfrm>
            <a:off x="6438850" y="2348111"/>
            <a:ext cx="1208633"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2B"/>
                </a:solidFill>
                <a:latin typeface="IBM Plex Sans" pitchFamily="34" charset="0"/>
                <a:ea typeface="IBM Plex Sans" pitchFamily="34" charset="-122"/>
                <a:cs typeface="IBM Plex Sans" pitchFamily="34" charset="-120"/>
              </a:rPr>
              <a:t>T03</a:t>
            </a:r>
            <a:endParaRPr lang="en-US" sz="1400" dirty="0"/>
          </a:p>
        </p:txBody>
      </p:sp>
      <p:pic>
        <p:nvPicPr>
          <p:cNvPr id="19" name="Image 3" descr="arrow-right">    </p:cNvPr>
          <p:cNvPicPr>
            <a:picLocks noChangeAspect="1"/>
          </p:cNvPicPr>
          <p:nvPr/>
        </p:nvPicPr>
        <p:blipFill>
          <a:blip r:embed="rId4"/>
          <a:srcRect l="0" r="0" t="0" b="0"/>
          <a:stretch/>
        </p:blipFill>
        <p:spPr>
          <a:xfrm>
            <a:off x="7831634" y="2289671"/>
            <a:ext cx="203200" cy="101600"/>
          </a:xfrm>
          <a:prstGeom prst="rect">
            <a:avLst/>
          </a:prstGeom>
        </p:spPr>
      </p:pic>
      <p:sp>
        <p:nvSpPr>
          <p:cNvPr id="20" name="Shape 14"/>
          <p:cNvSpPr/>
          <p:nvPr/>
        </p:nvSpPr>
        <p:spPr>
          <a:xfrm>
            <a:off x="8139609" y="1953816"/>
            <a:ext cx="1418183" cy="773361"/>
          </a:xfrm>
          <a:prstGeom prst="roundRect">
            <a:avLst>
              <a:gd name="adj" fmla="val 9443"/>
            </a:avLst>
          </a:prstGeom>
          <a:solidFill>
            <a:srgbClr val="FCFBF8"/>
          </a:solidFill>
          <a:ln w="6350">
            <a:solidFill>
              <a:srgbClr val="DEDAD1"/>
            </a:solidFill>
            <a:prstDash val="solid"/>
          </a:ln>
        </p:spPr>
      </p:sp>
      <p:sp>
        <p:nvSpPr>
          <p:cNvPr id="21" name="Text 15"/>
          <p:cNvSpPr/>
          <p:nvPr/>
        </p:nvSpPr>
        <p:spPr>
          <a:xfrm>
            <a:off x="8269784" y="2083991"/>
            <a:ext cx="12086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079"/>
                </a:solidFill>
                <a:latin typeface="JetBrains Mono" pitchFamily="49" charset="0"/>
                <a:ea typeface="JetBrains Mono" pitchFamily="49" charset="-122"/>
                <a:cs typeface="JetBrains Mono" pitchFamily="49" charset="-120"/>
              </a:rPr>
              <a:t>test</a:t>
            </a:r>
            <a:endParaRPr lang="en-US" sz="1200" dirty="0"/>
          </a:p>
        </p:txBody>
      </p:sp>
      <p:sp>
        <p:nvSpPr>
          <p:cNvPr id="22" name="Text 16"/>
          <p:cNvSpPr/>
          <p:nvPr/>
        </p:nvSpPr>
        <p:spPr>
          <a:xfrm>
            <a:off x="8269784" y="2348111"/>
            <a:ext cx="1208633"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2B"/>
                </a:solidFill>
                <a:latin typeface="IBM Plex Sans" pitchFamily="34" charset="0"/>
                <a:ea typeface="IBM Plex Sans" pitchFamily="34" charset="-122"/>
                <a:cs typeface="IBM Plex Sans" pitchFamily="34" charset="-120"/>
              </a:rPr>
              <a:t>«RF-03: …»</a:t>
            </a:r>
            <a:endParaRPr lang="en-US" sz="1400" dirty="0"/>
          </a:p>
        </p:txBody>
      </p:sp>
      <p:pic>
        <p:nvPicPr>
          <p:cNvPr id="23" name="Image 4" descr="arrow-right">    </p:cNvPr>
          <p:cNvPicPr>
            <a:picLocks noChangeAspect="1"/>
          </p:cNvPicPr>
          <p:nvPr/>
        </p:nvPicPr>
        <p:blipFill>
          <a:blip r:embed="rId5"/>
          <a:srcRect l="0" r="0" t="0" b="0"/>
          <a:stretch/>
        </p:blipFill>
        <p:spPr>
          <a:xfrm>
            <a:off x="9662567" y="2289671"/>
            <a:ext cx="203200" cy="101600"/>
          </a:xfrm>
          <a:prstGeom prst="rect">
            <a:avLst/>
          </a:prstGeom>
        </p:spPr>
      </p:pic>
      <p:sp>
        <p:nvSpPr>
          <p:cNvPr id="24" name="Shape 17"/>
          <p:cNvSpPr/>
          <p:nvPr/>
        </p:nvSpPr>
        <p:spPr>
          <a:xfrm>
            <a:off x="9967367" y="1956991"/>
            <a:ext cx="1411833" cy="767011"/>
          </a:xfrm>
          <a:prstGeom prst="roundRect">
            <a:avLst>
              <a:gd name="adj" fmla="val 9935"/>
            </a:avLst>
          </a:prstGeom>
          <a:solidFill>
            <a:srgbClr val="14202B"/>
          </a:solidFill>
          <a:ln/>
        </p:spPr>
      </p:sp>
      <p:sp>
        <p:nvSpPr>
          <p:cNvPr id="25" name="Text 18"/>
          <p:cNvSpPr/>
          <p:nvPr/>
        </p:nvSpPr>
        <p:spPr>
          <a:xfrm>
            <a:off x="10094367" y="2083991"/>
            <a:ext cx="12086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DC"/>
                </a:solidFill>
                <a:latin typeface="JetBrains Mono" pitchFamily="49" charset="0"/>
                <a:ea typeface="JetBrains Mono" pitchFamily="49" charset="-122"/>
                <a:cs typeface="JetBrains Mono" pitchFamily="49" charset="-120"/>
              </a:rPr>
              <a:t>verificación</a:t>
            </a:r>
            <a:endParaRPr lang="en-US" sz="1200" dirty="0"/>
          </a:p>
        </p:txBody>
      </p:sp>
      <p:pic>
        <p:nvPicPr>
          <p:cNvPr id="26" name="Image 5" descr="Check">    </p:cNvPr>
          <p:cNvPicPr>
            <a:picLocks noChangeAspect="1"/>
          </p:cNvPicPr>
          <p:nvPr/>
        </p:nvPicPr>
        <p:blipFill>
          <a:blip r:embed="rId6"/>
          <a:srcRect l="0" r="0" t="0" b="0"/>
          <a:stretch/>
        </p:blipFill>
        <p:spPr>
          <a:xfrm>
            <a:off x="10094367" y="2383631"/>
            <a:ext cx="177800" cy="177800"/>
          </a:xfrm>
          <a:prstGeom prst="rect">
            <a:avLst/>
          </a:prstGeom>
        </p:spPr>
      </p:pic>
      <p:sp>
        <p:nvSpPr>
          <p:cNvPr id="27" name="Text 19"/>
          <p:cNvSpPr/>
          <p:nvPr/>
        </p:nvSpPr>
        <p:spPr>
          <a:xfrm>
            <a:off x="10322967" y="2348111"/>
            <a:ext cx="83445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5F1"/>
                </a:solidFill>
                <a:latin typeface="IBM Plex Sans" pitchFamily="34" charset="0"/>
                <a:ea typeface="IBM Plex Sans" pitchFamily="34" charset="-122"/>
                <a:cs typeface="IBM Plex Sans" pitchFamily="34" charset="-120"/>
              </a:rPr>
              <a:t>CUMPLE</a:t>
            </a:r>
            <a:endParaRPr lang="en-US" sz="1400" dirty="0"/>
          </a:p>
        </p:txBody>
      </p:sp>
      <p:sp>
        <p:nvSpPr>
          <p:cNvPr id="28" name="Shape 20"/>
          <p:cNvSpPr/>
          <p:nvPr/>
        </p:nvSpPr>
        <p:spPr>
          <a:xfrm>
            <a:off x="815975" y="3089126"/>
            <a:ext cx="5175250" cy="1464270"/>
          </a:xfrm>
          <a:prstGeom prst="roundRect">
            <a:avLst>
              <a:gd name="adj" fmla="val 6722"/>
            </a:avLst>
          </a:prstGeom>
          <a:solidFill>
            <a:srgbClr val="FCFBF8"/>
          </a:solidFill>
          <a:ln w="6350">
            <a:solidFill>
              <a:srgbClr val="DEDAD1"/>
            </a:solidFill>
            <a:prstDash val="solid"/>
          </a:ln>
        </p:spPr>
      </p:sp>
      <p:sp>
        <p:nvSpPr>
          <p:cNvPr id="29" name="Text 21"/>
          <p:cNvSpPr/>
          <p:nvPr/>
        </p:nvSpPr>
        <p:spPr>
          <a:xfrm>
            <a:off x="1022350" y="3295501"/>
            <a:ext cx="49053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FB5"/>
                </a:solidFill>
                <a:latin typeface="JetBrains Mono" pitchFamily="49" charset="0"/>
                <a:ea typeface="JetBrains Mono" pitchFamily="49" charset="-122"/>
                <a:cs typeface="JetBrains Mono" pitchFamily="49" charset="-120"/>
              </a:rPr>
              <a:t>REQUISITO EN EARS · EJEMPLO</a:t>
            </a:r>
            <a:endParaRPr lang="en-US" sz="1200" dirty="0"/>
          </a:p>
        </p:txBody>
      </p:sp>
      <p:sp>
        <p:nvSpPr>
          <p:cNvPr id="30" name="Text 22"/>
          <p:cNvSpPr/>
          <p:nvPr/>
        </p:nvSpPr>
        <p:spPr>
          <a:xfrm>
            <a:off x="1022350" y="3585021"/>
            <a:ext cx="4905375" cy="77207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2B"/>
                </a:solidFill>
                <a:latin typeface="IBM Plex Sans" pitchFamily="34" charset="0"/>
                <a:ea typeface="IBM Plex Sans" pitchFamily="34" charset="-122"/>
                <a:cs typeface="IBM Plex Sans" pitchFamily="34" charset="-120"/>
              </a:rPr>
              <a:t>RF-03:</a:t>
            </a:r>
            <a:r>
              <a:rPr lang="en-US" sz="1400" dirty="0">
                <a:solidFill>
                  <a:srgbClr val="14202B"/>
                </a:solidFill>
                <a:latin typeface="IBM Plex Sans" pitchFamily="34" charset="0"/>
                <a:ea typeface="IBM Plex Sans" pitchFamily="34" charset="-122"/>
                <a:cs typeface="IBM Plex Sans" pitchFamily="34" charset="-120"/>
              </a:rPr>
              <a:t> SI la fecha de envío es anterior al momento actual, ENTONCES EL SISTEMA no programa y muestra «La fecha de envío debe ser futura».</a:t>
            </a:r>
            <a:endParaRPr lang="en-US" sz="1400" dirty="0"/>
          </a:p>
        </p:txBody>
      </p:sp>
      <p:sp>
        <p:nvSpPr>
          <p:cNvPr id="31" name="Shape 23"/>
          <p:cNvSpPr/>
          <p:nvPr/>
        </p:nvSpPr>
        <p:spPr>
          <a:xfrm>
            <a:off x="6200775" y="3089126"/>
            <a:ext cx="5175250" cy="1464270"/>
          </a:xfrm>
          <a:prstGeom prst="roundRect">
            <a:avLst>
              <a:gd name="adj" fmla="val 6722"/>
            </a:avLst>
          </a:prstGeom>
          <a:solidFill>
            <a:srgbClr val="FCFBF8"/>
          </a:solidFill>
          <a:ln w="6350">
            <a:solidFill>
              <a:srgbClr val="DEDAD1"/>
            </a:solidFill>
            <a:prstDash val="solid"/>
          </a:ln>
        </p:spPr>
      </p:sp>
      <p:sp>
        <p:nvSpPr>
          <p:cNvPr id="32" name="Text 24"/>
          <p:cNvSpPr/>
          <p:nvPr/>
        </p:nvSpPr>
        <p:spPr>
          <a:xfrm>
            <a:off x="6407150" y="3295501"/>
            <a:ext cx="49053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F6FB5"/>
                </a:solidFill>
                <a:latin typeface="JetBrains Mono" pitchFamily="49" charset="0"/>
                <a:ea typeface="JetBrains Mono" pitchFamily="49" charset="-122"/>
                <a:cs typeface="JetBrains Mono" pitchFamily="49" charset="-120"/>
              </a:rPr>
              <a:t>EL TEST QUE LO DEMUESTRA</a:t>
            </a:r>
            <a:endParaRPr lang="en-US" sz="1200" dirty="0"/>
          </a:p>
        </p:txBody>
      </p:sp>
      <p:sp>
        <p:nvSpPr>
          <p:cNvPr id="33" name="Text 25"/>
          <p:cNvSpPr/>
          <p:nvPr/>
        </p:nvSpPr>
        <p:spPr>
          <a:xfrm>
            <a:off x="6407150" y="3585021"/>
            <a:ext cx="4905375"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4202B"/>
                </a:solidFill>
                <a:latin typeface="JetBrains Mono" pitchFamily="49" charset="0"/>
                <a:ea typeface="JetBrains Mono" pitchFamily="49" charset="-122"/>
                <a:cs typeface="JetBrains Mono" pitchFamily="49" charset="-120"/>
              </a:rPr>
              <a:t>it('RF-03: rechaza la programación con fecha pasada', …)</a:t>
            </a:r>
            <a:endParaRPr lang="en-US" sz="1200" dirty="0"/>
          </a:p>
        </p:txBody>
      </p:sp>
      <p:sp>
        <p:nvSpPr>
          <p:cNvPr id="34" name="Text 26"/>
          <p:cNvSpPr/>
          <p:nvPr/>
        </p:nvSpPr>
        <p:spPr>
          <a:xfrm>
            <a:off x="6407150" y="4118421"/>
            <a:ext cx="4905375"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4202B"/>
                </a:solidFill>
                <a:latin typeface="JetBrains Mono" pitchFamily="49" charset="0"/>
                <a:ea typeface="JetBrains Mono" pitchFamily="49" charset="-122"/>
                <a:cs typeface="JetBrains Mono" pitchFamily="49" charset="-120"/>
              </a:rPr>
              <a:t>[Fact(DisplayName = "RF-03: …")]</a:t>
            </a:r>
            <a:endParaRPr lang="en-US" sz="1200" dirty="0"/>
          </a:p>
        </p:txBody>
      </p:sp>
      <p:sp>
        <p:nvSpPr>
          <p:cNvPr id="35" name="Text 27"/>
          <p:cNvSpPr/>
          <p:nvPr/>
        </p:nvSpPr>
        <p:spPr>
          <a:xfrm>
            <a:off x="812800" y="4912171"/>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Identificadores estables (HU · RF · RNF · CL · D · EXT · T): nunca se renumeran ni se reutilizan.</a:t>
            </a:r>
            <a:endParaRPr lang="en-US" sz="1400" dirty="0"/>
          </a:p>
        </p:txBody>
      </p:sp>
      <p:sp>
        <p:nvSpPr>
          <p:cNvPr id="36" name="Text 28"/>
          <p:cNvSpPr/>
          <p:nvPr/>
        </p:nvSpPr>
        <p:spPr>
          <a:xfrm>
            <a:off x="812800" y="6238280"/>
            <a:ext cx="47183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079"/>
                </a:solidFill>
                <a:latin typeface="JetBrains Mono" pitchFamily="49" charset="0"/>
                <a:ea typeface="JetBrains Mono" pitchFamily="49" charset="-122"/>
                <a:cs typeface="JetBrains Mono" pitchFamily="49" charset="-120"/>
              </a:rPr>
              <a:t>De OpenSpec a un sistema multiagente propio</a:t>
            </a:r>
            <a:endParaRPr lang="en-US" sz="1200" dirty="0"/>
          </a:p>
        </p:txBody>
      </p:sp>
      <p:sp>
        <p:nvSpPr>
          <p:cNvPr id="37" name="Text 29"/>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079"/>
                </a:solidFill>
                <a:latin typeface="JetBrains Mono" pitchFamily="49" charset="0"/>
                <a:ea typeface="JetBrains Mono" pitchFamily="49" charset="-122"/>
                <a:cs typeface="JetBrains Mono" pitchFamily="49"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F6FB5"/>
                </a:solidFill>
                <a:latin typeface="JetBrains Mono" pitchFamily="49" charset="0"/>
                <a:ea typeface="JetBrains Mono" pitchFamily="49" charset="-122"/>
                <a:cs typeface="JetBrains Mono" pitchFamily="49" charset="-120"/>
              </a:rPr>
              <a:t>LA MEJORA</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IBM Plex Sans" pitchFamily="34" charset="0"/>
                <a:ea typeface="IBM Plex Sans" pitchFamily="34" charset="-122"/>
                <a:cs typeface="IBM Plex Sans" pitchFamily="34" charset="-120"/>
              </a:rPr>
              <a:t>Antes y ahora, dimensión por dimensión</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63341"/>
          <a:ext cx="10553700" cy="3474095"/>
        </p:xfrm>
        <a:graphic>
          <a:graphicData uri="http://schemas.openxmlformats.org/drawingml/2006/table">
            <a:tbl>
              <a:tblPr/>
              <a:tblGrid>
                <a:gridCol w="2321814"/>
                <a:gridCol w="4115943"/>
                <a:gridCol w="4115943"/>
              </a:tblGrid>
              <a:tr h="386011">
                <a:tc>
                  <a:txBody>
                    <a:bodyPr/>
                    <a:lstStyle/>
                    <a:p>
                      <a:pPr indent="0" marL="0">
                        <a:lnSpc>
                          <a:spcPts val="1960"/>
                        </a:lnSpc>
                        <a:buNone/>
                      </a:pPr>
                      <a:r>
                        <a:rPr lang="en-US" sz="1400" b="1" dirty="0">
                          <a:solidFill>
                            <a:srgbClr val="F6F5F1"/>
                          </a:solidFill>
                          <a:latin typeface="IBM Plex Sans" pitchFamily="34" charset="0"/>
                          <a:ea typeface="IBM Plex Sans" pitchFamily="34" charset="-122"/>
                          <a:cs typeface="IBM Plex Sans" pitchFamily="34" charset="-120"/>
                        </a:rPr>
                        <a:t>Dimensión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141D26"/>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41D26"/>
                      </a:solidFill>
                      <a:prstDash val="solid"/>
                      <a:round/>
                      <a:headEnd type="none" w="med" len="med"/>
                      <a:tailEnd type="none" w="med" len="med"/>
                    </a:lnB>
                    <a:solidFill>
                      <a:srgbClr val="14202B"/>
                    </a:solidFill>
                  </a:tcPr>
                </a:tc>
                <a:tc>
                  <a:txBody>
                    <a:bodyPr/>
                    <a:lstStyle/>
                    <a:p>
                      <a:pPr indent="0" marL="0">
                        <a:lnSpc>
                          <a:spcPts val="1960"/>
                        </a:lnSpc>
                        <a:buNone/>
                      </a:pPr>
                      <a:r>
                        <a:rPr lang="en-US" sz="1400" b="1" dirty="0">
                          <a:solidFill>
                            <a:srgbClr val="E39A5F"/>
                          </a:solidFill>
                          <a:latin typeface="IBM Plex Sans" pitchFamily="34" charset="0"/>
                          <a:ea typeface="IBM Plex Sans" pitchFamily="34" charset="-122"/>
                          <a:cs typeface="IBM Plex Sans" pitchFamily="34" charset="-120"/>
                        </a:rPr>
                        <a:t>Antes · OpenSpec</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41D26"/>
                      </a:solidFill>
                      <a:prstDash val="solid"/>
                      <a:round/>
                      <a:headEnd type="none" w="med" len="med"/>
                      <a:tailEnd type="none" w="med" len="med"/>
                    </a:lnL>
                    <a:lnR w="12700" cap="flat" cmpd="sng" algn="ctr">
                      <a:solidFill>
                        <a:srgbClr val="141D26"/>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41D26"/>
                      </a:solidFill>
                      <a:prstDash val="solid"/>
                      <a:round/>
                      <a:headEnd type="none" w="med" len="med"/>
                      <a:tailEnd type="none" w="med" len="med"/>
                    </a:lnB>
                    <a:solidFill>
                      <a:srgbClr val="14202B"/>
                    </a:solidFill>
                  </a:tcPr>
                </a:tc>
                <a:tc>
                  <a:txBody>
                    <a:bodyPr/>
                    <a:lstStyle/>
                    <a:p>
                      <a:pPr indent="0" marL="0">
                        <a:lnSpc>
                          <a:spcPts val="1960"/>
                        </a:lnSpc>
                        <a:buNone/>
                      </a:pPr>
                      <a:r>
                        <a:rPr lang="en-US" sz="1400" b="1" dirty="0">
                          <a:solidFill>
                            <a:srgbClr val="7FB0E6"/>
                          </a:solidFill>
                          <a:latin typeface="IBM Plex Sans" pitchFamily="34" charset="0"/>
                          <a:ea typeface="IBM Plex Sans" pitchFamily="34" charset="-122"/>
                          <a:cs typeface="IBM Plex Sans" pitchFamily="34" charset="-120"/>
                        </a:rPr>
                        <a:t>Ahora · kit propio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41D26"/>
                      </a:solidFill>
                      <a:prstDash val="solid"/>
                      <a:round/>
                      <a:headEnd type="none" w="med" len="med"/>
                      <a:tailEnd type="none" w="med" len="med"/>
                    </a:lnL>
                    <a:lnR w="12700" cap="flat" cmpd="sng" algn="ctr">
                      <a:solidFill>
                        <a:srgbClr val="141D26"/>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41D26"/>
                      </a:solidFill>
                      <a:prstDash val="solid"/>
                      <a:round/>
                      <a:headEnd type="none" w="med" len="med"/>
                      <a:tailEnd type="none" w="med" len="med"/>
                    </a:lnB>
                    <a:solidFill>
                      <a:srgbClr val="14202B"/>
                    </a:solidFill>
                  </a:tcPr>
                </a:tc>
              </a:tr>
              <a:tr h="386011">
                <a:tc>
                  <a:txBody>
                    <a:bodyPr/>
                    <a:lstStyle/>
                    <a:p>
                      <a:pP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Dependencias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41D2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OpenSpec CLI 1.10 + Copilot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41D2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960"/>
                        </a:lnSpc>
                        <a:buNone/>
                      </a:pPr>
                      <a:r>
                        <a:rPr lang="en-US" sz="1400" dirty="0">
                          <a:solidFill>
                            <a:srgbClr val="1F4E86"/>
                          </a:solidFill>
                          <a:latin typeface="IBM Plex Sans" pitchFamily="34" charset="0"/>
                          <a:ea typeface="IBM Plex Sans" pitchFamily="34" charset="-122"/>
                          <a:cs typeface="IBM Plex Sans" pitchFamily="34" charset="-120"/>
                        </a:rPr>
                        <a:t>Solo GitHub Copilot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41D2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386011">
                <a:tc>
                  <a:txBody>
                    <a:bodyPr/>
                    <a:lstStyle/>
                    <a:p>
                      <a:pP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Orquestación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0BEB9"/>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EB9"/>
                      </a:solidFill>
                      <a:prstDash val="solid"/>
                      <a:round/>
                      <a:headEnd type="none" w="med" len="med"/>
                      <a:tailEnd type="none" w="med" len="med"/>
                    </a:lnB>
                    <a:solidFill>
                      <a:srgbClr val="F0EEE8"/>
                    </a:solidFill>
                  </a:tcPr>
                </a:tc>
                <a:tc>
                  <a:txBody>
                    <a:bodyPr/>
                    <a:lstStyle/>
                    <a:p>
                      <a:pPr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El desarrollador encadenaba comandos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0BEB9"/>
                      </a:solidFill>
                      <a:prstDash val="solid"/>
                      <a:round/>
                      <a:headEnd type="none" w="med" len="med"/>
                      <a:tailEnd type="none" w="med" len="med"/>
                    </a:lnL>
                    <a:lnR w="12700" cap="flat" cmpd="sng" algn="ctr">
                      <a:solidFill>
                        <a:srgbClr val="C0BEB9"/>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EB9"/>
                      </a:solidFill>
                      <a:prstDash val="solid"/>
                      <a:round/>
                      <a:headEnd type="none" w="med" len="med"/>
                      <a:tailEnd type="none" w="med" len="med"/>
                    </a:lnB>
                    <a:solidFill>
                      <a:srgbClr val="F0EEE8"/>
                    </a:solidFill>
                  </a:tcPr>
                </a:tc>
                <a:tc>
                  <a:txBody>
                    <a:bodyPr/>
                    <a:lstStyle/>
                    <a:p>
                      <a:pPr indent="0" marL="0">
                        <a:lnSpc>
                          <a:spcPts val="1960"/>
                        </a:lnSpc>
                        <a:buNone/>
                      </a:pPr>
                      <a:r>
                        <a:rPr lang="en-US" sz="1400" dirty="0">
                          <a:solidFill>
                            <a:srgbClr val="1F4E86"/>
                          </a:solidFill>
                          <a:latin typeface="IBM Plex Sans" pitchFamily="34" charset="0"/>
                          <a:ea typeface="IBM Plex Sans" pitchFamily="34" charset="-122"/>
                          <a:cs typeface="IBM Plex Sans" pitchFamily="34" charset="-120"/>
                        </a:rPr>
                        <a:t>Orquestador que delega y valida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0BEB9"/>
                      </a:solidFill>
                      <a:prstDash val="solid"/>
                      <a:round/>
                      <a:headEnd type="none" w="med" len="med"/>
                      <a:tailEnd type="none" w="med" len="med"/>
                    </a:lnL>
                    <a:lnR w="12700" cap="flat" cmpd="sng" algn="ctr">
                      <a:solidFill>
                        <a:srgbClr val="C0BEB9"/>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EB9"/>
                      </a:solidFill>
                      <a:prstDash val="solid"/>
                      <a:round/>
                      <a:headEnd type="none" w="med" len="med"/>
                      <a:tailEnd type="none" w="med" len="med"/>
                    </a:lnB>
                    <a:solidFill>
                      <a:srgbClr val="F0EEE8"/>
                    </a:solidFill>
                  </a:tcPr>
                </a:tc>
              </a:tr>
              <a:tr h="386011">
                <a:tc>
                  <a:txBody>
                    <a:bodyPr/>
                    <a:lstStyle/>
                    <a:p>
                      <a:pP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TDD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0BEB9"/>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Un agente; RED por instrucción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0BEB9"/>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960"/>
                        </a:lnSpc>
                        <a:buNone/>
                      </a:pPr>
                      <a:r>
                        <a:rPr lang="en-US" sz="1400" dirty="0">
                          <a:solidFill>
                            <a:srgbClr val="1F4E86"/>
                          </a:solidFill>
                          <a:latin typeface="IBM Plex Sans" pitchFamily="34" charset="0"/>
                          <a:ea typeface="IBM Plex Sans" pitchFamily="34" charset="-122"/>
                          <a:cs typeface="IBM Plex Sans" pitchFamily="34" charset="-120"/>
                        </a:rPr>
                        <a:t>Dos agentes y un hook que lo impone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0BEB9"/>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386011">
                <a:tc>
                  <a:txBody>
                    <a:bodyPr/>
                    <a:lstStyle/>
                    <a:p>
                      <a:pP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Verificación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0BEB9"/>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EB9"/>
                      </a:solidFill>
                      <a:prstDash val="solid"/>
                      <a:round/>
                      <a:headEnd type="none" w="med" len="med"/>
                      <a:tailEnd type="none" w="med" len="med"/>
                    </a:lnB>
                    <a:solidFill>
                      <a:srgbClr val="F0EEE8"/>
                    </a:solidFill>
                  </a:tcPr>
                </a:tc>
                <a:tc>
                  <a:txBody>
                    <a:bodyPr/>
                    <a:lstStyle/>
                    <a:p>
                      <a:pPr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Heurística + skill strict-verify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0BEB9"/>
                      </a:solidFill>
                      <a:prstDash val="solid"/>
                      <a:round/>
                      <a:headEnd type="none" w="med" len="med"/>
                      <a:tailEnd type="none" w="med" len="med"/>
                    </a:lnL>
                    <a:lnR w="12700" cap="flat" cmpd="sng" algn="ctr">
                      <a:solidFill>
                        <a:srgbClr val="C0BEB9"/>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EB9"/>
                      </a:solidFill>
                      <a:prstDash val="solid"/>
                      <a:round/>
                      <a:headEnd type="none" w="med" len="med"/>
                      <a:tailEnd type="none" w="med" len="med"/>
                    </a:lnB>
                    <a:solidFill>
                      <a:srgbClr val="F0EEE8"/>
                    </a:solidFill>
                  </a:tcPr>
                </a:tc>
                <a:tc>
                  <a:txBody>
                    <a:bodyPr/>
                    <a:lstStyle/>
                    <a:p>
                      <a:pPr indent="0" marL="0">
                        <a:lnSpc>
                          <a:spcPts val="1960"/>
                        </a:lnSpc>
                        <a:buNone/>
                      </a:pPr>
                      <a:r>
                        <a:rPr lang="en-US" sz="1400" dirty="0">
                          <a:solidFill>
                            <a:srgbClr val="1F4E86"/>
                          </a:solidFill>
                          <a:latin typeface="IBM Plex Sans" pitchFamily="34" charset="0"/>
                          <a:ea typeface="IBM Plex Sans" pitchFamily="34" charset="-122"/>
                          <a:cs typeface="IBM Plex Sans" pitchFamily="34" charset="-120"/>
                        </a:rPr>
                        <a:t>Verificador independiente, RF → test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0BEB9"/>
                      </a:solidFill>
                      <a:prstDash val="solid"/>
                      <a:round/>
                      <a:headEnd type="none" w="med" len="med"/>
                      <a:tailEnd type="none" w="med" len="med"/>
                    </a:lnL>
                    <a:lnR w="12700" cap="flat" cmpd="sng" algn="ctr">
                      <a:solidFill>
                        <a:srgbClr val="C0BEB9"/>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EB9"/>
                      </a:solidFill>
                      <a:prstDash val="solid"/>
                      <a:round/>
                      <a:headEnd type="none" w="med" len="med"/>
                      <a:tailEnd type="none" w="med" len="med"/>
                    </a:lnB>
                    <a:solidFill>
                      <a:srgbClr val="F0EEE8"/>
                    </a:solidFill>
                  </a:tcPr>
                </a:tc>
              </a:tr>
              <a:tr h="386011">
                <a:tc>
                  <a:txBody>
                    <a:bodyPr/>
                    <a:lstStyle/>
                    <a:p>
                      <a:pP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Requisitos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0BEB9"/>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Deltas en formato OpenSpec</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0BEB9"/>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960"/>
                        </a:lnSpc>
                        <a:buNone/>
                      </a:pPr>
                      <a:r>
                        <a:rPr lang="en-US" sz="1400" dirty="0">
                          <a:solidFill>
                            <a:srgbClr val="1F4E86"/>
                          </a:solidFill>
                          <a:latin typeface="IBM Plex Sans" pitchFamily="34" charset="0"/>
                          <a:ea typeface="IBM Plex Sans" pitchFamily="34" charset="-122"/>
                          <a:cs typeface="IBM Plex Sans" pitchFamily="34" charset="-120"/>
                        </a:rPr>
                        <a:t>EARS con IDs estables y QA de spec</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0BEB9"/>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386011">
                <a:tc>
                  <a:txBody>
                    <a:bodyPr/>
                    <a:lstStyle/>
                    <a:p>
                      <a:pP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Contratos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0BEB9"/>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EB9"/>
                      </a:solidFill>
                      <a:prstDash val="solid"/>
                      <a:round/>
                      <a:headEnd type="none" w="med" len="med"/>
                      <a:tailEnd type="none" w="med" len="med"/>
                    </a:lnB>
                    <a:solidFill>
                      <a:srgbClr val="F0EEE8"/>
                    </a:solidFill>
                  </a:tcPr>
                </a:tc>
                <a:tc>
                  <a:txBody>
                    <a:bodyPr/>
                    <a:lstStyle/>
                    <a:p>
                      <a:pPr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Preguntas BQ del frontend al backend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0BEB9"/>
                      </a:solidFill>
                      <a:prstDash val="solid"/>
                      <a:round/>
                      <a:headEnd type="none" w="med" len="med"/>
                      <a:tailEnd type="none" w="med" len="med"/>
                    </a:lnL>
                    <a:lnR w="12700" cap="flat" cmpd="sng" algn="ctr">
                      <a:solidFill>
                        <a:srgbClr val="C0BEB9"/>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EB9"/>
                      </a:solidFill>
                      <a:prstDash val="solid"/>
                      <a:round/>
                      <a:headEnd type="none" w="med" len="med"/>
                      <a:tailEnd type="none" w="med" len="med"/>
                    </a:lnB>
                    <a:solidFill>
                      <a:srgbClr val="F0EEE8"/>
                    </a:solidFill>
                  </a:tcPr>
                </a:tc>
                <a:tc>
                  <a:txBody>
                    <a:bodyPr/>
                    <a:lstStyle/>
                    <a:p>
                      <a:pPr indent="0" marL="0">
                        <a:lnSpc>
                          <a:spcPts val="1960"/>
                        </a:lnSpc>
                        <a:buNone/>
                      </a:pPr>
                      <a:r>
                        <a:rPr lang="en-US" sz="1400" dirty="0">
                          <a:solidFill>
                            <a:srgbClr val="1F4E86"/>
                          </a:solidFill>
                          <a:latin typeface="IBM Plex Sans" pitchFamily="34" charset="0"/>
                          <a:ea typeface="IBM Plex Sans" pitchFamily="34" charset="-122"/>
                          <a:cs typeface="IBM Plex Sans" pitchFamily="34" charset="-120"/>
                        </a:rPr>
                        <a:t>Preguntas EXT-nn en ambos sentidos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0BEB9"/>
                      </a:solidFill>
                      <a:prstDash val="solid"/>
                      <a:round/>
                      <a:headEnd type="none" w="med" len="med"/>
                      <a:tailEnd type="none" w="med" len="med"/>
                    </a:lnL>
                    <a:lnR w="12700" cap="flat" cmpd="sng" algn="ctr">
                      <a:solidFill>
                        <a:srgbClr val="C0BEB9"/>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EB9"/>
                      </a:solidFill>
                      <a:prstDash val="solid"/>
                      <a:round/>
                      <a:headEnd type="none" w="med" len="med"/>
                      <a:tailEnd type="none" w="med" len="med"/>
                    </a:lnB>
                    <a:solidFill>
                      <a:srgbClr val="F0EEE8"/>
                    </a:solidFill>
                  </a:tcPr>
                </a:tc>
              </a:tr>
              <a:tr h="386011">
                <a:tc>
                  <a:txBody>
                    <a:bodyPr/>
                    <a:lstStyle/>
                    <a:p>
                      <a:pP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Guardarraíles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0BEB9"/>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Herramientas e instrucciones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0BEB9"/>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960"/>
                        </a:lnSpc>
                        <a:buNone/>
                      </a:pPr>
                      <a:r>
                        <a:rPr lang="en-US" sz="1400" dirty="0">
                          <a:solidFill>
                            <a:srgbClr val="1F4E86"/>
                          </a:solidFill>
                          <a:latin typeface="IBM Plex Sans" pitchFamily="34" charset="0"/>
                          <a:ea typeface="IBM Plex Sans" pitchFamily="34" charset="-122"/>
                          <a:cs typeface="IBM Plex Sans" pitchFamily="34" charset="-120"/>
                        </a:rPr>
                        <a:t>Cinco capas, con permisos por ruta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0BEB9"/>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386011">
                <a:tc>
                  <a:txBody>
                    <a:bodyPr/>
                    <a:lstStyle/>
                    <a:p>
                      <a:pPr indent="0" marL="0">
                        <a:lnSpc>
                          <a:spcPts val="1960"/>
                        </a:lnSpc>
                        <a:buNone/>
                      </a:pPr>
                      <a:r>
                        <a:rPr lang="en-US" sz="1400" dirty="0">
                          <a:solidFill>
                            <a:srgbClr val="14202B"/>
                          </a:solidFill>
                          <a:latin typeface="IBM Plex Sans" pitchFamily="34" charset="0"/>
                          <a:ea typeface="IBM Plex Sans" pitchFamily="34" charset="-122"/>
                          <a:cs typeface="IBM Plex Sans" pitchFamily="34" charset="-120"/>
                        </a:rPr>
                        <a:t>Artefactos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4C4C0"/>
                      </a:solidFill>
                      <a:prstDash val="solid"/>
                      <a:round/>
                      <a:headEnd type="none" w="med" len="med"/>
                      <a:tailEnd type="none" w="med" len="med"/>
                    </a:lnL>
                    <a:lnR w="12700" cap="flat" cmpd="sng" algn="ctr">
                      <a:solidFill>
                        <a:srgbClr val="C0BEB9"/>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EB9"/>
                      </a:solidFill>
                      <a:prstDash val="solid"/>
                      <a:round/>
                      <a:headEnd type="none" w="med" len="med"/>
                      <a:tailEnd type="none" w="med" len="med"/>
                    </a:lnB>
                    <a:solidFill>
                      <a:srgbClr val="F0EEE8"/>
                    </a:solidFill>
                  </a:tcPr>
                </a:tc>
                <a:tc>
                  <a:txBody>
                    <a:bodyPr/>
                    <a:lstStyle/>
                    <a:p>
                      <a:pPr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openspec/changes/&lt;id&gt;/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0BEB9"/>
                      </a:solidFill>
                      <a:prstDash val="solid"/>
                      <a:round/>
                      <a:headEnd type="none" w="med" len="med"/>
                      <a:tailEnd type="none" w="med" len="med"/>
                    </a:lnL>
                    <a:lnR w="12700" cap="flat" cmpd="sng" algn="ctr">
                      <a:solidFill>
                        <a:srgbClr val="C0BEB9"/>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EB9"/>
                      </a:solidFill>
                      <a:prstDash val="solid"/>
                      <a:round/>
                      <a:headEnd type="none" w="med" len="med"/>
                      <a:tailEnd type="none" w="med" len="med"/>
                    </a:lnB>
                    <a:solidFill>
                      <a:srgbClr val="F0EEE8"/>
                    </a:solidFill>
                  </a:tcPr>
                </a:tc>
                <a:tc>
                  <a:txBody>
                    <a:bodyPr/>
                    <a:lstStyle/>
                    <a:p>
                      <a:pPr indent="0" marL="0">
                        <a:lnSpc>
                          <a:spcPts val="1960"/>
                        </a:lnSpc>
                        <a:buNone/>
                      </a:pPr>
                      <a:r>
                        <a:rPr lang="en-US" sz="1400" dirty="0">
                          <a:solidFill>
                            <a:srgbClr val="1F4E86"/>
                          </a:solidFill>
                          <a:latin typeface="IBM Plex Sans" pitchFamily="34" charset="0"/>
                          <a:ea typeface="IBM Plex Sans" pitchFamily="34" charset="-122"/>
                          <a:cs typeface="IBM Plex Sans" pitchFamily="34" charset="-120"/>
                        </a:rPr>
                        <a:t>specs/NNN-nombre/ en el repositorio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0BEB9"/>
                      </a:solidFill>
                      <a:prstDash val="solid"/>
                      <a:round/>
                      <a:headEnd type="none" w="med" len="med"/>
                      <a:tailEnd type="none" w="med" len="med"/>
                    </a:lnL>
                    <a:lnR w="12700" cap="flat" cmpd="sng" algn="ctr">
                      <a:solidFill>
                        <a:srgbClr val="C0BEB9"/>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EB9"/>
                      </a:solidFill>
                      <a:prstDash val="solid"/>
                      <a:round/>
                      <a:headEnd type="none" w="med" len="med"/>
                      <a:tailEnd type="none" w="med" len="med"/>
                    </a:lnB>
                    <a:solidFill>
                      <a:srgbClr val="F0EEE8"/>
                    </a:solidFill>
                  </a:tcPr>
                </a:tc>
              </a:tr>
            </a:tbl>
          </a:graphicData>
        </a:graphic>
      </p:graphicFrame>
      <p:sp>
        <p:nvSpPr>
          <p:cNvPr id="5" name="Text 2"/>
          <p:cNvSpPr/>
          <p:nvPr/>
        </p:nvSpPr>
        <p:spPr>
          <a:xfrm>
            <a:off x="812800" y="6238280"/>
            <a:ext cx="47183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079"/>
                </a:solidFill>
                <a:latin typeface="JetBrains Mono" pitchFamily="49" charset="0"/>
                <a:ea typeface="JetBrains Mono" pitchFamily="49" charset="-122"/>
                <a:cs typeface="JetBrains Mono" pitchFamily="49" charset="-120"/>
              </a:rPr>
              <a:t>De OpenSpec a un sistema multiagente propio</a:t>
            </a:r>
            <a:endParaRPr lang="en-US" sz="1200" dirty="0"/>
          </a:p>
        </p:txBody>
      </p:sp>
      <p:sp>
        <p:nvSpPr>
          <p:cNvPr id="6" name="Text 3"/>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079"/>
                </a:solidFill>
                <a:latin typeface="JetBrains Mono" pitchFamily="49" charset="0"/>
                <a:ea typeface="JetBrains Mono" pitchFamily="49" charset="-122"/>
                <a:cs typeface="JetBrains Mono" pitchFamily="49"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3710"/>
          </a:xfrm>
          <a:prstGeom prst="rect">
            <a:avLst/>
          </a:prstGeom>
          <a:noFill/>
          <a:ln/>
        </p:spPr>
        <p:txBody>
          <a:bodyPr wrap="square" lIns="0" tIns="0" rIns="0" bIns="0" rtlCol="0" anchor="t">
            <a:normAutofit/>
          </a:bodyPr>
          <a:lstStyle/>
          <a:p>
            <a:pPr algn="l" indent="0" marL="0">
              <a:lnSpc>
                <a:spcPts val="1675"/>
              </a:lnSpc>
              <a:buNone/>
            </a:pPr>
            <a:r>
              <a:rPr lang="en-US" sz="1196" spc="100" kern="0" dirty="0">
                <a:solidFill>
                  <a:srgbClr val="2F6FB5"/>
                </a:solidFill>
                <a:latin typeface="JetBrains Mono" pitchFamily="49" charset="0"/>
                <a:ea typeface="JetBrains Mono" pitchFamily="49" charset="-122"/>
                <a:cs typeface="JetBrains Mono" pitchFamily="49" charset="-120"/>
              </a:rPr>
              <a:t>LO QUE CONSERVAMOS</a:t>
            </a:r>
            <a:endParaRPr lang="en-US" sz="1196" dirty="0"/>
          </a:p>
        </p:txBody>
      </p:sp>
      <p:sp>
        <p:nvSpPr>
          <p:cNvPr id="3" name="Text 1"/>
          <p:cNvSpPr/>
          <p:nvPr>
            <p:ph type="title"/>
          </p:nvPr>
        </p:nvSpPr>
        <p:spPr>
          <a:xfrm>
            <a:off x="812800" y="1122710"/>
            <a:ext cx="10883392" cy="481806"/>
          </a:xfrm>
          <a:prstGeom prst="rect">
            <a:avLst/>
          </a:prstGeom>
          <a:noFill/>
          <a:ln/>
        </p:spPr>
        <p:txBody>
          <a:bodyPr wrap="square" lIns="0" tIns="0" rIns="0" bIns="0" rtlCol="0" anchor="t">
            <a:normAutofit/>
          </a:bodyPr>
          <a:lstStyle/>
          <a:p>
            <a:pPr algn="l" indent="0" marL="0">
              <a:lnSpc>
                <a:spcPts val="3622"/>
              </a:lnSpc>
              <a:buNone/>
            </a:pPr>
            <a:r>
              <a:rPr lang="en-US" sz="3150" b="1" i="0" dirty="0">
                <a:solidFill>
                  <a:srgbClr val="14202B"/>
                </a:solidFill>
                <a:latin typeface="IBM Plex Sans" pitchFamily="34" charset="0"/>
                <a:ea typeface="IBM Plex Sans" pitchFamily="34" charset="-122"/>
                <a:cs typeface="IBM Plex Sans" pitchFamily="34" charset="-120"/>
              </a:rPr>
              <a:t>Cada pieza anterior tiene su sucesora</a:t>
            </a:r>
            <a:endParaRPr lang="en-US" sz="31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6616"/>
          <a:ext cx="10553700" cy="3255863"/>
        </p:xfrm>
        <a:graphic>
          <a:graphicData uri="http://schemas.openxmlformats.org/drawingml/2006/table">
            <a:tbl>
              <a:tblPr/>
              <a:tblGrid>
                <a:gridCol w="4854702"/>
                <a:gridCol w="5698998"/>
              </a:tblGrid>
              <a:tr h="325586">
                <a:tc>
                  <a:txBody>
                    <a:bodyPr/>
                    <a:lstStyle/>
                    <a:p>
                      <a:pPr indent="0" marL="0">
                        <a:lnSpc>
                          <a:spcPts val="1643"/>
                        </a:lnSpc>
                        <a:buNone/>
                      </a:pPr>
                      <a:r>
                        <a:rPr lang="en-US" sz="1174" b="1" dirty="0">
                          <a:solidFill>
                            <a:srgbClr val="E39A5F"/>
                          </a:solidFill>
                          <a:latin typeface="IBM Plex Sans" pitchFamily="34" charset="0"/>
                          <a:ea typeface="IBM Plex Sans" pitchFamily="34" charset="-122"/>
                          <a:cs typeface="IBM Plex Sans" pitchFamily="34" charset="-120"/>
                        </a:rPr>
                        <a:t>Antes · OpenSpec y piezas propias</a:t>
                      </a:r>
                      <a:endParaRPr lang="en-US" sz="1174" dirty="0">
                        <a:latin typeface="IBM Plex Sans" charset="0"/>
                        <a:ea typeface="IBM Plex Sans" charset="0"/>
                        <a:cs typeface="IBM Plex Sans" charset="0"/>
                      </a:endParaRPr>
                    </a:p>
                  </a:txBody>
                  <a:tcPr marL="52173" marR="52173" marT="52173" marB="52173" anchor="t">
                    <a:lnL w="12700" cap="flat" cmpd="sng" algn="ctr">
                      <a:solidFill>
                        <a:srgbClr val="C4C4C0"/>
                      </a:solidFill>
                      <a:prstDash val="solid"/>
                      <a:round/>
                      <a:headEnd type="none" w="med" len="med"/>
                      <a:tailEnd type="none" w="med" len="med"/>
                    </a:lnL>
                    <a:lnR w="12700" cap="flat" cmpd="sng" algn="ctr">
                      <a:solidFill>
                        <a:srgbClr val="141D26"/>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41D26"/>
                      </a:solidFill>
                      <a:prstDash val="solid"/>
                      <a:round/>
                      <a:headEnd type="none" w="med" len="med"/>
                      <a:tailEnd type="none" w="med" len="med"/>
                    </a:lnB>
                    <a:solidFill>
                      <a:srgbClr val="14202B"/>
                    </a:solidFill>
                  </a:tcPr>
                </a:tc>
                <a:tc>
                  <a:txBody>
                    <a:bodyPr/>
                    <a:lstStyle/>
                    <a:p>
                      <a:pPr indent="0" marL="0">
                        <a:lnSpc>
                          <a:spcPts val="1643"/>
                        </a:lnSpc>
                        <a:buNone/>
                      </a:pPr>
                      <a:r>
                        <a:rPr lang="en-US" sz="1174" b="1" dirty="0">
                          <a:solidFill>
                            <a:srgbClr val="7FB0E6"/>
                          </a:solidFill>
                          <a:latin typeface="IBM Plex Sans" pitchFamily="34" charset="0"/>
                          <a:ea typeface="IBM Plex Sans" pitchFamily="34" charset="-122"/>
                          <a:cs typeface="IBM Plex Sans" pitchFamily="34" charset="-120"/>
                        </a:rPr>
                        <a:t>Ahora · kit propio</a:t>
                      </a:r>
                      <a:endParaRPr lang="en-US" sz="1174" dirty="0">
                        <a:latin typeface="IBM Plex Sans" charset="0"/>
                        <a:ea typeface="IBM Plex Sans" charset="0"/>
                        <a:cs typeface="IBM Plex Sans" charset="0"/>
                      </a:endParaRPr>
                    </a:p>
                  </a:txBody>
                  <a:tcPr marL="52173" marR="52173" marT="52173" marB="52173" anchor="t">
                    <a:lnL w="12700" cap="flat" cmpd="sng" algn="ctr">
                      <a:solidFill>
                        <a:srgbClr val="141D26"/>
                      </a:solidFill>
                      <a:prstDash val="solid"/>
                      <a:round/>
                      <a:headEnd type="none" w="med" len="med"/>
                      <a:tailEnd type="none" w="med" len="med"/>
                    </a:lnL>
                    <a:lnR w="12700" cap="flat" cmpd="sng" algn="ctr">
                      <a:solidFill>
                        <a:srgbClr val="141D26"/>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41D26"/>
                      </a:solidFill>
                      <a:prstDash val="solid"/>
                      <a:round/>
                      <a:headEnd type="none" w="med" len="med"/>
                      <a:tailEnd type="none" w="med" len="med"/>
                    </a:lnB>
                    <a:solidFill>
                      <a:srgbClr val="14202B"/>
                    </a:solidFill>
                  </a:tcPr>
                </a:tc>
              </a:tr>
              <a:tr h="325586">
                <a:tc>
                  <a:txBody>
                    <a:bodyPr/>
                    <a:lstStyle/>
                    <a:p>
                      <a:pPr indent="0" marL="0">
                        <a:lnSpc>
                          <a:spcPts val="1643"/>
                        </a:lnSpc>
                        <a:buNone/>
                      </a:pPr>
                      <a:r>
                        <a:rPr lang="en-US" sz="1174" dirty="0">
                          <a:solidFill>
                            <a:srgbClr val="4A5568"/>
                          </a:solidFill>
                          <a:latin typeface="IBM Plex Sans" pitchFamily="34" charset="0"/>
                          <a:ea typeface="IBM Plex Sans" pitchFamily="34" charset="-122"/>
                          <a:cs typeface="IBM Plex Sans" pitchFamily="34" charset="-120"/>
                        </a:rPr>
                        <a:t>new-change + continue-change (spec)</a:t>
                      </a:r>
                      <a:endParaRPr lang="en-US" sz="1174" dirty="0">
                        <a:latin typeface="IBM Plex Sans" charset="0"/>
                        <a:ea typeface="IBM Plex Sans" charset="0"/>
                        <a:cs typeface="IBM Plex Sans" charset="0"/>
                      </a:endParaRPr>
                    </a:p>
                  </a:txBody>
                  <a:tcPr marL="52173" marR="52173" marT="52173" marB="52173" anchor="t">
                    <a:lnL w="12700" cap="flat" cmpd="sng" algn="ctr">
                      <a:solidFill>
                        <a:srgbClr val="C4C4C0"/>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41D2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643"/>
                        </a:lnSpc>
                        <a:buNone/>
                      </a:pPr>
                      <a:r>
                        <a:rPr lang="en-US" sz="1174" dirty="0">
                          <a:solidFill>
                            <a:srgbClr val="1F4E86"/>
                          </a:solidFill>
                          <a:latin typeface="IBM Plex Sans" pitchFamily="34" charset="0"/>
                          <a:ea typeface="IBM Plex Sans" pitchFamily="34" charset="-122"/>
                          <a:cs typeface="IBM Plex Sans" pitchFamily="34" charset="-120"/>
                        </a:rPr>
                        <a:t>sdd-explorer → sdd-spec-writer → sdd-spec-reviewer</a:t>
                      </a:r>
                      <a:endParaRPr lang="en-US" sz="1174" dirty="0">
                        <a:latin typeface="IBM Plex Sans" charset="0"/>
                        <a:ea typeface="IBM Plex Sans" charset="0"/>
                        <a:cs typeface="IBM Plex Sans" charset="0"/>
                      </a:endParaRPr>
                    </a:p>
                  </a:txBody>
                  <a:tcPr marL="52173" marR="52173" marT="52173" marB="52173"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141D26"/>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325586">
                <a:tc>
                  <a:txBody>
                    <a:bodyPr/>
                    <a:lstStyle/>
                    <a:p>
                      <a:pPr indent="0" marL="0">
                        <a:lnSpc>
                          <a:spcPts val="1643"/>
                        </a:lnSpc>
                        <a:buNone/>
                      </a:pPr>
                      <a:r>
                        <a:rPr lang="en-US" sz="1174" dirty="0">
                          <a:solidFill>
                            <a:srgbClr val="4A5568"/>
                          </a:solidFill>
                          <a:latin typeface="IBM Plex Sans" pitchFamily="34" charset="0"/>
                          <a:ea typeface="IBM Plex Sans" pitchFamily="34" charset="-122"/>
                          <a:cs typeface="IBM Plex Sans" pitchFamily="34" charset="-120"/>
                        </a:rPr>
                        <a:t>continue-change (design) + architecture-analysis</a:t>
                      </a:r>
                      <a:endParaRPr lang="en-US" sz="1174" dirty="0">
                        <a:latin typeface="IBM Plex Sans" charset="0"/>
                        <a:ea typeface="IBM Plex Sans" charset="0"/>
                        <a:cs typeface="IBM Plex Sans" charset="0"/>
                      </a:endParaRPr>
                    </a:p>
                  </a:txBody>
                  <a:tcPr marL="52173" marR="52173" marT="52173" marB="52173" anchor="t">
                    <a:lnL w="12700" cap="flat" cmpd="sng" algn="ctr">
                      <a:solidFill>
                        <a:srgbClr val="C4C4C0"/>
                      </a:solidFill>
                      <a:prstDash val="solid"/>
                      <a:round/>
                      <a:headEnd type="none" w="med" len="med"/>
                      <a:tailEnd type="none" w="med" len="med"/>
                    </a:lnL>
                    <a:lnR w="12700" cap="flat" cmpd="sng" algn="ctr">
                      <a:solidFill>
                        <a:srgbClr val="C0BEB9"/>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EB9"/>
                      </a:solidFill>
                      <a:prstDash val="solid"/>
                      <a:round/>
                      <a:headEnd type="none" w="med" len="med"/>
                      <a:tailEnd type="none" w="med" len="med"/>
                    </a:lnB>
                    <a:solidFill>
                      <a:srgbClr val="F0EEE8"/>
                    </a:solidFill>
                  </a:tcPr>
                </a:tc>
                <a:tc>
                  <a:txBody>
                    <a:bodyPr/>
                    <a:lstStyle/>
                    <a:p>
                      <a:pPr indent="0" marL="0">
                        <a:lnSpc>
                          <a:spcPts val="1643"/>
                        </a:lnSpc>
                        <a:buNone/>
                      </a:pPr>
                      <a:r>
                        <a:rPr lang="en-US" sz="1174" dirty="0">
                          <a:solidFill>
                            <a:srgbClr val="1F4E86"/>
                          </a:solidFill>
                          <a:latin typeface="IBM Plex Sans" pitchFamily="34" charset="0"/>
                          <a:ea typeface="IBM Plex Sans" pitchFamily="34" charset="-122"/>
                          <a:cs typeface="IBM Plex Sans" pitchFamily="34" charset="-120"/>
                        </a:rPr>
                        <a:t>sdd-architect + listas de diseño Angular y .NET</a:t>
                      </a:r>
                      <a:endParaRPr lang="en-US" sz="1174" dirty="0">
                        <a:latin typeface="IBM Plex Sans" charset="0"/>
                        <a:ea typeface="IBM Plex Sans" charset="0"/>
                        <a:cs typeface="IBM Plex Sans" charset="0"/>
                      </a:endParaRPr>
                    </a:p>
                  </a:txBody>
                  <a:tcPr marL="52173" marR="52173" marT="52173" marB="52173" anchor="t">
                    <a:lnL w="12700" cap="flat" cmpd="sng" algn="ctr">
                      <a:solidFill>
                        <a:srgbClr val="C0BEB9"/>
                      </a:solidFill>
                      <a:prstDash val="solid"/>
                      <a:round/>
                      <a:headEnd type="none" w="med" len="med"/>
                      <a:tailEnd type="none" w="med" len="med"/>
                    </a:lnL>
                    <a:lnR w="12700" cap="flat" cmpd="sng" algn="ctr">
                      <a:solidFill>
                        <a:srgbClr val="C0BEB9"/>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EB9"/>
                      </a:solidFill>
                      <a:prstDash val="solid"/>
                      <a:round/>
                      <a:headEnd type="none" w="med" len="med"/>
                      <a:tailEnd type="none" w="med" len="med"/>
                    </a:lnB>
                    <a:solidFill>
                      <a:srgbClr val="F0EEE8"/>
                    </a:solidFill>
                  </a:tcPr>
                </a:tc>
              </a:tr>
              <a:tr h="325586">
                <a:tc>
                  <a:txBody>
                    <a:bodyPr/>
                    <a:lstStyle/>
                    <a:p>
                      <a:pPr indent="0" marL="0">
                        <a:lnSpc>
                          <a:spcPts val="1643"/>
                        </a:lnSpc>
                        <a:buNone/>
                      </a:pPr>
                      <a:r>
                        <a:rPr lang="en-US" sz="1174" dirty="0">
                          <a:solidFill>
                            <a:srgbClr val="4A5568"/>
                          </a:solidFill>
                          <a:latin typeface="IBM Plex Sans" pitchFamily="34" charset="0"/>
                          <a:ea typeface="IBM Plex Sans" pitchFamily="34" charset="-122"/>
                          <a:cs typeface="IBM Plex Sans" pitchFamily="34" charset="-120"/>
                        </a:rPr>
                        <a:t>continue-change (tasks)</a:t>
                      </a:r>
                      <a:endParaRPr lang="en-US" sz="1174" dirty="0">
                        <a:latin typeface="IBM Plex Sans" charset="0"/>
                        <a:ea typeface="IBM Plex Sans" charset="0"/>
                        <a:cs typeface="IBM Plex Sans" charset="0"/>
                      </a:endParaRPr>
                    </a:p>
                  </a:txBody>
                  <a:tcPr marL="52173" marR="52173" marT="52173" marB="52173" anchor="t">
                    <a:lnL w="12700" cap="flat" cmpd="sng" algn="ctr">
                      <a:solidFill>
                        <a:srgbClr val="C4C4C0"/>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0BEB9"/>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643"/>
                        </a:lnSpc>
                        <a:buNone/>
                      </a:pPr>
                      <a:r>
                        <a:rPr lang="en-US" sz="1174" dirty="0">
                          <a:solidFill>
                            <a:srgbClr val="1F4E86"/>
                          </a:solidFill>
                          <a:latin typeface="IBM Plex Sans" pitchFamily="34" charset="0"/>
                          <a:ea typeface="IBM Plex Sans" pitchFamily="34" charset="-122"/>
                          <a:cs typeface="IBM Plex Sans" pitchFamily="34" charset="-120"/>
                        </a:rPr>
                        <a:t>sdd-task-planner</a:t>
                      </a:r>
                      <a:endParaRPr lang="en-US" sz="1174" dirty="0">
                        <a:latin typeface="IBM Plex Sans" charset="0"/>
                        <a:ea typeface="IBM Plex Sans" charset="0"/>
                        <a:cs typeface="IBM Plex Sans" charset="0"/>
                      </a:endParaRPr>
                    </a:p>
                  </a:txBody>
                  <a:tcPr marL="52173" marR="52173" marT="52173" marB="52173"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0BEB9"/>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325586">
                <a:tc>
                  <a:txBody>
                    <a:bodyPr/>
                    <a:lstStyle/>
                    <a:p>
                      <a:pPr indent="0" marL="0">
                        <a:lnSpc>
                          <a:spcPts val="1643"/>
                        </a:lnSpc>
                        <a:buNone/>
                      </a:pPr>
                      <a:r>
                        <a:rPr lang="en-US" sz="1174" dirty="0">
                          <a:solidFill>
                            <a:srgbClr val="4A5568"/>
                          </a:solidFill>
                          <a:latin typeface="IBM Plex Sans" pitchFamily="34" charset="0"/>
                          <a:ea typeface="IBM Plex Sans" pitchFamily="34" charset="-122"/>
                          <a:cs typeface="IBM Plex Sans" pitchFamily="34" charset="-120"/>
                        </a:rPr>
                        <a:t>Agente tdd-apply</a:t>
                      </a:r>
                      <a:endParaRPr lang="en-US" sz="1174" dirty="0">
                        <a:latin typeface="IBM Plex Sans" charset="0"/>
                        <a:ea typeface="IBM Plex Sans" charset="0"/>
                        <a:cs typeface="IBM Plex Sans" charset="0"/>
                      </a:endParaRPr>
                    </a:p>
                  </a:txBody>
                  <a:tcPr marL="52173" marR="52173" marT="52173" marB="52173" anchor="t">
                    <a:lnL w="12700" cap="flat" cmpd="sng" algn="ctr">
                      <a:solidFill>
                        <a:srgbClr val="C4C4C0"/>
                      </a:solidFill>
                      <a:prstDash val="solid"/>
                      <a:round/>
                      <a:headEnd type="none" w="med" len="med"/>
                      <a:tailEnd type="none" w="med" len="med"/>
                    </a:lnL>
                    <a:lnR w="12700" cap="flat" cmpd="sng" algn="ctr">
                      <a:solidFill>
                        <a:srgbClr val="C0BEB9"/>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EB9"/>
                      </a:solidFill>
                      <a:prstDash val="solid"/>
                      <a:round/>
                      <a:headEnd type="none" w="med" len="med"/>
                      <a:tailEnd type="none" w="med" len="med"/>
                    </a:lnB>
                    <a:solidFill>
                      <a:srgbClr val="F0EEE8"/>
                    </a:solidFill>
                  </a:tcPr>
                </a:tc>
                <a:tc>
                  <a:txBody>
                    <a:bodyPr/>
                    <a:lstStyle/>
                    <a:p>
                      <a:pPr indent="0" marL="0">
                        <a:lnSpc>
                          <a:spcPts val="1643"/>
                        </a:lnSpc>
                        <a:buNone/>
                      </a:pPr>
                      <a:r>
                        <a:rPr lang="en-US" sz="1174" dirty="0">
                          <a:solidFill>
                            <a:srgbClr val="1F4E86"/>
                          </a:solidFill>
                          <a:latin typeface="IBM Plex Sans" pitchFamily="34" charset="0"/>
                          <a:ea typeface="IBM Plex Sans" pitchFamily="34" charset="-122"/>
                          <a:cs typeface="IBM Plex Sans" pitchFamily="34" charset="-120"/>
                        </a:rPr>
                        <a:t>tdd-test-author (RED) + tdd-implementer (GREEN)</a:t>
                      </a:r>
                      <a:endParaRPr lang="en-US" sz="1174" dirty="0">
                        <a:latin typeface="IBM Plex Sans" charset="0"/>
                        <a:ea typeface="IBM Plex Sans" charset="0"/>
                        <a:cs typeface="IBM Plex Sans" charset="0"/>
                      </a:endParaRPr>
                    </a:p>
                  </a:txBody>
                  <a:tcPr marL="52173" marR="52173" marT="52173" marB="52173" anchor="t">
                    <a:lnL w="12700" cap="flat" cmpd="sng" algn="ctr">
                      <a:solidFill>
                        <a:srgbClr val="C0BEB9"/>
                      </a:solidFill>
                      <a:prstDash val="solid"/>
                      <a:round/>
                      <a:headEnd type="none" w="med" len="med"/>
                      <a:tailEnd type="none" w="med" len="med"/>
                    </a:lnL>
                    <a:lnR w="12700" cap="flat" cmpd="sng" algn="ctr">
                      <a:solidFill>
                        <a:srgbClr val="C0BEB9"/>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EB9"/>
                      </a:solidFill>
                      <a:prstDash val="solid"/>
                      <a:round/>
                      <a:headEnd type="none" w="med" len="med"/>
                      <a:tailEnd type="none" w="med" len="med"/>
                    </a:lnB>
                    <a:solidFill>
                      <a:srgbClr val="F0EEE8"/>
                    </a:solidFill>
                  </a:tcPr>
                </a:tc>
              </a:tr>
              <a:tr h="325586">
                <a:tc>
                  <a:txBody>
                    <a:bodyPr/>
                    <a:lstStyle/>
                    <a:p>
                      <a:pPr indent="0" marL="0">
                        <a:lnSpc>
                          <a:spcPts val="1643"/>
                        </a:lnSpc>
                        <a:buNone/>
                      </a:pPr>
                      <a:r>
                        <a:rPr lang="en-US" sz="1174" dirty="0">
                          <a:solidFill>
                            <a:srgbClr val="4A5568"/>
                          </a:solidFill>
                          <a:latin typeface="IBM Plex Sans" pitchFamily="34" charset="0"/>
                          <a:ea typeface="IBM Plex Sans" pitchFamily="34" charset="-122"/>
                          <a:cs typeface="IBM Plex Sans" pitchFamily="34" charset="-120"/>
                        </a:rPr>
                        <a:t>Agente code-review</a:t>
                      </a:r>
                      <a:endParaRPr lang="en-US" sz="1174" dirty="0">
                        <a:latin typeface="IBM Plex Sans" charset="0"/>
                        <a:ea typeface="IBM Plex Sans" charset="0"/>
                        <a:cs typeface="IBM Plex Sans" charset="0"/>
                      </a:endParaRPr>
                    </a:p>
                  </a:txBody>
                  <a:tcPr marL="52173" marR="52173" marT="52173" marB="52173" anchor="t">
                    <a:lnL w="12700" cap="flat" cmpd="sng" algn="ctr">
                      <a:solidFill>
                        <a:srgbClr val="C4C4C0"/>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0BEB9"/>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643"/>
                        </a:lnSpc>
                        <a:buNone/>
                      </a:pPr>
                      <a:r>
                        <a:rPr lang="en-US" sz="1174" dirty="0">
                          <a:solidFill>
                            <a:srgbClr val="1F4E86"/>
                          </a:solidFill>
                          <a:latin typeface="IBM Plex Sans" pitchFamily="34" charset="0"/>
                          <a:ea typeface="IBM Plex Sans" pitchFamily="34" charset="-122"/>
                          <a:cs typeface="IBM Plex Sans" pitchFamily="34" charset="-120"/>
                        </a:rPr>
                        <a:t>code-reviewer + reglas críticas de .NET y Angular</a:t>
                      </a:r>
                      <a:endParaRPr lang="en-US" sz="1174" dirty="0">
                        <a:latin typeface="IBM Plex Sans" charset="0"/>
                        <a:ea typeface="IBM Plex Sans" charset="0"/>
                        <a:cs typeface="IBM Plex Sans" charset="0"/>
                      </a:endParaRPr>
                    </a:p>
                  </a:txBody>
                  <a:tcPr marL="52173" marR="52173" marT="52173" marB="52173"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0BEB9"/>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325586">
                <a:tc>
                  <a:txBody>
                    <a:bodyPr/>
                    <a:lstStyle/>
                    <a:p>
                      <a:pPr indent="0" marL="0">
                        <a:lnSpc>
                          <a:spcPts val="1643"/>
                        </a:lnSpc>
                        <a:buNone/>
                      </a:pPr>
                      <a:r>
                        <a:rPr lang="en-US" sz="1174" dirty="0">
                          <a:solidFill>
                            <a:srgbClr val="4A5568"/>
                          </a:solidFill>
                          <a:latin typeface="IBM Plex Sans" pitchFamily="34" charset="0"/>
                          <a:ea typeface="IBM Plex Sans" pitchFamily="34" charset="-122"/>
                          <a:cs typeface="IBM Plex Sans" pitchFamily="34" charset="-120"/>
                        </a:rPr>
                        <a:t>verify-change + skill strict-verify</a:t>
                      </a:r>
                      <a:endParaRPr lang="en-US" sz="1174" dirty="0">
                        <a:latin typeface="IBM Plex Sans" charset="0"/>
                        <a:ea typeface="IBM Plex Sans" charset="0"/>
                        <a:cs typeface="IBM Plex Sans" charset="0"/>
                      </a:endParaRPr>
                    </a:p>
                  </a:txBody>
                  <a:tcPr marL="52173" marR="52173" marT="52173" marB="52173" anchor="t">
                    <a:lnL w="12700" cap="flat" cmpd="sng" algn="ctr">
                      <a:solidFill>
                        <a:srgbClr val="C4C4C0"/>
                      </a:solidFill>
                      <a:prstDash val="solid"/>
                      <a:round/>
                      <a:headEnd type="none" w="med" len="med"/>
                      <a:tailEnd type="none" w="med" len="med"/>
                    </a:lnL>
                    <a:lnR w="12700" cap="flat" cmpd="sng" algn="ctr">
                      <a:solidFill>
                        <a:srgbClr val="C0BEB9"/>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EB9"/>
                      </a:solidFill>
                      <a:prstDash val="solid"/>
                      <a:round/>
                      <a:headEnd type="none" w="med" len="med"/>
                      <a:tailEnd type="none" w="med" len="med"/>
                    </a:lnB>
                    <a:solidFill>
                      <a:srgbClr val="F0EEE8"/>
                    </a:solidFill>
                  </a:tcPr>
                </a:tc>
                <a:tc>
                  <a:txBody>
                    <a:bodyPr/>
                    <a:lstStyle/>
                    <a:p>
                      <a:pPr indent="0" marL="0">
                        <a:lnSpc>
                          <a:spcPts val="1643"/>
                        </a:lnSpc>
                        <a:buNone/>
                      </a:pPr>
                      <a:r>
                        <a:rPr lang="en-US" sz="1174" dirty="0">
                          <a:solidFill>
                            <a:srgbClr val="1F4E86"/>
                          </a:solidFill>
                          <a:latin typeface="IBM Plex Sans" pitchFamily="34" charset="0"/>
                          <a:ea typeface="IBM Plex Sans" pitchFamily="34" charset="-122"/>
                          <a:cs typeface="IBM Plex Sans" pitchFamily="34" charset="-120"/>
                        </a:rPr>
                        <a:t>sdd-verifier + skill strict-verification</a:t>
                      </a:r>
                      <a:endParaRPr lang="en-US" sz="1174" dirty="0">
                        <a:latin typeface="IBM Plex Sans" charset="0"/>
                        <a:ea typeface="IBM Plex Sans" charset="0"/>
                        <a:cs typeface="IBM Plex Sans" charset="0"/>
                      </a:endParaRPr>
                    </a:p>
                  </a:txBody>
                  <a:tcPr marL="52173" marR="52173" marT="52173" marB="52173" anchor="t">
                    <a:lnL w="12700" cap="flat" cmpd="sng" algn="ctr">
                      <a:solidFill>
                        <a:srgbClr val="C0BEB9"/>
                      </a:solidFill>
                      <a:prstDash val="solid"/>
                      <a:round/>
                      <a:headEnd type="none" w="med" len="med"/>
                      <a:tailEnd type="none" w="med" len="med"/>
                    </a:lnL>
                    <a:lnR w="12700" cap="flat" cmpd="sng" algn="ctr">
                      <a:solidFill>
                        <a:srgbClr val="C0BEB9"/>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EB9"/>
                      </a:solidFill>
                      <a:prstDash val="solid"/>
                      <a:round/>
                      <a:headEnd type="none" w="med" len="med"/>
                      <a:tailEnd type="none" w="med" len="med"/>
                    </a:lnB>
                    <a:solidFill>
                      <a:srgbClr val="F0EEE8"/>
                    </a:solidFill>
                  </a:tcPr>
                </a:tc>
              </a:tr>
              <a:tr h="325586">
                <a:tc>
                  <a:txBody>
                    <a:bodyPr/>
                    <a:lstStyle/>
                    <a:p>
                      <a:pPr indent="0" marL="0">
                        <a:lnSpc>
                          <a:spcPts val="1643"/>
                        </a:lnSpc>
                        <a:buNone/>
                      </a:pPr>
                      <a:r>
                        <a:rPr lang="en-US" sz="1174" dirty="0">
                          <a:solidFill>
                            <a:srgbClr val="4A5568"/>
                          </a:solidFill>
                          <a:latin typeface="IBM Plex Sans" pitchFamily="34" charset="0"/>
                          <a:ea typeface="IBM Plex Sans" pitchFamily="34" charset="-122"/>
                          <a:cs typeface="IBM Plex Sans" pitchFamily="34" charset="-120"/>
                        </a:rPr>
                        <a:t>archive-change</a:t>
                      </a:r>
                      <a:endParaRPr lang="en-US" sz="1174" dirty="0">
                        <a:latin typeface="IBM Plex Sans" charset="0"/>
                        <a:ea typeface="IBM Plex Sans" charset="0"/>
                        <a:cs typeface="IBM Plex Sans" charset="0"/>
                      </a:endParaRPr>
                    </a:p>
                  </a:txBody>
                  <a:tcPr marL="52173" marR="52173" marT="52173" marB="52173" anchor="t">
                    <a:lnL w="12700" cap="flat" cmpd="sng" algn="ctr">
                      <a:solidFill>
                        <a:srgbClr val="C4C4C0"/>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0BEB9"/>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643"/>
                        </a:lnSpc>
                        <a:buNone/>
                      </a:pPr>
                      <a:r>
                        <a:rPr lang="en-US" sz="1174" dirty="0">
                          <a:solidFill>
                            <a:srgbClr val="1F4E86"/>
                          </a:solidFill>
                          <a:latin typeface="IBM Plex Sans" pitchFamily="34" charset="0"/>
                          <a:ea typeface="IBM Plex Sans" pitchFamily="34" charset="-122"/>
                          <a:cs typeface="IBM Plex Sans" pitchFamily="34" charset="-120"/>
                        </a:rPr>
                        <a:t>sdd-archivist</a:t>
                      </a:r>
                      <a:endParaRPr lang="en-US" sz="1174" dirty="0">
                        <a:latin typeface="IBM Plex Sans" charset="0"/>
                        <a:ea typeface="IBM Plex Sans" charset="0"/>
                        <a:cs typeface="IBM Plex Sans" charset="0"/>
                      </a:endParaRPr>
                    </a:p>
                  </a:txBody>
                  <a:tcPr marL="52173" marR="52173" marT="52173" marB="52173"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0BEB9"/>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r h="325586">
                <a:tc>
                  <a:txBody>
                    <a:bodyPr/>
                    <a:lstStyle/>
                    <a:p>
                      <a:pPr indent="0" marL="0">
                        <a:lnSpc>
                          <a:spcPts val="1643"/>
                        </a:lnSpc>
                        <a:buNone/>
                      </a:pPr>
                      <a:r>
                        <a:rPr lang="en-US" sz="1174" dirty="0">
                          <a:solidFill>
                            <a:srgbClr val="4A5568"/>
                          </a:solidFill>
                          <a:latin typeface="IBM Plex Sans" pitchFamily="34" charset="0"/>
                          <a:ea typeface="IBM Plex Sans" pitchFamily="34" charset="-122"/>
                          <a:cs typeface="IBM Plex Sans" pitchFamily="34" charset="-120"/>
                        </a:rPr>
                        <a:t>config.yaml + copilot-instructions.md</a:t>
                      </a:r>
                      <a:endParaRPr lang="en-US" sz="1174" dirty="0">
                        <a:latin typeface="IBM Plex Sans" charset="0"/>
                        <a:ea typeface="IBM Plex Sans" charset="0"/>
                        <a:cs typeface="IBM Plex Sans" charset="0"/>
                      </a:endParaRPr>
                    </a:p>
                  </a:txBody>
                  <a:tcPr marL="52173" marR="52173" marT="52173" marB="52173" anchor="t">
                    <a:lnL w="12700" cap="flat" cmpd="sng" algn="ctr">
                      <a:solidFill>
                        <a:srgbClr val="C4C4C0"/>
                      </a:solidFill>
                      <a:prstDash val="solid"/>
                      <a:round/>
                      <a:headEnd type="none" w="med" len="med"/>
                      <a:tailEnd type="none" w="med" len="med"/>
                    </a:lnL>
                    <a:lnR w="12700" cap="flat" cmpd="sng" algn="ctr">
                      <a:solidFill>
                        <a:srgbClr val="C0BEB9"/>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EB9"/>
                      </a:solidFill>
                      <a:prstDash val="solid"/>
                      <a:round/>
                      <a:headEnd type="none" w="med" len="med"/>
                      <a:tailEnd type="none" w="med" len="med"/>
                    </a:lnB>
                    <a:solidFill>
                      <a:srgbClr val="F0EEE8"/>
                    </a:solidFill>
                  </a:tcPr>
                </a:tc>
                <a:tc>
                  <a:txBody>
                    <a:bodyPr/>
                    <a:lstStyle/>
                    <a:p>
                      <a:pPr indent="0" marL="0">
                        <a:lnSpc>
                          <a:spcPts val="1643"/>
                        </a:lnSpc>
                        <a:buNone/>
                      </a:pPr>
                      <a:r>
                        <a:rPr lang="en-US" sz="1174" dirty="0">
                          <a:solidFill>
                            <a:srgbClr val="1F4E86"/>
                          </a:solidFill>
                          <a:latin typeface="IBM Plex Sans" pitchFamily="34" charset="0"/>
                          <a:ea typeface="IBM Plex Sans" pitchFamily="34" charset="-122"/>
                          <a:cs typeface="IBM Plex Sans" pitchFamily="34" charset="-120"/>
                        </a:rPr>
                        <a:t>AGENTS.md + constitución + instrucciones por patrón</a:t>
                      </a:r>
                      <a:endParaRPr lang="en-US" sz="1174" dirty="0">
                        <a:latin typeface="IBM Plex Sans" charset="0"/>
                        <a:ea typeface="IBM Plex Sans" charset="0"/>
                        <a:cs typeface="IBM Plex Sans" charset="0"/>
                      </a:endParaRPr>
                    </a:p>
                  </a:txBody>
                  <a:tcPr marL="52173" marR="52173" marT="52173" marB="52173" anchor="t">
                    <a:lnL w="12700" cap="flat" cmpd="sng" algn="ctr">
                      <a:solidFill>
                        <a:srgbClr val="C0BEB9"/>
                      </a:solidFill>
                      <a:prstDash val="solid"/>
                      <a:round/>
                      <a:headEnd type="none" w="med" len="med"/>
                      <a:tailEnd type="none" w="med" len="med"/>
                    </a:lnL>
                    <a:lnR w="12700" cap="flat" cmpd="sng" algn="ctr">
                      <a:solidFill>
                        <a:srgbClr val="C0BEB9"/>
                      </a:solidFill>
                      <a:prstDash val="solid"/>
                      <a:round/>
                      <a:headEnd type="none" w="med" len="med"/>
                      <a:tailEnd type="none" w="med" len="med"/>
                    </a:lnR>
                    <a:lnT w="12700" cap="flat" cmpd="sng" algn="ctr">
                      <a:solidFill>
                        <a:srgbClr val="C9C8C6"/>
                      </a:solidFill>
                      <a:prstDash val="solid"/>
                      <a:round/>
                      <a:headEnd type="none" w="med" len="med"/>
                      <a:tailEnd type="none" w="med" len="med"/>
                    </a:lnT>
                    <a:lnB w="12700" cap="flat" cmpd="sng" algn="ctr">
                      <a:solidFill>
                        <a:srgbClr val="C0BEB9"/>
                      </a:solidFill>
                      <a:prstDash val="solid"/>
                      <a:round/>
                      <a:headEnd type="none" w="med" len="med"/>
                      <a:tailEnd type="none" w="med" len="med"/>
                    </a:lnB>
                    <a:solidFill>
                      <a:srgbClr val="F0EEE8"/>
                    </a:solidFill>
                  </a:tcPr>
                </a:tc>
              </a:tr>
              <a:tr h="325586">
                <a:tc>
                  <a:txBody>
                    <a:bodyPr/>
                    <a:lstStyle/>
                    <a:p>
                      <a:pPr indent="0" marL="0">
                        <a:lnSpc>
                          <a:spcPts val="1643"/>
                        </a:lnSpc>
                        <a:buNone/>
                      </a:pPr>
                      <a:r>
                        <a:rPr lang="en-US" sz="1174" dirty="0">
                          <a:solidFill>
                            <a:srgbClr val="4A5568"/>
                          </a:solidFill>
                          <a:latin typeface="IBM Plex Sans" pitchFamily="34" charset="0"/>
                          <a:ea typeface="IBM Plex Sans" pitchFamily="34" charset="-122"/>
                          <a:cs typeface="IBM Plex Sans" pitchFamily="34" charset="-120"/>
                        </a:rPr>
                        <a:t>backend-questions.md (BQ-n)</a:t>
                      </a:r>
                      <a:endParaRPr lang="en-US" sz="1174" dirty="0">
                        <a:latin typeface="IBM Plex Sans" charset="0"/>
                        <a:ea typeface="IBM Plex Sans" charset="0"/>
                        <a:cs typeface="IBM Plex Sans" charset="0"/>
                      </a:endParaRPr>
                    </a:p>
                  </a:txBody>
                  <a:tcPr marL="52173" marR="52173" marT="52173" marB="52173" anchor="t">
                    <a:lnL w="12700" cap="flat" cmpd="sng" algn="ctr">
                      <a:solidFill>
                        <a:srgbClr val="C4C4C0"/>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0BEB9"/>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c>
                  <a:txBody>
                    <a:bodyPr/>
                    <a:lstStyle/>
                    <a:p>
                      <a:pPr indent="0" marL="0">
                        <a:lnSpc>
                          <a:spcPts val="1643"/>
                        </a:lnSpc>
                        <a:buNone/>
                      </a:pPr>
                      <a:r>
                        <a:rPr lang="en-US" sz="1174" dirty="0">
                          <a:solidFill>
                            <a:srgbClr val="1F4E86"/>
                          </a:solidFill>
                          <a:latin typeface="IBM Plex Sans" pitchFamily="34" charset="0"/>
                          <a:ea typeface="IBM Plex Sans" pitchFamily="34" charset="-122"/>
                          <a:cs typeface="IBM Plex Sans" pitchFamily="34" charset="-120"/>
                        </a:rPr>
                        <a:t>Preguntas EXT-nn dentro de plan.md</a:t>
                      </a:r>
                      <a:endParaRPr lang="en-US" sz="1174" dirty="0">
                        <a:latin typeface="IBM Plex Sans" charset="0"/>
                        <a:ea typeface="IBM Plex Sans" charset="0"/>
                        <a:cs typeface="IBM Plex Sans" charset="0"/>
                      </a:endParaRPr>
                    </a:p>
                  </a:txBody>
                  <a:tcPr marL="52173" marR="52173" marT="52173" marB="52173" anchor="t">
                    <a:lnL w="12700" cap="flat" cmpd="sng" algn="ctr">
                      <a:solidFill>
                        <a:srgbClr val="C9C8C6"/>
                      </a:solidFill>
                      <a:prstDash val="solid"/>
                      <a:round/>
                      <a:headEnd type="none" w="med" len="med"/>
                      <a:tailEnd type="none" w="med" len="med"/>
                    </a:lnL>
                    <a:lnR w="12700" cap="flat" cmpd="sng" algn="ctr">
                      <a:solidFill>
                        <a:srgbClr val="C9C8C6"/>
                      </a:solidFill>
                      <a:prstDash val="solid"/>
                      <a:round/>
                      <a:headEnd type="none" w="med" len="med"/>
                      <a:tailEnd type="none" w="med" len="med"/>
                    </a:lnR>
                    <a:lnT w="12700" cap="flat" cmpd="sng" algn="ctr">
                      <a:solidFill>
                        <a:srgbClr val="C0BEB9"/>
                      </a:solidFill>
                      <a:prstDash val="solid"/>
                      <a:round/>
                      <a:headEnd type="none" w="med" len="med"/>
                      <a:tailEnd type="none" w="med" len="med"/>
                    </a:lnT>
                    <a:lnB w="12700" cap="flat" cmpd="sng" algn="ctr">
                      <a:solidFill>
                        <a:srgbClr val="C9C8C6"/>
                      </a:solidFill>
                      <a:prstDash val="solid"/>
                      <a:round/>
                      <a:headEnd type="none" w="med" len="med"/>
                      <a:tailEnd type="none" w="med" len="med"/>
                    </a:lnB>
                    <a:solidFill>
                      <a:srgbClr val="FCFBF8"/>
                    </a:solidFill>
                  </a:tcPr>
                </a:tc>
              </a:tr>
            </a:tbl>
          </a:graphicData>
        </a:graphic>
      </p:graphicFrame>
      <p:sp>
        <p:nvSpPr>
          <p:cNvPr id="5" name="Text 2"/>
          <p:cNvSpPr/>
          <p:nvPr/>
        </p:nvSpPr>
        <p:spPr>
          <a:xfrm>
            <a:off x="812800" y="5354985"/>
            <a:ext cx="10883392" cy="512415"/>
          </a:xfrm>
          <a:prstGeom prst="rect">
            <a:avLst/>
          </a:prstGeom>
          <a:noFill/>
          <a:ln/>
        </p:spPr>
        <p:txBody>
          <a:bodyPr wrap="square" lIns="0" tIns="0" rIns="0" bIns="0" rtlCol="0" anchor="t">
            <a:normAutofit/>
          </a:bodyPr>
          <a:lstStyle/>
          <a:p>
            <a:pPr algn="l" indent="0" marL="0">
              <a:lnSpc>
                <a:spcPts val="1936"/>
              </a:lnSpc>
              <a:buNone/>
            </a:pPr>
            <a:r>
              <a:rPr lang="en-US" sz="1383" b="1" dirty="0">
                <a:solidFill>
                  <a:srgbClr val="4A5568"/>
                </a:solidFill>
                <a:latin typeface="IBM Plex Sans" pitchFamily="34" charset="0"/>
                <a:ea typeface="IBM Plex Sans" pitchFamily="34" charset="-122"/>
                <a:cs typeface="IBM Plex Sans" pitchFamily="34" charset="-120"/>
              </a:rPr>
              <a:t>Se mantiene:</a:t>
            </a:r>
            <a:r>
              <a:rPr lang="en-US" sz="1383" dirty="0">
                <a:solidFill>
                  <a:srgbClr val="4A5568"/>
                </a:solidFill>
                <a:latin typeface="IBM Plex Sans" pitchFamily="34" charset="0"/>
                <a:ea typeface="IBM Plex Sans" pitchFamily="34" charset="-122"/>
                <a:cs typeface="IBM Plex Sans" pitchFamily="34" charset="-120"/>
              </a:rPr>
              <a:t> gates de spec y diseño · rama antes de la propuesta (feature/ desde dev) · cuatro momentos de commit con Refs · Conventional Commits.</a:t>
            </a:r>
            <a:endParaRPr lang="en-US" sz="1383" dirty="0"/>
          </a:p>
        </p:txBody>
      </p:sp>
      <p:sp>
        <p:nvSpPr>
          <p:cNvPr id="6" name="Text 3"/>
          <p:cNvSpPr/>
          <p:nvPr/>
        </p:nvSpPr>
        <p:spPr>
          <a:xfrm>
            <a:off x="812800" y="6238280"/>
            <a:ext cx="47183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079"/>
                </a:solidFill>
                <a:latin typeface="JetBrains Mono" pitchFamily="49" charset="0"/>
                <a:ea typeface="JetBrains Mono" pitchFamily="49" charset="-122"/>
                <a:cs typeface="JetBrains Mono" pitchFamily="49" charset="-120"/>
              </a:rPr>
              <a:t>De OpenSpec a un sistema multiagente propio</a:t>
            </a:r>
            <a:endParaRPr lang="en-US" sz="1200" dirty="0"/>
          </a:p>
        </p:txBody>
      </p:sp>
      <p:sp>
        <p:nvSpPr>
          <p:cNvPr id="7" name="Text 4"/>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079"/>
                </a:solidFill>
                <a:latin typeface="JetBrains Mono" pitchFamily="49" charset="0"/>
                <a:ea typeface="JetBrains Mono" pitchFamily="49" charset="-122"/>
                <a:cs typeface="JetBrains Mono" pitchFamily="49"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F6FB5"/>
                </a:solidFill>
                <a:latin typeface="JetBrains Mono" pitchFamily="49" charset="0"/>
                <a:ea typeface="JetBrains Mono" pitchFamily="49" charset="-122"/>
                <a:cs typeface="JetBrains Mono" pitchFamily="49" charset="-120"/>
              </a:rPr>
              <a:t>ADOPCIÓN</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IBM Plex Sans" pitchFamily="34" charset="0"/>
                <a:ea typeface="IBM Plex Sans" pitchFamily="34" charset="-122"/>
                <a:cs typeface="IBM Plex Sans" pitchFamily="34" charset="-120"/>
              </a:rPr>
              <a:t>Cómo se usa en el día a día</a:t>
            </a:r>
            <a:endParaRPr lang="en-US" sz="3200" dirty="0"/>
          </a:p>
        </p:txBody>
      </p:sp>
      <p:sp>
        <p:nvSpPr>
          <p:cNvPr id="4" name="Shape 2"/>
          <p:cNvSpPr/>
          <p:nvPr/>
        </p:nvSpPr>
        <p:spPr>
          <a:xfrm>
            <a:off x="815975" y="1953816"/>
            <a:ext cx="3380284" cy="2683222"/>
          </a:xfrm>
          <a:prstGeom prst="roundRect">
            <a:avLst>
              <a:gd name="adj" fmla="val 3668"/>
            </a:avLst>
          </a:prstGeom>
          <a:solidFill>
            <a:srgbClr val="FCFBF8"/>
          </a:solidFill>
          <a:ln w="6350">
            <a:solidFill>
              <a:srgbClr val="DEDAD1"/>
            </a:solidFill>
            <a:prstDash val="solid"/>
          </a:ln>
        </p:spPr>
      </p:sp>
      <p:sp>
        <p:nvSpPr>
          <p:cNvPr id="5" name="Text 3"/>
          <p:cNvSpPr/>
          <p:nvPr/>
        </p:nvSpPr>
        <p:spPr>
          <a:xfrm>
            <a:off x="1022350" y="2160191"/>
            <a:ext cx="30565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079"/>
                </a:solidFill>
                <a:latin typeface="JetBrains Mono" pitchFamily="49" charset="0"/>
                <a:ea typeface="JetBrains Mono" pitchFamily="49" charset="-122"/>
                <a:cs typeface="JetBrains Mono" pitchFamily="49" charset="-120"/>
              </a:rPr>
              <a:t>UNA VEZ POR REPOSITORIO</a:t>
            </a:r>
            <a:endParaRPr lang="en-US" sz="1200" dirty="0"/>
          </a:p>
        </p:txBody>
      </p:sp>
      <p:sp>
        <p:nvSpPr>
          <p:cNvPr id="6" name="Text 4"/>
          <p:cNvSpPr/>
          <p:nvPr/>
        </p:nvSpPr>
        <p:spPr>
          <a:xfrm>
            <a:off x="1022350" y="2500511"/>
            <a:ext cx="305656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4E86"/>
                </a:solidFill>
                <a:latin typeface="JetBrains Mono" pitchFamily="49" charset="0"/>
                <a:ea typeface="JetBrains Mono" pitchFamily="49" charset="-122"/>
                <a:cs typeface="JetBrains Mono" pitchFamily="49" charset="-120"/>
              </a:rPr>
              <a:t>/sdd-init</a:t>
            </a:r>
            <a:endParaRPr lang="en-US" sz="1400" dirty="0"/>
          </a:p>
        </p:txBody>
      </p:sp>
      <p:sp>
        <p:nvSpPr>
          <p:cNvPr id="7" name="Text 5"/>
          <p:cNvSpPr/>
          <p:nvPr/>
        </p:nvSpPr>
        <p:spPr>
          <a:xfrm>
            <a:off x="1022350" y="2774801"/>
            <a:ext cx="30565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Completa AGENTS.md, MEMORY.md y la política del hook con datos reales</a:t>
            </a:r>
            <a:endParaRPr lang="en-US" sz="1200" dirty="0"/>
          </a:p>
        </p:txBody>
      </p:sp>
      <p:sp>
        <p:nvSpPr>
          <p:cNvPr id="8" name="Text 6"/>
          <p:cNvSpPr/>
          <p:nvPr/>
        </p:nvSpPr>
        <p:spPr>
          <a:xfrm>
            <a:off x="1022350" y="3328442"/>
            <a:ext cx="305656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4E86"/>
                </a:solidFill>
                <a:latin typeface="JetBrains Mono" pitchFamily="49" charset="0"/>
                <a:ea typeface="JetBrains Mono" pitchFamily="49" charset="-122"/>
                <a:cs typeface="JetBrains Mono" pitchFamily="49" charset="-120"/>
              </a:rPr>
              <a:t>/sdd-constitution</a:t>
            </a:r>
            <a:endParaRPr lang="en-US" sz="1400" dirty="0"/>
          </a:p>
        </p:txBody>
      </p:sp>
      <p:sp>
        <p:nvSpPr>
          <p:cNvPr id="9" name="Text 7"/>
          <p:cNvSpPr/>
          <p:nvPr/>
        </p:nvSpPr>
        <p:spPr>
          <a:xfrm>
            <a:off x="1022350" y="3602732"/>
            <a:ext cx="30565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Propone los principios innegociables; tú los ratificas</a:t>
            </a:r>
            <a:endParaRPr lang="en-US" sz="1200" dirty="0"/>
          </a:p>
        </p:txBody>
      </p:sp>
      <p:sp>
        <p:nvSpPr>
          <p:cNvPr id="10" name="Shape 8"/>
          <p:cNvSpPr/>
          <p:nvPr/>
        </p:nvSpPr>
        <p:spPr>
          <a:xfrm>
            <a:off x="4405809" y="1953816"/>
            <a:ext cx="3380333" cy="2683222"/>
          </a:xfrm>
          <a:prstGeom prst="roundRect">
            <a:avLst>
              <a:gd name="adj" fmla="val 3668"/>
            </a:avLst>
          </a:prstGeom>
          <a:solidFill>
            <a:srgbClr val="FCFBF8"/>
          </a:solidFill>
          <a:ln w="6350">
            <a:solidFill>
              <a:srgbClr val="DEDAD1"/>
            </a:solidFill>
            <a:prstDash val="solid"/>
          </a:ln>
        </p:spPr>
      </p:sp>
      <p:sp>
        <p:nvSpPr>
          <p:cNvPr id="11" name="Text 9"/>
          <p:cNvSpPr/>
          <p:nvPr/>
        </p:nvSpPr>
        <p:spPr>
          <a:xfrm>
            <a:off x="4612184" y="2160191"/>
            <a:ext cx="30566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079"/>
                </a:solidFill>
                <a:latin typeface="JetBrains Mono" pitchFamily="49" charset="0"/>
                <a:ea typeface="JetBrains Mono" pitchFamily="49" charset="-122"/>
                <a:cs typeface="JetBrains Mono" pitchFamily="49" charset="-120"/>
              </a:rPr>
              <a:t>CADA FUNCIONALIDAD</a:t>
            </a:r>
            <a:endParaRPr lang="en-US" sz="1200" dirty="0"/>
          </a:p>
        </p:txBody>
      </p:sp>
      <p:sp>
        <p:nvSpPr>
          <p:cNvPr id="12" name="Text 10"/>
          <p:cNvSpPr/>
          <p:nvPr/>
        </p:nvSpPr>
        <p:spPr>
          <a:xfrm>
            <a:off x="4612184" y="2500511"/>
            <a:ext cx="3056611"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4E86"/>
                </a:solidFill>
                <a:latin typeface="JetBrains Mono" pitchFamily="49" charset="0"/>
                <a:ea typeface="JetBrains Mono" pitchFamily="49" charset="-122"/>
                <a:cs typeface="JetBrains Mono" pitchFamily="49" charset="-120"/>
              </a:rPr>
              <a:t>/sdd-feature &lt;idea&gt;</a:t>
            </a:r>
            <a:endParaRPr lang="en-US" sz="1400" dirty="0"/>
          </a:p>
        </p:txBody>
      </p:sp>
      <p:sp>
        <p:nvSpPr>
          <p:cNvPr id="13" name="Text 11"/>
          <p:cNvSpPr/>
          <p:nvPr/>
        </p:nvSpPr>
        <p:spPr>
          <a:xfrm>
            <a:off x="4612184" y="2774801"/>
            <a:ext cx="30566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Flujo completo guiado, con sus tres gates</a:t>
            </a:r>
            <a:endParaRPr lang="en-US" sz="1200" dirty="0"/>
          </a:p>
        </p:txBody>
      </p:sp>
      <p:sp>
        <p:nvSpPr>
          <p:cNvPr id="14" name="Text 12"/>
          <p:cNvSpPr/>
          <p:nvPr/>
        </p:nvSpPr>
        <p:spPr>
          <a:xfrm>
            <a:off x="4612184" y="3115121"/>
            <a:ext cx="30566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O paso a paso:</a:t>
            </a:r>
            <a:endParaRPr lang="en-US" sz="1200" dirty="0"/>
          </a:p>
        </p:txBody>
      </p:sp>
      <p:sp>
        <p:nvSpPr>
          <p:cNvPr id="15" name="Text 13"/>
          <p:cNvSpPr/>
          <p:nvPr/>
        </p:nvSpPr>
        <p:spPr>
          <a:xfrm>
            <a:off x="4612184" y="3353842"/>
            <a:ext cx="3056611" cy="9398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F4E86"/>
                </a:solidFill>
                <a:latin typeface="JetBrains Mono" pitchFamily="49" charset="0"/>
                <a:ea typeface="JetBrains Mono" pitchFamily="49" charset="-122"/>
                <a:cs typeface="JetBrains Mono" pitchFamily="49" charset="-120"/>
              </a:rPr>
              <a:t>/sdd-spec → /sdd-plan → /sdd-tasks → /sdd-implement → /sdd-review → /sdd-verify → /sdd-close</a:t>
            </a:r>
            <a:endParaRPr lang="en-US" sz="1200" dirty="0"/>
          </a:p>
        </p:txBody>
      </p:sp>
      <p:sp>
        <p:nvSpPr>
          <p:cNvPr id="16" name="Shape 14"/>
          <p:cNvSpPr/>
          <p:nvPr/>
        </p:nvSpPr>
        <p:spPr>
          <a:xfrm>
            <a:off x="7995692" y="1953816"/>
            <a:ext cx="3380333" cy="2683222"/>
          </a:xfrm>
          <a:prstGeom prst="roundRect">
            <a:avLst>
              <a:gd name="adj" fmla="val 3668"/>
            </a:avLst>
          </a:prstGeom>
          <a:solidFill>
            <a:srgbClr val="FCFBF8"/>
          </a:solidFill>
          <a:ln w="6350">
            <a:solidFill>
              <a:srgbClr val="DEDAD1"/>
            </a:solidFill>
            <a:prstDash val="solid"/>
          </a:ln>
        </p:spPr>
      </p:sp>
      <p:sp>
        <p:nvSpPr>
          <p:cNvPr id="17" name="Text 15"/>
          <p:cNvSpPr/>
          <p:nvPr/>
        </p:nvSpPr>
        <p:spPr>
          <a:xfrm>
            <a:off x="8202067" y="2160191"/>
            <a:ext cx="30566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079"/>
                </a:solidFill>
                <a:latin typeface="JetBrains Mono" pitchFamily="49" charset="0"/>
                <a:ea typeface="JetBrains Mono" pitchFamily="49" charset="-122"/>
                <a:cs typeface="JetBrains Mono" pitchFamily="49" charset="-120"/>
              </a:rPr>
              <a:t>MANTENIMIENTO</a:t>
            </a:r>
            <a:endParaRPr lang="en-US" sz="1200" dirty="0"/>
          </a:p>
        </p:txBody>
      </p:sp>
      <p:sp>
        <p:nvSpPr>
          <p:cNvPr id="18" name="Text 16"/>
          <p:cNvSpPr/>
          <p:nvPr/>
        </p:nvSpPr>
        <p:spPr>
          <a:xfrm>
            <a:off x="8202067" y="2500511"/>
            <a:ext cx="3056611"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4E86"/>
                </a:solidFill>
                <a:latin typeface="JetBrains Mono" pitchFamily="49" charset="0"/>
                <a:ea typeface="JetBrains Mono" pitchFamily="49" charset="-122"/>
                <a:cs typeface="JetBrains Mono" pitchFamily="49" charset="-120"/>
              </a:rPr>
              <a:t>/sdd-change</a:t>
            </a:r>
            <a:endParaRPr lang="en-US" sz="1400" dirty="0"/>
          </a:p>
        </p:txBody>
      </p:sp>
      <p:sp>
        <p:nvSpPr>
          <p:cNvPr id="19" name="Text 17"/>
          <p:cNvSpPr/>
          <p:nvPr/>
        </p:nvSpPr>
        <p:spPr>
          <a:xfrm>
            <a:off x="8202067" y="2774801"/>
            <a:ext cx="30566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Cambio de requisitos: primero la spec</a:t>
            </a:r>
            <a:endParaRPr lang="en-US" sz="1200" dirty="0"/>
          </a:p>
        </p:txBody>
      </p:sp>
      <p:sp>
        <p:nvSpPr>
          <p:cNvPr id="20" name="Text 18"/>
          <p:cNvSpPr/>
          <p:nvPr/>
        </p:nvSpPr>
        <p:spPr>
          <a:xfrm>
            <a:off x="8202067" y="3115121"/>
            <a:ext cx="3056611"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4E86"/>
                </a:solidFill>
                <a:latin typeface="JetBrains Mono" pitchFamily="49" charset="0"/>
                <a:ea typeface="JetBrains Mono" pitchFamily="49" charset="-122"/>
                <a:cs typeface="JetBrains Mono" pitchFamily="49" charset="-120"/>
              </a:rPr>
              <a:t>/sdd-bugfix</a:t>
            </a:r>
            <a:endParaRPr lang="en-US" sz="1400" dirty="0"/>
          </a:p>
        </p:txBody>
      </p:sp>
      <p:sp>
        <p:nvSpPr>
          <p:cNvPr id="21" name="Text 19"/>
          <p:cNvSpPr/>
          <p:nvPr/>
        </p:nvSpPr>
        <p:spPr>
          <a:xfrm>
            <a:off x="8202067" y="3389412"/>
            <a:ext cx="305661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Test de regresión en rojo, después la corrección</a:t>
            </a:r>
            <a:endParaRPr lang="en-US" sz="1200" dirty="0"/>
          </a:p>
        </p:txBody>
      </p:sp>
      <p:sp>
        <p:nvSpPr>
          <p:cNvPr id="22" name="Text 20"/>
          <p:cNvSpPr/>
          <p:nvPr/>
        </p:nvSpPr>
        <p:spPr>
          <a:xfrm>
            <a:off x="8202067" y="3943052"/>
            <a:ext cx="3056611"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F4E86"/>
                </a:solidFill>
                <a:latin typeface="JetBrains Mono" pitchFamily="49" charset="0"/>
                <a:ea typeface="JetBrains Mono" pitchFamily="49" charset="-122"/>
                <a:cs typeface="JetBrains Mono" pitchFamily="49" charset="-120"/>
              </a:rPr>
              <a:t>/sdd-status</a:t>
            </a:r>
            <a:endParaRPr lang="en-US" sz="1400" dirty="0"/>
          </a:p>
        </p:txBody>
      </p:sp>
      <p:sp>
        <p:nvSpPr>
          <p:cNvPr id="23" name="Text 21"/>
          <p:cNvSpPr/>
          <p:nvPr/>
        </p:nvSpPr>
        <p:spPr>
          <a:xfrm>
            <a:off x="8202067" y="4217343"/>
            <a:ext cx="31707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Etapa actual y el siguiente comando exacto</a:t>
            </a:r>
            <a:endParaRPr lang="en-US" sz="1200" dirty="0"/>
          </a:p>
        </p:txBody>
      </p:sp>
      <p:sp>
        <p:nvSpPr>
          <p:cNvPr id="24" name="Text 22"/>
          <p:cNvSpPr/>
          <p:nvPr/>
        </p:nvSpPr>
        <p:spPr>
          <a:xfrm>
            <a:off x="812800" y="4995813"/>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En Copilot CLI no hay comandos /sdd-*: se le habla directamente a sdd-orchestrator.</a:t>
            </a:r>
            <a:endParaRPr lang="en-US" sz="1400" dirty="0"/>
          </a:p>
        </p:txBody>
      </p:sp>
      <p:sp>
        <p:nvSpPr>
          <p:cNvPr id="25" name="Text 23"/>
          <p:cNvSpPr/>
          <p:nvPr/>
        </p:nvSpPr>
        <p:spPr>
          <a:xfrm>
            <a:off x="812800" y="6238280"/>
            <a:ext cx="47183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079"/>
                </a:solidFill>
                <a:latin typeface="JetBrains Mono" pitchFamily="49" charset="0"/>
                <a:ea typeface="JetBrains Mono" pitchFamily="49" charset="-122"/>
                <a:cs typeface="JetBrains Mono" pitchFamily="49" charset="-120"/>
              </a:rPr>
              <a:t>De OpenSpec a un sistema multiagente propio</a:t>
            </a:r>
            <a:endParaRPr lang="en-US" sz="1200" dirty="0"/>
          </a:p>
        </p:txBody>
      </p:sp>
      <p:sp>
        <p:nvSpPr>
          <p:cNvPr id="26" name="Text 24"/>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079"/>
                </a:solidFill>
                <a:latin typeface="JetBrains Mono" pitchFamily="49" charset="0"/>
                <a:ea typeface="JetBrains Mono" pitchFamily="49" charset="-122"/>
                <a:cs typeface="JetBrains Mono" pitchFamily="49"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8521D"/>
                </a:solidFill>
                <a:latin typeface="JetBrains Mono" pitchFamily="49" charset="0"/>
                <a:ea typeface="JetBrains Mono" pitchFamily="49" charset="-122"/>
                <a:cs typeface="JetBrains Mono" pitchFamily="49" charset="-120"/>
              </a:rPr>
              <a:t>LÍMITES CONOCIDOS</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IBM Plex Sans" pitchFamily="34" charset="0"/>
                <a:ea typeface="IBM Plex Sans" pitchFamily="34" charset="-122"/>
                <a:cs typeface="IBM Plex Sans" pitchFamily="34" charset="-120"/>
              </a:rPr>
              <a:t>Lo que todavía hay que validar</a:t>
            </a:r>
            <a:endParaRPr lang="en-US" sz="3200" dirty="0"/>
          </a:p>
        </p:txBody>
      </p:sp>
      <p:sp>
        <p:nvSpPr>
          <p:cNvPr id="4" name="Shape 2"/>
          <p:cNvSpPr/>
          <p:nvPr/>
        </p:nvSpPr>
        <p:spPr>
          <a:xfrm>
            <a:off x="815975" y="1953816"/>
            <a:ext cx="5175250" cy="1137841"/>
          </a:xfrm>
          <a:prstGeom prst="roundRect">
            <a:avLst>
              <a:gd name="adj" fmla="val 8650"/>
            </a:avLst>
          </a:prstGeom>
          <a:solidFill>
            <a:srgbClr val="FCFBF8"/>
          </a:solidFill>
          <a:ln w="6350">
            <a:solidFill>
              <a:srgbClr val="DEDAD1"/>
            </a:solidFill>
            <a:prstDash val="solid"/>
          </a:ln>
        </p:spPr>
      </p:sp>
      <p:pic>
        <p:nvPicPr>
          <p:cNvPr id="5" name="Image 0" descr="Chat">    </p:cNvPr>
          <p:cNvPicPr>
            <a:picLocks noChangeAspect="1"/>
          </p:cNvPicPr>
          <p:nvPr/>
        </p:nvPicPr>
        <p:blipFill>
          <a:blip r:embed="rId1"/>
          <a:srcRect l="0" r="0" t="0" b="0"/>
          <a:stretch/>
        </p:blipFill>
        <p:spPr>
          <a:xfrm>
            <a:off x="1022350" y="2169716"/>
            <a:ext cx="203200" cy="203200"/>
          </a:xfrm>
          <a:prstGeom prst="rect">
            <a:avLst/>
          </a:prstGeom>
        </p:spPr>
      </p:pic>
      <p:sp>
        <p:nvSpPr>
          <p:cNvPr id="6" name="Text 3"/>
          <p:cNvSpPr/>
          <p:nvPr/>
        </p:nvSpPr>
        <p:spPr>
          <a:xfrm>
            <a:off x="1301750" y="2160191"/>
            <a:ext cx="2666405"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02B"/>
                </a:solidFill>
                <a:latin typeface="IBM Plex Sans" pitchFamily="34" charset="0"/>
                <a:ea typeface="IBM Plex Sans" pitchFamily="34" charset="-122"/>
                <a:cs typeface="IBM Plex Sans" pitchFamily="34" charset="-120"/>
              </a:rPr>
              <a:t>Comandos solo en VS Code</a:t>
            </a:r>
            <a:endParaRPr lang="en-US" sz="1400" dirty="0"/>
          </a:p>
        </p:txBody>
      </p:sp>
      <p:sp>
        <p:nvSpPr>
          <p:cNvPr id="7" name="Text 4"/>
          <p:cNvSpPr/>
          <p:nvPr/>
        </p:nvSpPr>
        <p:spPr>
          <a:xfrm>
            <a:off x="1022350" y="2458641"/>
            <a:ext cx="490537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Los /sdd-* son prompt files: funcionan en el chat de VS Code. En Copilot CLI se habla directamente con el orquestador.</a:t>
            </a:r>
            <a:endParaRPr lang="en-US" sz="1200" dirty="0"/>
          </a:p>
        </p:txBody>
      </p:sp>
      <p:sp>
        <p:nvSpPr>
          <p:cNvPr id="8" name="Shape 5"/>
          <p:cNvSpPr/>
          <p:nvPr/>
        </p:nvSpPr>
        <p:spPr>
          <a:xfrm>
            <a:off x="6200775" y="1953816"/>
            <a:ext cx="5175250" cy="1137841"/>
          </a:xfrm>
          <a:prstGeom prst="roundRect">
            <a:avLst>
              <a:gd name="adj" fmla="val 8650"/>
            </a:avLst>
          </a:prstGeom>
          <a:solidFill>
            <a:srgbClr val="FCFBF8"/>
          </a:solidFill>
          <a:ln w="6350">
            <a:solidFill>
              <a:srgbClr val="DEDAD1"/>
            </a:solidFill>
            <a:prstDash val="solid"/>
          </a:ln>
        </p:spPr>
      </p:sp>
      <p:pic>
        <p:nvPicPr>
          <p:cNvPr id="9" name="Image 1" descr="Lock">    </p:cNvPr>
          <p:cNvPicPr>
            <a:picLocks noChangeAspect="1"/>
          </p:cNvPicPr>
          <p:nvPr/>
        </p:nvPicPr>
        <p:blipFill>
          <a:blip r:embed="rId2"/>
          <a:srcRect l="0" r="0" t="0" b="0"/>
          <a:stretch/>
        </p:blipFill>
        <p:spPr>
          <a:xfrm>
            <a:off x="6407150" y="2169716"/>
            <a:ext cx="203200" cy="203200"/>
          </a:xfrm>
          <a:prstGeom prst="rect">
            <a:avLst/>
          </a:prstGeom>
        </p:spPr>
      </p:pic>
      <p:sp>
        <p:nvSpPr>
          <p:cNvPr id="10" name="Text 6"/>
          <p:cNvSpPr/>
          <p:nvPr/>
        </p:nvSpPr>
        <p:spPr>
          <a:xfrm>
            <a:off x="6686550" y="2160191"/>
            <a:ext cx="2105501"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02B"/>
                </a:solidFill>
                <a:latin typeface="IBM Plex Sans" pitchFamily="34" charset="0"/>
                <a:ea typeface="IBM Plex Sans" pitchFamily="34" charset="-122"/>
                <a:cs typeface="IBM Plex Sans" pitchFamily="34" charset="-120"/>
              </a:rPr>
              <a:t>Hooks en vista previa</a:t>
            </a:r>
            <a:endParaRPr lang="en-US" sz="1400" dirty="0"/>
          </a:p>
        </p:txBody>
      </p:sp>
      <p:sp>
        <p:nvSpPr>
          <p:cNvPr id="11" name="Text 7"/>
          <p:cNvSpPr/>
          <p:nvPr/>
        </p:nvSpPr>
        <p:spPr>
          <a:xfrm>
            <a:off x="6407150" y="2458641"/>
            <a:ext cx="490537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La regla por agente depende de que Copilot informe qué subagente actúa. Si no lo hace, siguen activas las otras cuatro capas.</a:t>
            </a:r>
            <a:endParaRPr lang="en-US" sz="1200" dirty="0"/>
          </a:p>
        </p:txBody>
      </p:sp>
      <p:sp>
        <p:nvSpPr>
          <p:cNvPr id="12" name="Shape 8"/>
          <p:cNvSpPr/>
          <p:nvPr/>
        </p:nvSpPr>
        <p:spPr>
          <a:xfrm>
            <a:off x="815975" y="3301206"/>
            <a:ext cx="5175250" cy="1137841"/>
          </a:xfrm>
          <a:prstGeom prst="roundRect">
            <a:avLst>
              <a:gd name="adj" fmla="val 8650"/>
            </a:avLst>
          </a:prstGeom>
          <a:solidFill>
            <a:srgbClr val="FCFBF8"/>
          </a:solidFill>
          <a:ln w="6350">
            <a:solidFill>
              <a:srgbClr val="DEDAD1"/>
            </a:solidFill>
            <a:prstDash val="solid"/>
          </a:ln>
        </p:spPr>
      </p:sp>
      <p:pic>
        <p:nvPicPr>
          <p:cNvPr id="13" name="Image 2" descr="Wrench">    </p:cNvPr>
          <p:cNvPicPr>
            <a:picLocks noChangeAspect="1"/>
          </p:cNvPicPr>
          <p:nvPr/>
        </p:nvPicPr>
        <p:blipFill>
          <a:blip r:embed="rId3"/>
          <a:srcRect l="0" r="0" t="0" b="0"/>
          <a:stretch/>
        </p:blipFill>
        <p:spPr>
          <a:xfrm>
            <a:off x="1022350" y="3517106"/>
            <a:ext cx="203200" cy="203200"/>
          </a:xfrm>
          <a:prstGeom prst="rect">
            <a:avLst/>
          </a:prstGeom>
        </p:spPr>
      </p:pic>
      <p:sp>
        <p:nvSpPr>
          <p:cNvPr id="14" name="Text 9"/>
          <p:cNvSpPr/>
          <p:nvPr/>
        </p:nvSpPr>
        <p:spPr>
          <a:xfrm>
            <a:off x="1301750" y="3507581"/>
            <a:ext cx="2649022"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02B"/>
                </a:solidFill>
                <a:latin typeface="IBM Plex Sans" pitchFamily="34" charset="0"/>
                <a:ea typeface="IBM Plex Sans" pitchFamily="34" charset="-122"/>
                <a:cs typeface="IBM Plex Sans" pitchFamily="34" charset="-120"/>
              </a:rPr>
              <a:t>Stack de tests del backend</a:t>
            </a:r>
            <a:endParaRPr lang="en-US" sz="1400" dirty="0"/>
          </a:p>
        </p:txBody>
      </p:sp>
      <p:sp>
        <p:nvSpPr>
          <p:cNvPr id="15" name="Text 10"/>
          <p:cNvSpPr/>
          <p:nvPr/>
        </p:nvSpPr>
        <p:spPr>
          <a:xfrm>
            <a:off x="1022350" y="3806031"/>
            <a:ext cx="490537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xUnit + Moq sigue marcado para confirmar antes de la primera spec en .NET.</a:t>
            </a:r>
            <a:endParaRPr lang="en-US" sz="1200" dirty="0"/>
          </a:p>
        </p:txBody>
      </p:sp>
      <p:sp>
        <p:nvSpPr>
          <p:cNvPr id="16" name="Shape 11"/>
          <p:cNvSpPr/>
          <p:nvPr/>
        </p:nvSpPr>
        <p:spPr>
          <a:xfrm>
            <a:off x="6200775" y="3301206"/>
            <a:ext cx="5175250" cy="1137841"/>
          </a:xfrm>
          <a:prstGeom prst="roundRect">
            <a:avLst>
              <a:gd name="adj" fmla="val 8650"/>
            </a:avLst>
          </a:prstGeom>
          <a:solidFill>
            <a:srgbClr val="FCFBF8"/>
          </a:solidFill>
          <a:ln w="6350">
            <a:solidFill>
              <a:srgbClr val="DEDAD1"/>
            </a:solidFill>
            <a:prstDash val="solid"/>
          </a:ln>
        </p:spPr>
      </p:sp>
      <p:pic>
        <p:nvPicPr>
          <p:cNvPr id="17" name="Image 3" descr="Activity">    </p:cNvPr>
          <p:cNvPicPr>
            <a:picLocks noChangeAspect="1"/>
          </p:cNvPicPr>
          <p:nvPr/>
        </p:nvPicPr>
        <p:blipFill>
          <a:blip r:embed="rId4"/>
          <a:srcRect l="0" r="0" t="0" b="0"/>
          <a:stretch/>
        </p:blipFill>
        <p:spPr>
          <a:xfrm>
            <a:off x="6407150" y="3517106"/>
            <a:ext cx="203200" cy="203200"/>
          </a:xfrm>
          <a:prstGeom prst="rect">
            <a:avLst/>
          </a:prstGeom>
        </p:spPr>
      </p:pic>
      <p:sp>
        <p:nvSpPr>
          <p:cNvPr id="18" name="Text 12"/>
          <p:cNvSpPr/>
          <p:nvPr/>
        </p:nvSpPr>
        <p:spPr>
          <a:xfrm>
            <a:off x="6686550" y="3507581"/>
            <a:ext cx="1557635"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14202B"/>
                </a:solidFill>
                <a:latin typeface="IBM Plex Sans" pitchFamily="34" charset="0"/>
                <a:ea typeface="IBM Plex Sans" pitchFamily="34" charset="-122"/>
                <a:cs typeface="IBM Plex Sans" pitchFamily="34" charset="-120"/>
              </a:rPr>
              <a:t>Coste por etapa</a:t>
            </a:r>
            <a:endParaRPr lang="en-US" sz="1400" dirty="0"/>
          </a:p>
        </p:txBody>
      </p:sp>
      <p:sp>
        <p:nvSpPr>
          <p:cNvPr id="19" name="Text 13"/>
          <p:cNvSpPr/>
          <p:nvPr/>
        </p:nvSpPr>
        <p:spPr>
          <a:xfrm>
            <a:off x="6407150" y="3806031"/>
            <a:ext cx="490537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Más agentes, más llamadas. Modelo por agente: potente para spec, diseño y revisión; rápido para exploración y cierre.</a:t>
            </a:r>
            <a:endParaRPr lang="en-US" sz="1200" dirty="0"/>
          </a:p>
        </p:txBody>
      </p:sp>
      <p:sp>
        <p:nvSpPr>
          <p:cNvPr id="20" name="Text 14"/>
          <p:cNvSpPr/>
          <p:nvPr/>
        </p:nvSpPr>
        <p:spPr>
          <a:xfrm>
            <a:off x="812800" y="4797822"/>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Ninguno bloquea la adopción: el piloto es el lugar para medirlos.</a:t>
            </a:r>
            <a:endParaRPr lang="en-US" sz="1400" dirty="0"/>
          </a:p>
        </p:txBody>
      </p:sp>
      <p:sp>
        <p:nvSpPr>
          <p:cNvPr id="21" name="Text 15"/>
          <p:cNvSpPr/>
          <p:nvPr/>
        </p:nvSpPr>
        <p:spPr>
          <a:xfrm>
            <a:off x="812800" y="6238280"/>
            <a:ext cx="47183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079"/>
                </a:solidFill>
                <a:latin typeface="JetBrains Mono" pitchFamily="49" charset="0"/>
                <a:ea typeface="JetBrains Mono" pitchFamily="49" charset="-122"/>
                <a:cs typeface="JetBrains Mono" pitchFamily="49" charset="-120"/>
              </a:rPr>
              <a:t>De OpenSpec a un sistema multiagente propio</a:t>
            </a:r>
            <a:endParaRPr lang="en-US" sz="1200" dirty="0"/>
          </a:p>
        </p:txBody>
      </p:sp>
      <p:sp>
        <p:nvSpPr>
          <p:cNvPr id="22" name="Text 16"/>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079"/>
                </a:solidFill>
                <a:latin typeface="JetBrains Mono" pitchFamily="49" charset="0"/>
                <a:ea typeface="JetBrains Mono" pitchFamily="49" charset="-122"/>
                <a:cs typeface="JetBrains Mono" pitchFamily="49"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5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2F6FB5"/>
                </a:solidFill>
                <a:latin typeface="JetBrains Mono" pitchFamily="49" charset="0"/>
                <a:ea typeface="JetBrains Mono" pitchFamily="49" charset="-122"/>
                <a:cs typeface="JetBrains Mono" pitchFamily="49" charset="-120"/>
              </a:rPr>
              <a:t>ADOPCIÓN</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IBM Plex Sans" pitchFamily="34" charset="0"/>
                <a:ea typeface="IBM Plex Sans" pitchFamily="34" charset="-122"/>
                <a:cs typeface="IBM Plex Sans" pitchFamily="34" charset="-120"/>
              </a:rPr>
              <a:t>Próximos pasos</a:t>
            </a:r>
            <a:endParaRPr lang="en-US" sz="3200" dirty="0"/>
          </a:p>
        </p:txBody>
      </p:sp>
      <p:sp>
        <p:nvSpPr>
          <p:cNvPr id="4" name="Shape 2"/>
          <p:cNvSpPr/>
          <p:nvPr/>
        </p:nvSpPr>
        <p:spPr>
          <a:xfrm>
            <a:off x="812800" y="1953816"/>
            <a:ext cx="10566400" cy="0"/>
          </a:xfrm>
          <a:prstGeom prst="line">
            <a:avLst/>
          </a:prstGeom>
          <a:noFill/>
          <a:ln w="6350">
            <a:solidFill>
              <a:srgbClr val="DEDAD1"/>
            </a:solidFill>
            <a:prstDash val="solid"/>
          </a:ln>
        </p:spPr>
      </p:sp>
      <p:sp>
        <p:nvSpPr>
          <p:cNvPr id="5" name="Text 3"/>
          <p:cNvSpPr/>
          <p:nvPr/>
        </p:nvSpPr>
        <p:spPr>
          <a:xfrm>
            <a:off x="812800" y="2083991"/>
            <a:ext cx="508000"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2F6FB5"/>
                </a:solidFill>
                <a:latin typeface="JetBrains Mono" pitchFamily="49" charset="0"/>
                <a:ea typeface="JetBrains Mono" pitchFamily="49" charset="-122"/>
                <a:cs typeface="JetBrains Mono" pitchFamily="49" charset="-120"/>
              </a:rPr>
              <a:t>01</a:t>
            </a:r>
            <a:endParaRPr lang="en-US" sz="1800" dirty="0"/>
          </a:p>
        </p:txBody>
      </p:sp>
      <p:sp>
        <p:nvSpPr>
          <p:cNvPr id="6" name="Text 4"/>
          <p:cNvSpPr/>
          <p:nvPr/>
        </p:nvSpPr>
        <p:spPr>
          <a:xfrm>
            <a:off x="1473200" y="2131616"/>
            <a:ext cx="274701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2B"/>
                </a:solidFill>
                <a:latin typeface="IBM Plex Sans" pitchFamily="34" charset="0"/>
                <a:ea typeface="IBM Plex Sans" pitchFamily="34" charset="-122"/>
                <a:cs typeface="IBM Plex Sans" pitchFamily="34" charset="-120"/>
              </a:rPr>
              <a:t>Activar el kit</a:t>
            </a:r>
            <a:endParaRPr lang="en-US" sz="1400" dirty="0"/>
          </a:p>
        </p:txBody>
      </p:sp>
      <p:sp>
        <p:nvSpPr>
          <p:cNvPr id="7" name="Text 5"/>
          <p:cNvSpPr/>
          <p:nvPr/>
        </p:nvSpPr>
        <p:spPr>
          <a:xfrm>
            <a:off x="4343400" y="2160191"/>
            <a:ext cx="72468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Renombrar github/ y vscode/ a .github/ y .vscode/ en el repositorio develop-ia.</a:t>
            </a:r>
            <a:endParaRPr lang="en-US" sz="1200" dirty="0"/>
          </a:p>
        </p:txBody>
      </p:sp>
      <p:sp>
        <p:nvSpPr>
          <p:cNvPr id="8" name="Shape 6"/>
          <p:cNvSpPr/>
          <p:nvPr/>
        </p:nvSpPr>
        <p:spPr>
          <a:xfrm>
            <a:off x="812800" y="2534196"/>
            <a:ext cx="10566400" cy="0"/>
          </a:xfrm>
          <a:prstGeom prst="line">
            <a:avLst/>
          </a:prstGeom>
          <a:noFill/>
          <a:ln w="6350">
            <a:solidFill>
              <a:srgbClr val="DEDAD1"/>
            </a:solidFill>
            <a:prstDash val="solid"/>
          </a:ln>
        </p:spPr>
      </p:sp>
      <p:sp>
        <p:nvSpPr>
          <p:cNvPr id="9" name="Text 7"/>
          <p:cNvSpPr/>
          <p:nvPr/>
        </p:nvSpPr>
        <p:spPr>
          <a:xfrm>
            <a:off x="812800" y="2664371"/>
            <a:ext cx="508000"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2F6FB5"/>
                </a:solidFill>
                <a:latin typeface="JetBrains Mono" pitchFamily="49" charset="0"/>
                <a:ea typeface="JetBrains Mono" pitchFamily="49" charset="-122"/>
                <a:cs typeface="JetBrains Mono" pitchFamily="49" charset="-120"/>
              </a:rPr>
              <a:t>02</a:t>
            </a:r>
            <a:endParaRPr lang="en-US" sz="1800" dirty="0"/>
          </a:p>
        </p:txBody>
      </p:sp>
      <p:sp>
        <p:nvSpPr>
          <p:cNvPr id="10" name="Text 8"/>
          <p:cNvSpPr/>
          <p:nvPr/>
        </p:nvSpPr>
        <p:spPr>
          <a:xfrm>
            <a:off x="1473200" y="2711996"/>
            <a:ext cx="274701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2B"/>
                </a:solidFill>
                <a:latin typeface="IBM Plex Sans" pitchFamily="34" charset="0"/>
                <a:ea typeface="IBM Plex Sans" pitchFamily="34" charset="-122"/>
                <a:cs typeface="IBM Plex Sans" pitchFamily="34" charset="-120"/>
              </a:rPr>
              <a:t>Instalar en el frontend</a:t>
            </a:r>
            <a:endParaRPr lang="en-US" sz="1400" dirty="0"/>
          </a:p>
        </p:txBody>
      </p:sp>
      <p:sp>
        <p:nvSpPr>
          <p:cNvPr id="11" name="Text 9"/>
          <p:cNvSpPr/>
          <p:nvPr/>
        </p:nvSpPr>
        <p:spPr>
          <a:xfrm>
            <a:off x="4343400" y="2740571"/>
            <a:ext cx="72468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Copiar el kit al repositorio Angular con su perfil de AGENTS.md.</a:t>
            </a:r>
            <a:endParaRPr lang="en-US" sz="1200" dirty="0"/>
          </a:p>
        </p:txBody>
      </p:sp>
      <p:sp>
        <p:nvSpPr>
          <p:cNvPr id="12" name="Shape 10"/>
          <p:cNvSpPr/>
          <p:nvPr/>
        </p:nvSpPr>
        <p:spPr>
          <a:xfrm>
            <a:off x="812800" y="3114576"/>
            <a:ext cx="10566400" cy="0"/>
          </a:xfrm>
          <a:prstGeom prst="line">
            <a:avLst/>
          </a:prstGeom>
          <a:noFill/>
          <a:ln w="6350">
            <a:solidFill>
              <a:srgbClr val="DEDAD1"/>
            </a:solidFill>
            <a:prstDash val="solid"/>
          </a:ln>
        </p:spPr>
      </p:sp>
      <p:sp>
        <p:nvSpPr>
          <p:cNvPr id="13" name="Text 11"/>
          <p:cNvSpPr/>
          <p:nvPr/>
        </p:nvSpPr>
        <p:spPr>
          <a:xfrm>
            <a:off x="812800" y="3244751"/>
            <a:ext cx="508000"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2F6FB5"/>
                </a:solidFill>
                <a:latin typeface="JetBrains Mono" pitchFamily="49" charset="0"/>
                <a:ea typeface="JetBrains Mono" pitchFamily="49" charset="-122"/>
                <a:cs typeface="JetBrains Mono" pitchFamily="49" charset="-120"/>
              </a:rPr>
              <a:t>03</a:t>
            </a:r>
            <a:endParaRPr lang="en-US" sz="1800" dirty="0"/>
          </a:p>
        </p:txBody>
      </p:sp>
      <p:sp>
        <p:nvSpPr>
          <p:cNvPr id="14" name="Text 12"/>
          <p:cNvSpPr/>
          <p:nvPr/>
        </p:nvSpPr>
        <p:spPr>
          <a:xfrm>
            <a:off x="1473200" y="3292376"/>
            <a:ext cx="274701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2B"/>
                </a:solidFill>
                <a:latin typeface="IBM Plex Sans" pitchFamily="34" charset="0"/>
                <a:ea typeface="IBM Plex Sans" pitchFamily="34" charset="-122"/>
                <a:cs typeface="IBM Plex Sans" pitchFamily="34" charset="-120"/>
              </a:rPr>
              <a:t>Ajustar y ratificar</a:t>
            </a:r>
            <a:endParaRPr lang="en-US" sz="1400" dirty="0"/>
          </a:p>
        </p:txBody>
      </p:sp>
      <p:sp>
        <p:nvSpPr>
          <p:cNvPr id="15" name="Text 13"/>
          <p:cNvSpPr/>
          <p:nvPr/>
        </p:nvSpPr>
        <p:spPr>
          <a:xfrm>
            <a:off x="4343400" y="3320951"/>
            <a:ext cx="72468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/sdd-init para verificar stack y comandos; /sdd-constitution para acordar los principios.</a:t>
            </a:r>
            <a:endParaRPr lang="en-US" sz="1200" dirty="0"/>
          </a:p>
        </p:txBody>
      </p:sp>
      <p:sp>
        <p:nvSpPr>
          <p:cNvPr id="16" name="Shape 14"/>
          <p:cNvSpPr/>
          <p:nvPr/>
        </p:nvSpPr>
        <p:spPr>
          <a:xfrm>
            <a:off x="812800" y="3694956"/>
            <a:ext cx="10566400" cy="0"/>
          </a:xfrm>
          <a:prstGeom prst="line">
            <a:avLst/>
          </a:prstGeom>
          <a:noFill/>
          <a:ln w="6350">
            <a:solidFill>
              <a:srgbClr val="DEDAD1"/>
            </a:solidFill>
            <a:prstDash val="solid"/>
          </a:ln>
        </p:spPr>
      </p:sp>
      <p:sp>
        <p:nvSpPr>
          <p:cNvPr id="17" name="Text 15"/>
          <p:cNvSpPr/>
          <p:nvPr/>
        </p:nvSpPr>
        <p:spPr>
          <a:xfrm>
            <a:off x="812800" y="3825131"/>
            <a:ext cx="508000"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2F6FB5"/>
                </a:solidFill>
                <a:latin typeface="JetBrains Mono" pitchFamily="49" charset="0"/>
                <a:ea typeface="JetBrains Mono" pitchFamily="49" charset="-122"/>
                <a:cs typeface="JetBrains Mono" pitchFamily="49" charset="-120"/>
              </a:rPr>
              <a:t>04</a:t>
            </a:r>
            <a:endParaRPr lang="en-US" sz="1800" dirty="0"/>
          </a:p>
        </p:txBody>
      </p:sp>
      <p:sp>
        <p:nvSpPr>
          <p:cNvPr id="18" name="Text 16"/>
          <p:cNvSpPr/>
          <p:nvPr/>
        </p:nvSpPr>
        <p:spPr>
          <a:xfrm>
            <a:off x="1473200" y="3872756"/>
            <a:ext cx="2747010"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2B"/>
                </a:solidFill>
                <a:latin typeface="IBM Plex Sans" pitchFamily="34" charset="0"/>
                <a:ea typeface="IBM Plex Sans" pitchFamily="34" charset="-122"/>
                <a:cs typeface="IBM Plex Sans" pitchFamily="34" charset="-120"/>
              </a:rPr>
              <a:t>Piloto con una funcionalidad real</a:t>
            </a:r>
            <a:endParaRPr lang="en-US" sz="1400" dirty="0"/>
          </a:p>
        </p:txBody>
      </p:sp>
      <p:sp>
        <p:nvSpPr>
          <p:cNvPr id="19" name="Text 17"/>
          <p:cNvSpPr/>
          <p:nvPr/>
        </p:nvSpPr>
        <p:spPr>
          <a:xfrm>
            <a:off x="4343400" y="3901331"/>
            <a:ext cx="72468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Flujo completo de punta a punta, por ejemplo con el componente de mención de variables.</a:t>
            </a:r>
            <a:endParaRPr lang="en-US" sz="1200" dirty="0"/>
          </a:p>
        </p:txBody>
      </p:sp>
      <p:sp>
        <p:nvSpPr>
          <p:cNvPr id="20" name="Shape 18"/>
          <p:cNvSpPr/>
          <p:nvPr/>
        </p:nvSpPr>
        <p:spPr>
          <a:xfrm>
            <a:off x="812800" y="4500711"/>
            <a:ext cx="10566400" cy="0"/>
          </a:xfrm>
          <a:prstGeom prst="line">
            <a:avLst/>
          </a:prstGeom>
          <a:noFill/>
          <a:ln w="6350">
            <a:solidFill>
              <a:srgbClr val="DEDAD1"/>
            </a:solidFill>
            <a:prstDash val="solid"/>
          </a:ln>
        </p:spPr>
      </p:sp>
      <p:sp>
        <p:nvSpPr>
          <p:cNvPr id="21" name="Shape 19"/>
          <p:cNvSpPr/>
          <p:nvPr/>
        </p:nvSpPr>
        <p:spPr>
          <a:xfrm>
            <a:off x="812800" y="5081091"/>
            <a:ext cx="10566400" cy="0"/>
          </a:xfrm>
          <a:prstGeom prst="line">
            <a:avLst/>
          </a:prstGeom>
          <a:noFill/>
          <a:ln w="6350">
            <a:solidFill>
              <a:srgbClr val="DEDAD1"/>
            </a:solidFill>
            <a:prstDash val="solid"/>
          </a:ln>
        </p:spPr>
      </p:sp>
      <p:sp>
        <p:nvSpPr>
          <p:cNvPr id="22" name="Text 20"/>
          <p:cNvSpPr/>
          <p:nvPr/>
        </p:nvSpPr>
        <p:spPr>
          <a:xfrm>
            <a:off x="812800" y="4630886"/>
            <a:ext cx="508000"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2F6FB5"/>
                </a:solidFill>
                <a:latin typeface="JetBrains Mono" pitchFamily="49" charset="0"/>
                <a:ea typeface="JetBrains Mono" pitchFamily="49" charset="-122"/>
                <a:cs typeface="JetBrains Mono" pitchFamily="49" charset="-120"/>
              </a:rPr>
              <a:t>05</a:t>
            </a:r>
            <a:endParaRPr lang="en-US" sz="1800" dirty="0"/>
          </a:p>
        </p:txBody>
      </p:sp>
      <p:sp>
        <p:nvSpPr>
          <p:cNvPr id="23" name="Text 21"/>
          <p:cNvSpPr/>
          <p:nvPr/>
        </p:nvSpPr>
        <p:spPr>
          <a:xfrm>
            <a:off x="1473200" y="4678511"/>
            <a:ext cx="274701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02B"/>
                </a:solidFill>
                <a:latin typeface="IBM Plex Sans" pitchFamily="34" charset="0"/>
                <a:ea typeface="IBM Plex Sans" pitchFamily="34" charset="-122"/>
                <a:cs typeface="IBM Plex Sans" pitchFamily="34" charset="-120"/>
              </a:rPr>
              <a:t>Replicar en el backend</a:t>
            </a:r>
            <a:endParaRPr lang="en-US" sz="1400" dirty="0"/>
          </a:p>
        </p:txBody>
      </p:sp>
      <p:sp>
        <p:nvSpPr>
          <p:cNvPr id="24" name="Text 22"/>
          <p:cNvSpPr/>
          <p:nvPr/>
        </p:nvSpPr>
        <p:spPr>
          <a:xfrm>
            <a:off x="4343400" y="4707086"/>
            <a:ext cx="72468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Confirmar xUnit + Moq, instalar el perfil .NET y ajustar el kit con lo aprendido.</a:t>
            </a:r>
            <a:endParaRPr lang="en-US" sz="1200" dirty="0"/>
          </a:p>
        </p:txBody>
      </p:sp>
      <p:sp>
        <p:nvSpPr>
          <p:cNvPr id="25" name="Text 23"/>
          <p:cNvSpPr/>
          <p:nvPr/>
        </p:nvSpPr>
        <p:spPr>
          <a:xfrm>
            <a:off x="812800" y="6238280"/>
            <a:ext cx="47183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079"/>
                </a:solidFill>
                <a:latin typeface="JetBrains Mono" pitchFamily="49" charset="0"/>
                <a:ea typeface="JetBrains Mono" pitchFamily="49" charset="-122"/>
                <a:cs typeface="JetBrains Mono" pitchFamily="49" charset="-120"/>
              </a:rPr>
              <a:t>De OpenSpec a un sistema multiagente propio</a:t>
            </a:r>
            <a:endParaRPr lang="en-US" sz="1200" dirty="0"/>
          </a:p>
        </p:txBody>
      </p:sp>
      <p:sp>
        <p:nvSpPr>
          <p:cNvPr id="26" name="Text 24"/>
          <p:cNvSpPr/>
          <p:nvPr/>
        </p:nvSpPr>
        <p:spPr>
          <a:xfrm>
            <a:off x="11145490" y="6238280"/>
            <a:ext cx="23371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A7079"/>
                </a:solidFill>
                <a:latin typeface="JetBrains Mono" pitchFamily="49" charset="0"/>
                <a:ea typeface="JetBrains Mono" pitchFamily="49" charset="-122"/>
                <a:cs typeface="JetBrains Mono" pitchFamily="49"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202B"/>
        </a:solidFill>
      </p:bgPr>
    </p:bg>
    <p:spTree>
      <p:nvGrpSpPr>
        <p:cNvPr id="1" name=""/>
        <p:cNvGrpSpPr/>
        <p:nvPr/>
      </p:nvGrpSpPr>
      <p:grpSpPr>
        <a:xfrm>
          <a:off x="0" y="0"/>
          <a:ext cx="0" cy="0"/>
          <a:chOff x="0" y="0"/>
          <a:chExt cx="0" cy="0"/>
        </a:xfrm>
      </p:grpSpPr>
      <p:sp>
        <p:nvSpPr>
          <p:cNvPr id="2" name="Text 0"/>
          <p:cNvSpPr/>
          <p:nvPr/>
        </p:nvSpPr>
        <p:spPr>
          <a:xfrm>
            <a:off x="812800" y="1904504"/>
            <a:ext cx="10883392" cy="274290"/>
          </a:xfrm>
          <a:prstGeom prst="rect">
            <a:avLst/>
          </a:prstGeom>
          <a:noFill/>
          <a:ln/>
        </p:spPr>
        <p:txBody>
          <a:bodyPr wrap="square" lIns="0" tIns="0" rIns="0" bIns="0" rtlCol="0" anchor="t">
            <a:normAutofit/>
          </a:bodyPr>
          <a:lstStyle/>
          <a:p>
            <a:pPr algn="l" indent="0" marL="0">
              <a:lnSpc>
                <a:spcPts val="1960"/>
              </a:lnSpc>
              <a:buNone/>
            </a:pPr>
            <a:r>
              <a:rPr lang="en-US" sz="1400" spc="150" kern="0" dirty="0">
                <a:solidFill>
                  <a:srgbClr val="7FB0E6"/>
                </a:solidFill>
                <a:latin typeface="JetBrains Mono" pitchFamily="49" charset="0"/>
                <a:ea typeface="JetBrains Mono" pitchFamily="49" charset="-122"/>
                <a:cs typeface="JetBrains Mono" pitchFamily="49" charset="-120"/>
              </a:rPr>
              <a:t>REGLA DE ORO</a:t>
            </a:r>
            <a:endParaRPr lang="en-US" sz="1400" dirty="0"/>
          </a:p>
        </p:txBody>
      </p:sp>
      <p:sp>
        <p:nvSpPr>
          <p:cNvPr id="3" name="Text 1"/>
          <p:cNvSpPr/>
          <p:nvPr>
            <p:ph type="title"/>
          </p:nvPr>
        </p:nvSpPr>
        <p:spPr>
          <a:xfrm>
            <a:off x="812800" y="2458194"/>
            <a:ext cx="10883392" cy="1342132"/>
          </a:xfrm>
          <a:prstGeom prst="rect">
            <a:avLst/>
          </a:prstGeom>
          <a:noFill/>
          <a:ln/>
        </p:spPr>
        <p:txBody>
          <a:bodyPr wrap="square" lIns="0" tIns="0" rIns="0" bIns="0" rtlCol="0" anchor="t">
            <a:normAutofit/>
          </a:bodyPr>
          <a:lstStyle/>
          <a:p>
            <a:pPr algn="l" indent="0" marL="0">
              <a:lnSpc>
                <a:spcPts val="5184"/>
              </a:lnSpc>
              <a:buNone/>
            </a:pPr>
            <a:r>
              <a:rPr lang="en-US" sz="4800" b="1" i="0" dirty="0">
                <a:solidFill>
                  <a:srgbClr val="F6F5F1"/>
                </a:solidFill>
                <a:latin typeface="IBM Plex Sans" pitchFamily="34" charset="0"/>
                <a:ea typeface="IBM Plex Sans" pitchFamily="34" charset="-122"/>
                <a:cs typeface="IBM Plex Sans" pitchFamily="34" charset="-120"/>
              </a:rPr>
              <a:t>La IA ejecuta. El responsable del proyecto sigues siendo tú.</a:t>
            </a:r>
            <a:endParaRPr lang="en-US" sz="4800" dirty="0"/>
          </a:p>
        </p:txBody>
      </p:sp>
      <p:sp>
        <p:nvSpPr>
          <p:cNvPr id="4" name="Text 2"/>
          <p:cNvSpPr/>
          <p:nvPr/>
        </p:nvSpPr>
        <p:spPr>
          <a:xfrm>
            <a:off x="812800" y="4079726"/>
            <a:ext cx="10883392"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3DC"/>
                </a:solidFill>
                <a:latin typeface="IBM Plex Sans" pitchFamily="34" charset="0"/>
                <a:ea typeface="IBM Plex Sans" pitchFamily="34" charset="-122"/>
                <a:cs typeface="IBM Plex Sans" pitchFamily="34" charset="-120"/>
              </a:rPr>
              <a:t>Criterio: la potencia sin control no sirve de nada.</a:t>
            </a:r>
            <a:endParaRPr lang="en-US" sz="1800" dirty="0"/>
          </a:p>
        </p:txBody>
      </p:sp>
      <p:sp>
        <p:nvSpPr>
          <p:cNvPr id="5" name="Text 3"/>
          <p:cNvSpPr/>
          <p:nvPr/>
        </p:nvSpPr>
        <p:spPr>
          <a:xfrm>
            <a:off x="812800" y="4704556"/>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39A5F"/>
                </a:solidFill>
                <a:latin typeface="JetBrains Mono" pitchFamily="49" charset="0"/>
                <a:ea typeface="JetBrains Mono" pitchFamily="49" charset="-122"/>
                <a:cs typeface="JetBrains Mono" pitchFamily="49" charset="-120"/>
              </a:rPr>
              <a:t>¿Preguntas?</a:t>
            </a:r>
            <a:endParaRPr lang="en-US" sz="1400" dirty="0"/>
          </a:p>
        </p:txBody>
      </p:sp>
    </p:spTree>
  </p:cSld>
  <p:clrMapOvr>
    <a:masterClrMapping/>
  </p:clrMapOvr>
</p:sld>
</file>

<file path=ppt/theme/theme1.xml><?xml version="1.0" encoding="utf-8"?>
<a:theme xmlns:a="http://schemas.openxmlformats.org/drawingml/2006/main" name="Evolución del estándar de desarrollo con IA">
  <a:themeElements>
    <a:clrScheme name="Evolución del estándar de desarrollo con IA">
      <a:dk1>
        <a:srgbClr val="14202B"/>
      </a:dk1>
      <a:lt1>
        <a:srgbClr val="F6F5F1"/>
      </a:lt1>
      <a:dk2>
        <a:srgbClr val="4D555D"/>
      </a:dk2>
      <a:lt2>
        <a:srgbClr val="DFE0DD"/>
      </a:lt2>
      <a:accent1>
        <a:srgbClr val="2F6FB5"/>
      </a:accent1>
      <a:accent2>
        <a:srgbClr val="A8521D"/>
      </a:accent2>
      <a:accent3>
        <a:srgbClr val="1F4E86"/>
      </a:accent3>
      <a:accent4>
        <a:srgbClr val="2A5E9C"/>
      </a:accent4>
      <a:accent5>
        <a:srgbClr val="7FB0E6"/>
      </a:accent5>
      <a:accent6>
        <a:srgbClr val="E39A5F"/>
      </a:accent6>
      <a:hlink>
        <a:srgbClr val="0563C1"/>
      </a:hlink>
      <a:folHlink>
        <a:srgbClr val="954F72"/>
      </a:folHlink>
    </a:clrScheme>
    <a:fontScheme name="Evolución del estándar de desarrollo con IA">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JetBrains Mon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Evolución del estándar de desarrollo con IA</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2026-10-23T12:42:51Z</dcterms:created>
  <dcterms:modified xsi:type="dcterms:W3CDTF">2026-10-23T12:42:51Z</dcterms:modified>
</cp:coreProperties>
</file>